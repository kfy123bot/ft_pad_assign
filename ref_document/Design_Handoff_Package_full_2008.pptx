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compatMode="1" saveSubsetFonts="1" autoCompressPictures="0">
  <p:sldMasterIdLst>
    <p:sldMasterId id="2147483650" r:id="rId1"/>
    <p:sldMasterId id="2147483651" r:id="rId2"/>
  </p:sldMasterIdLst>
  <p:notesMasterIdLst>
    <p:notesMasterId r:id="rId59"/>
  </p:notesMasterIdLst>
  <p:handoutMasterIdLst>
    <p:handoutMasterId r:id="rId60"/>
  </p:handoutMasterIdLst>
  <p:sldIdLst>
    <p:sldId id="360" r:id="rId3"/>
    <p:sldId id="591" r:id="rId4"/>
    <p:sldId id="605" r:id="rId5"/>
    <p:sldId id="594" r:id="rId6"/>
    <p:sldId id="595" r:id="rId7"/>
    <p:sldId id="596" r:id="rId8"/>
    <p:sldId id="597" r:id="rId9"/>
    <p:sldId id="598" r:id="rId10"/>
    <p:sldId id="599" r:id="rId11"/>
    <p:sldId id="600" r:id="rId12"/>
    <p:sldId id="601" r:id="rId13"/>
    <p:sldId id="602" r:id="rId14"/>
    <p:sldId id="603" r:id="rId15"/>
    <p:sldId id="604" r:id="rId16"/>
    <p:sldId id="606" r:id="rId17"/>
    <p:sldId id="607" r:id="rId18"/>
    <p:sldId id="608" r:id="rId19"/>
    <p:sldId id="609" r:id="rId20"/>
    <p:sldId id="610" r:id="rId21"/>
    <p:sldId id="611" r:id="rId22"/>
    <p:sldId id="612" r:id="rId23"/>
    <p:sldId id="613" r:id="rId24"/>
    <p:sldId id="614" r:id="rId25"/>
    <p:sldId id="615" r:id="rId26"/>
    <p:sldId id="616" r:id="rId27"/>
    <p:sldId id="617" r:id="rId28"/>
    <p:sldId id="618" r:id="rId29"/>
    <p:sldId id="619" r:id="rId30"/>
    <p:sldId id="620" r:id="rId31"/>
    <p:sldId id="621" r:id="rId32"/>
    <p:sldId id="622" r:id="rId33"/>
    <p:sldId id="623" r:id="rId34"/>
    <p:sldId id="624" r:id="rId35"/>
    <p:sldId id="625" r:id="rId36"/>
    <p:sldId id="627" r:id="rId37"/>
    <p:sldId id="629" r:id="rId38"/>
    <p:sldId id="630" r:id="rId39"/>
    <p:sldId id="631" r:id="rId40"/>
    <p:sldId id="633" r:id="rId41"/>
    <p:sldId id="634" r:id="rId42"/>
    <p:sldId id="644" r:id="rId43"/>
    <p:sldId id="635" r:id="rId44"/>
    <p:sldId id="636" r:id="rId45"/>
    <p:sldId id="640" r:id="rId46"/>
    <p:sldId id="642" r:id="rId47"/>
    <p:sldId id="643" r:id="rId48"/>
    <p:sldId id="646" r:id="rId49"/>
    <p:sldId id="647" r:id="rId50"/>
    <p:sldId id="648" r:id="rId51"/>
    <p:sldId id="649" r:id="rId52"/>
    <p:sldId id="650" r:id="rId53"/>
    <p:sldId id="651" r:id="rId54"/>
    <p:sldId id="652" r:id="rId55"/>
    <p:sldId id="653" r:id="rId56"/>
    <p:sldId id="654" r:id="rId57"/>
    <p:sldId id="645" r:id="rId58"/>
  </p:sldIdLst>
  <p:sldSz cx="9906000" cy="6858000" type="A4"/>
  <p:notesSz cx="6669088" cy="9926638"/>
  <p:defaultTextStyle>
    <a:defPPr>
      <a:defRPr lang="zh-TW"/>
    </a:defPPr>
    <a:lvl1pPr algn="ctr" rtl="0" fontAlgn="base">
      <a:spcBef>
        <a:spcPct val="0"/>
      </a:spcBef>
      <a:spcAft>
        <a:spcPct val="0"/>
      </a:spcAft>
      <a:defRPr kumimoji="1" sz="1000" kern="1200">
        <a:solidFill>
          <a:schemeClr val="tx1"/>
        </a:solidFill>
        <a:latin typeface="Times New Roman" panose="02020603050405020304" pitchFamily="18" charset="0"/>
        <a:ea typeface="新細明體" panose="02020500000000000000" pitchFamily="18" charset="-120"/>
        <a:cs typeface="+mn-cs"/>
      </a:defRPr>
    </a:lvl1pPr>
    <a:lvl2pPr marL="457200" algn="ctr" rtl="0" fontAlgn="base">
      <a:spcBef>
        <a:spcPct val="0"/>
      </a:spcBef>
      <a:spcAft>
        <a:spcPct val="0"/>
      </a:spcAft>
      <a:defRPr kumimoji="1" sz="1000" kern="1200">
        <a:solidFill>
          <a:schemeClr val="tx1"/>
        </a:solidFill>
        <a:latin typeface="Times New Roman" panose="02020603050405020304" pitchFamily="18" charset="0"/>
        <a:ea typeface="新細明體" panose="02020500000000000000" pitchFamily="18" charset="-120"/>
        <a:cs typeface="+mn-cs"/>
      </a:defRPr>
    </a:lvl2pPr>
    <a:lvl3pPr marL="914400" algn="ctr" rtl="0" fontAlgn="base">
      <a:spcBef>
        <a:spcPct val="0"/>
      </a:spcBef>
      <a:spcAft>
        <a:spcPct val="0"/>
      </a:spcAft>
      <a:defRPr kumimoji="1" sz="1000" kern="1200">
        <a:solidFill>
          <a:schemeClr val="tx1"/>
        </a:solidFill>
        <a:latin typeface="Times New Roman" panose="02020603050405020304" pitchFamily="18" charset="0"/>
        <a:ea typeface="新細明體" panose="02020500000000000000" pitchFamily="18" charset="-120"/>
        <a:cs typeface="+mn-cs"/>
      </a:defRPr>
    </a:lvl3pPr>
    <a:lvl4pPr marL="1371600" algn="ctr" rtl="0" fontAlgn="base">
      <a:spcBef>
        <a:spcPct val="0"/>
      </a:spcBef>
      <a:spcAft>
        <a:spcPct val="0"/>
      </a:spcAft>
      <a:defRPr kumimoji="1" sz="1000" kern="1200">
        <a:solidFill>
          <a:schemeClr val="tx1"/>
        </a:solidFill>
        <a:latin typeface="Times New Roman" panose="02020603050405020304" pitchFamily="18" charset="0"/>
        <a:ea typeface="新細明體" panose="02020500000000000000" pitchFamily="18" charset="-120"/>
        <a:cs typeface="+mn-cs"/>
      </a:defRPr>
    </a:lvl4pPr>
    <a:lvl5pPr marL="1828800" algn="ctr" rtl="0" fontAlgn="base">
      <a:spcBef>
        <a:spcPct val="0"/>
      </a:spcBef>
      <a:spcAft>
        <a:spcPct val="0"/>
      </a:spcAft>
      <a:defRPr kumimoji="1" sz="1000" kern="1200">
        <a:solidFill>
          <a:schemeClr val="tx1"/>
        </a:solidFill>
        <a:latin typeface="Times New Roman" panose="02020603050405020304" pitchFamily="18" charset="0"/>
        <a:ea typeface="新細明體" panose="02020500000000000000" pitchFamily="18" charset="-120"/>
        <a:cs typeface="+mn-cs"/>
      </a:defRPr>
    </a:lvl5pPr>
    <a:lvl6pPr marL="2286000" algn="l" defTabSz="914400" rtl="0" eaLnBrk="1" latinLnBrk="0" hangingPunct="1">
      <a:defRPr kumimoji="1" sz="1000" kern="1200">
        <a:solidFill>
          <a:schemeClr val="tx1"/>
        </a:solidFill>
        <a:latin typeface="Times New Roman" panose="02020603050405020304" pitchFamily="18" charset="0"/>
        <a:ea typeface="新細明體" panose="02020500000000000000" pitchFamily="18" charset="-120"/>
        <a:cs typeface="+mn-cs"/>
      </a:defRPr>
    </a:lvl6pPr>
    <a:lvl7pPr marL="2743200" algn="l" defTabSz="914400" rtl="0" eaLnBrk="1" latinLnBrk="0" hangingPunct="1">
      <a:defRPr kumimoji="1" sz="1000" kern="1200">
        <a:solidFill>
          <a:schemeClr val="tx1"/>
        </a:solidFill>
        <a:latin typeface="Times New Roman" panose="02020603050405020304" pitchFamily="18" charset="0"/>
        <a:ea typeface="新細明體" panose="02020500000000000000" pitchFamily="18" charset="-120"/>
        <a:cs typeface="+mn-cs"/>
      </a:defRPr>
    </a:lvl7pPr>
    <a:lvl8pPr marL="3200400" algn="l" defTabSz="914400" rtl="0" eaLnBrk="1" latinLnBrk="0" hangingPunct="1">
      <a:defRPr kumimoji="1" sz="1000" kern="1200">
        <a:solidFill>
          <a:schemeClr val="tx1"/>
        </a:solidFill>
        <a:latin typeface="Times New Roman" panose="02020603050405020304" pitchFamily="18" charset="0"/>
        <a:ea typeface="新細明體" panose="02020500000000000000" pitchFamily="18" charset="-120"/>
        <a:cs typeface="+mn-cs"/>
      </a:defRPr>
    </a:lvl8pPr>
    <a:lvl9pPr marL="3657600" algn="l" defTabSz="914400" rtl="0" eaLnBrk="1" latinLnBrk="0" hangingPunct="1">
      <a:defRPr kumimoji="1" sz="1000" kern="1200">
        <a:solidFill>
          <a:schemeClr val="tx1"/>
        </a:solidFill>
        <a:latin typeface="Times New Roman" panose="02020603050405020304" pitchFamily="18"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1296">
          <p15:clr>
            <a:srgbClr val="A4A3A4"/>
          </p15:clr>
        </p15:guide>
        <p15:guide id="2" pos="3120">
          <p15:clr>
            <a:srgbClr val="A4A3A4"/>
          </p15:clr>
        </p15:guide>
      </p15:sldGuideLst>
    </p:ext>
    <p:ext uri="{2D200454-40CA-4A62-9FC3-DE9A4176ACB9}">
      <p15:notesGuideLst xmlns:p15="http://schemas.microsoft.com/office/powerpoint/2012/main">
        <p15:guide id="1" orient="horz" pos="3126">
          <p15:clr>
            <a:srgbClr val="A4A3A4"/>
          </p15:clr>
        </p15:guide>
        <p15:guide id="2" pos="21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9136" autoAdjust="0"/>
    <p:restoredTop sz="96327" autoAdjust="0"/>
  </p:normalViewPr>
  <p:slideViewPr>
    <p:cSldViewPr>
      <p:cViewPr varScale="1">
        <p:scale>
          <a:sx n="121" d="100"/>
          <a:sy n="121" d="100"/>
        </p:scale>
        <p:origin x="2088" y="168"/>
      </p:cViewPr>
      <p:guideLst>
        <p:guide orient="horz" pos="1296"/>
        <p:guide pos="3120"/>
      </p:guideLst>
    </p:cSldViewPr>
  </p:slideViewPr>
  <p:outlineViewPr>
    <p:cViewPr>
      <p:scale>
        <a:sx n="25" d="100"/>
        <a:sy n="25" d="100"/>
      </p:scale>
      <p:origin x="0" y="0"/>
    </p:cViewPr>
    <p:sldLst>
      <p:sld r:id="rId1" collapse="1"/>
      <p:sld r:id="rId2" collapse="1"/>
      <p:sld r:id="rId3" collapse="1"/>
      <p:sld r:id="rId4" collapse="1"/>
      <p:sld r:id="rId5" collapse="1"/>
      <p:sld r:id="rId6" collapse="1"/>
      <p:sld r:id="rId7" collapse="1"/>
    </p:sldLst>
  </p:outlineViewPr>
  <p:notesTextViewPr>
    <p:cViewPr>
      <p:scale>
        <a:sx n="100" d="100"/>
        <a:sy n="100" d="100"/>
      </p:scale>
      <p:origin x="0" y="0"/>
    </p:cViewPr>
  </p:notesTextViewPr>
  <p:sorterViewPr>
    <p:cViewPr>
      <p:scale>
        <a:sx n="66" d="100"/>
        <a:sy n="66" d="100"/>
      </p:scale>
      <p:origin x="0" y="474"/>
    </p:cViewPr>
  </p:sorterViewPr>
  <p:notesViewPr>
    <p:cSldViewPr>
      <p:cViewPr varScale="1">
        <p:scale>
          <a:sx n="34" d="100"/>
          <a:sy n="34" d="100"/>
        </p:scale>
        <p:origin x="-1548" y="-60"/>
      </p:cViewPr>
      <p:guideLst>
        <p:guide orient="horz" pos="3126"/>
        <p:guide pos="210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s>
</file>

<file path=ppt/_rels/viewProps.xml.rels><?xml version="1.0" encoding="UTF-8" standalone="yes"?>
<Relationships xmlns="http://schemas.openxmlformats.org/package/2006/relationships"><Relationship Id="rId3" Type="http://schemas.openxmlformats.org/officeDocument/2006/relationships/slide" Target="slides/slide15.xml"/><Relationship Id="rId7" Type="http://schemas.openxmlformats.org/officeDocument/2006/relationships/slide" Target="slides/slide53.xml"/><Relationship Id="rId2" Type="http://schemas.openxmlformats.org/officeDocument/2006/relationships/slide" Target="slides/slide3.xml"/><Relationship Id="rId1" Type="http://schemas.openxmlformats.org/officeDocument/2006/relationships/slide" Target="slides/slide1.xml"/><Relationship Id="rId6" Type="http://schemas.openxmlformats.org/officeDocument/2006/relationships/slide" Target="slides/slide52.xml"/><Relationship Id="rId5" Type="http://schemas.openxmlformats.org/officeDocument/2006/relationships/slide" Target="slides/slide47.xml"/><Relationship Id="rId4"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368EE05B-D3B4-6272-CC51-790A044CBBCD}"/>
              </a:ext>
            </a:extLst>
          </p:cNvPr>
          <p:cNvSpPr>
            <a:spLocks noGrp="1" noChangeArrowheads="1"/>
          </p:cNvSpPr>
          <p:nvPr>
            <p:ph type="hdr" sz="quarter"/>
          </p:nvPr>
        </p:nvSpPr>
        <p:spPr bwMode="auto">
          <a:xfrm>
            <a:off x="0" y="0"/>
            <a:ext cx="2890838"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55" tIns="45027" rIns="90055" bIns="45027" numCol="1" anchor="t" anchorCtr="0" compatLnSpc="1">
            <a:prstTxWarp prst="textNoShape">
              <a:avLst/>
            </a:prstTxWarp>
          </a:bodyPr>
          <a:lstStyle>
            <a:lvl1pPr algn="l" defTabSz="901700">
              <a:defRPr sz="1200"/>
            </a:lvl1pPr>
          </a:lstStyle>
          <a:p>
            <a:endParaRPr lang="en-US" altLang="zh-TW"/>
          </a:p>
        </p:txBody>
      </p:sp>
      <p:sp>
        <p:nvSpPr>
          <p:cNvPr id="3075" name="Rectangle 3">
            <a:extLst>
              <a:ext uri="{FF2B5EF4-FFF2-40B4-BE49-F238E27FC236}">
                <a16:creationId xmlns:a16="http://schemas.microsoft.com/office/drawing/2014/main" id="{FA4897C1-EF20-E06E-E17F-4B05DEC5AFD0}"/>
              </a:ext>
            </a:extLst>
          </p:cNvPr>
          <p:cNvSpPr>
            <a:spLocks noGrp="1" noChangeArrowheads="1"/>
          </p:cNvSpPr>
          <p:nvPr>
            <p:ph type="dt" sz="quarter" idx="1"/>
          </p:nvPr>
        </p:nvSpPr>
        <p:spPr bwMode="auto">
          <a:xfrm>
            <a:off x="3778250" y="0"/>
            <a:ext cx="2890838"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55" tIns="45027" rIns="90055" bIns="45027" numCol="1" anchor="t" anchorCtr="0" compatLnSpc="1">
            <a:prstTxWarp prst="textNoShape">
              <a:avLst/>
            </a:prstTxWarp>
          </a:bodyPr>
          <a:lstStyle>
            <a:lvl1pPr algn="r" defTabSz="901700">
              <a:defRPr sz="1200"/>
            </a:lvl1pPr>
          </a:lstStyle>
          <a:p>
            <a:endParaRPr lang="en-US" altLang="zh-TW"/>
          </a:p>
        </p:txBody>
      </p:sp>
      <p:sp>
        <p:nvSpPr>
          <p:cNvPr id="3076" name="Rectangle 4">
            <a:extLst>
              <a:ext uri="{FF2B5EF4-FFF2-40B4-BE49-F238E27FC236}">
                <a16:creationId xmlns:a16="http://schemas.microsoft.com/office/drawing/2014/main" id="{4EE606DC-5296-6535-90AC-788DF050A67D}"/>
              </a:ext>
            </a:extLst>
          </p:cNvPr>
          <p:cNvSpPr>
            <a:spLocks noGrp="1" noChangeArrowheads="1"/>
          </p:cNvSpPr>
          <p:nvPr>
            <p:ph type="ftr" sz="quarter" idx="2"/>
          </p:nvPr>
        </p:nvSpPr>
        <p:spPr bwMode="auto">
          <a:xfrm>
            <a:off x="0" y="9429750"/>
            <a:ext cx="2890838"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55" tIns="45027" rIns="90055" bIns="45027" numCol="1" anchor="b" anchorCtr="0" compatLnSpc="1">
            <a:prstTxWarp prst="textNoShape">
              <a:avLst/>
            </a:prstTxWarp>
          </a:bodyPr>
          <a:lstStyle>
            <a:lvl1pPr algn="l" defTabSz="901700">
              <a:defRPr sz="1200"/>
            </a:lvl1pPr>
          </a:lstStyle>
          <a:p>
            <a:endParaRPr lang="en-US" altLang="zh-TW"/>
          </a:p>
        </p:txBody>
      </p:sp>
      <p:sp>
        <p:nvSpPr>
          <p:cNvPr id="3077" name="Rectangle 5">
            <a:extLst>
              <a:ext uri="{FF2B5EF4-FFF2-40B4-BE49-F238E27FC236}">
                <a16:creationId xmlns:a16="http://schemas.microsoft.com/office/drawing/2014/main" id="{8AB9E631-E775-8C50-BCD6-5E9A1D030B3E}"/>
              </a:ext>
            </a:extLst>
          </p:cNvPr>
          <p:cNvSpPr>
            <a:spLocks noGrp="1" noChangeArrowheads="1"/>
          </p:cNvSpPr>
          <p:nvPr>
            <p:ph type="sldNum" sz="quarter" idx="3"/>
          </p:nvPr>
        </p:nvSpPr>
        <p:spPr bwMode="auto">
          <a:xfrm>
            <a:off x="3778250" y="9429750"/>
            <a:ext cx="2890838"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55" tIns="45027" rIns="90055" bIns="45027" numCol="1" anchor="b" anchorCtr="0" compatLnSpc="1">
            <a:prstTxWarp prst="textNoShape">
              <a:avLst/>
            </a:prstTxWarp>
          </a:bodyPr>
          <a:lstStyle>
            <a:lvl1pPr algn="r" defTabSz="901700">
              <a:defRPr sz="1200"/>
            </a:lvl1pPr>
          </a:lstStyle>
          <a:p>
            <a:fld id="{43955B8C-4706-F540-8AC0-7B8ED729A0DC}" type="slidenum">
              <a:rPr lang="en-US" altLang="zh-TW"/>
              <a:pPr/>
              <a:t>‹#›</a:t>
            </a:fld>
            <a:endParaRPr lang="en-US" altLang="zh-TW"/>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1263A072-A490-1246-E38D-48BEE4A85CBF}"/>
              </a:ext>
            </a:extLst>
          </p:cNvPr>
          <p:cNvSpPr>
            <a:spLocks noGrp="1" noChangeArrowheads="1"/>
          </p:cNvSpPr>
          <p:nvPr>
            <p:ph type="hdr" sz="quarter"/>
          </p:nvPr>
        </p:nvSpPr>
        <p:spPr bwMode="auto">
          <a:xfrm>
            <a:off x="0" y="0"/>
            <a:ext cx="29162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55" tIns="45027" rIns="90055" bIns="45027" numCol="1" anchor="t" anchorCtr="0" compatLnSpc="1">
            <a:prstTxWarp prst="textNoShape">
              <a:avLst/>
            </a:prstTxWarp>
          </a:bodyPr>
          <a:lstStyle>
            <a:lvl1pPr algn="l" defTabSz="901700">
              <a:defRPr sz="1200"/>
            </a:lvl1pPr>
          </a:lstStyle>
          <a:p>
            <a:endParaRPr lang="en-US" altLang="zh-TW"/>
          </a:p>
        </p:txBody>
      </p:sp>
      <p:sp>
        <p:nvSpPr>
          <p:cNvPr id="100355" name="Rectangle 3">
            <a:extLst>
              <a:ext uri="{FF2B5EF4-FFF2-40B4-BE49-F238E27FC236}">
                <a16:creationId xmlns:a16="http://schemas.microsoft.com/office/drawing/2014/main" id="{F63F6935-651D-95C8-3F6E-34BEA9B6B5E9}"/>
              </a:ext>
            </a:extLst>
          </p:cNvPr>
          <p:cNvSpPr>
            <a:spLocks noGrp="1" noChangeArrowheads="1"/>
          </p:cNvSpPr>
          <p:nvPr>
            <p:ph type="dt" idx="1"/>
          </p:nvPr>
        </p:nvSpPr>
        <p:spPr bwMode="auto">
          <a:xfrm>
            <a:off x="3811588" y="0"/>
            <a:ext cx="28416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55" tIns="45027" rIns="90055" bIns="45027" numCol="1" anchor="t" anchorCtr="0" compatLnSpc="1">
            <a:prstTxWarp prst="textNoShape">
              <a:avLst/>
            </a:prstTxWarp>
          </a:bodyPr>
          <a:lstStyle>
            <a:lvl1pPr algn="r" defTabSz="901700">
              <a:defRPr sz="1200"/>
            </a:lvl1pPr>
          </a:lstStyle>
          <a:p>
            <a:endParaRPr lang="en-US" altLang="zh-TW"/>
          </a:p>
        </p:txBody>
      </p:sp>
      <p:sp>
        <p:nvSpPr>
          <p:cNvPr id="100356" name="Rectangle 4">
            <a:extLst>
              <a:ext uri="{FF2B5EF4-FFF2-40B4-BE49-F238E27FC236}">
                <a16:creationId xmlns:a16="http://schemas.microsoft.com/office/drawing/2014/main" id="{DC19DAD0-ACD5-22F2-22FC-982F2233D1DC}"/>
              </a:ext>
            </a:extLst>
          </p:cNvPr>
          <p:cNvSpPr>
            <a:spLocks noChangeArrowheads="1" noTextEdit="1"/>
          </p:cNvSpPr>
          <p:nvPr>
            <p:ph type="sldImg" idx="2"/>
          </p:nvPr>
        </p:nvSpPr>
        <p:spPr bwMode="auto">
          <a:xfrm>
            <a:off x="633413" y="762000"/>
            <a:ext cx="5392737" cy="37338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0357" name="Rectangle 5">
            <a:extLst>
              <a:ext uri="{FF2B5EF4-FFF2-40B4-BE49-F238E27FC236}">
                <a16:creationId xmlns:a16="http://schemas.microsoft.com/office/drawing/2014/main" id="{30BC62DE-6DF2-4B89-FF22-159B82C5F1FF}"/>
              </a:ext>
            </a:extLst>
          </p:cNvPr>
          <p:cNvSpPr>
            <a:spLocks noGrp="1" noChangeArrowheads="1"/>
          </p:cNvSpPr>
          <p:nvPr>
            <p:ph type="body" sz="quarter" idx="3"/>
          </p:nvPr>
        </p:nvSpPr>
        <p:spPr bwMode="auto">
          <a:xfrm>
            <a:off x="896938" y="4725988"/>
            <a:ext cx="4859337" cy="449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55" tIns="45027" rIns="90055" bIns="45027" numCol="1" anchor="t" anchorCtr="0" compatLnSpc="1">
            <a:prstTxWarp prst="textNoShape">
              <a:avLst/>
            </a:prstTxWarp>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00358" name="Rectangle 6">
            <a:extLst>
              <a:ext uri="{FF2B5EF4-FFF2-40B4-BE49-F238E27FC236}">
                <a16:creationId xmlns:a16="http://schemas.microsoft.com/office/drawing/2014/main" id="{602A3BA3-AD03-580A-A0AB-8F9B1126926D}"/>
              </a:ext>
            </a:extLst>
          </p:cNvPr>
          <p:cNvSpPr>
            <a:spLocks noGrp="1" noChangeArrowheads="1"/>
          </p:cNvSpPr>
          <p:nvPr>
            <p:ph type="ftr" sz="quarter" idx="4"/>
          </p:nvPr>
        </p:nvSpPr>
        <p:spPr bwMode="auto">
          <a:xfrm>
            <a:off x="0" y="9447213"/>
            <a:ext cx="2916238"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55" tIns="45027" rIns="90055" bIns="45027" numCol="1" anchor="b" anchorCtr="0" compatLnSpc="1">
            <a:prstTxWarp prst="textNoShape">
              <a:avLst/>
            </a:prstTxWarp>
          </a:bodyPr>
          <a:lstStyle>
            <a:lvl1pPr algn="l" defTabSz="901700">
              <a:defRPr sz="1200"/>
            </a:lvl1pPr>
          </a:lstStyle>
          <a:p>
            <a:endParaRPr lang="en-US" altLang="zh-TW"/>
          </a:p>
        </p:txBody>
      </p:sp>
      <p:sp>
        <p:nvSpPr>
          <p:cNvPr id="100359" name="Rectangle 7">
            <a:extLst>
              <a:ext uri="{FF2B5EF4-FFF2-40B4-BE49-F238E27FC236}">
                <a16:creationId xmlns:a16="http://schemas.microsoft.com/office/drawing/2014/main" id="{24F1DFD2-4F9F-74F1-3B41-7D634ECC04C8}"/>
              </a:ext>
            </a:extLst>
          </p:cNvPr>
          <p:cNvSpPr>
            <a:spLocks noGrp="1" noChangeArrowheads="1"/>
          </p:cNvSpPr>
          <p:nvPr>
            <p:ph type="sldNum" sz="quarter" idx="5"/>
          </p:nvPr>
        </p:nvSpPr>
        <p:spPr bwMode="auto">
          <a:xfrm>
            <a:off x="3811588" y="9447213"/>
            <a:ext cx="2841625"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55" tIns="45027" rIns="90055" bIns="45027" numCol="1" anchor="b" anchorCtr="0" compatLnSpc="1">
            <a:prstTxWarp prst="textNoShape">
              <a:avLst/>
            </a:prstTxWarp>
          </a:bodyPr>
          <a:lstStyle>
            <a:lvl1pPr algn="r" defTabSz="901700">
              <a:defRPr sz="1200"/>
            </a:lvl1pPr>
          </a:lstStyle>
          <a:p>
            <a:fld id="{3877BAE5-6730-8F41-AD1A-7EC8B94AA296}" type="slidenum">
              <a:rPr lang="en-US" altLang="zh-TW"/>
              <a:pPr/>
              <a:t>‹#›</a:t>
            </a:fld>
            <a:endParaRPr lang="en-US" altLang="zh-TW"/>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anose="02020603050405020304" pitchFamily="18" charset="0"/>
        <a:ea typeface="新細明體" panose="02020500000000000000" pitchFamily="18" charset="-120"/>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新細明體" panose="02020500000000000000" pitchFamily="18" charset="-120"/>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新細明體" panose="02020500000000000000" pitchFamily="18" charset="-120"/>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新細明體" panose="02020500000000000000" pitchFamily="18" charset="-120"/>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新細明體" panose="02020500000000000000"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F134684-B601-EC62-7683-3CF1C509BE71}"/>
              </a:ext>
            </a:extLst>
          </p:cNvPr>
          <p:cNvSpPr>
            <a:spLocks noGrp="1" noChangeArrowheads="1"/>
          </p:cNvSpPr>
          <p:nvPr>
            <p:ph type="sldNum" sz="quarter" idx="5"/>
          </p:nvPr>
        </p:nvSpPr>
        <p:spPr>
          <a:ln/>
        </p:spPr>
        <p:txBody>
          <a:bodyPr/>
          <a:lstStyle/>
          <a:p>
            <a:fld id="{89E67AEC-54B3-7E4B-8CEB-DA79E5C21EEB}" type="slidenum">
              <a:rPr lang="en-US" altLang="zh-TW"/>
              <a:pPr/>
              <a:t>0</a:t>
            </a:fld>
            <a:endParaRPr lang="en-US" altLang="zh-TW"/>
          </a:p>
        </p:txBody>
      </p:sp>
      <p:sp>
        <p:nvSpPr>
          <p:cNvPr id="423938" name="Rectangle 2">
            <a:extLst>
              <a:ext uri="{FF2B5EF4-FFF2-40B4-BE49-F238E27FC236}">
                <a16:creationId xmlns:a16="http://schemas.microsoft.com/office/drawing/2014/main" id="{1680BC47-60BF-0CDB-431C-46AE5F74355E}"/>
              </a:ext>
            </a:extLst>
          </p:cNvPr>
          <p:cNvSpPr>
            <a:spLocks noChangeArrowheads="1" noTextEdit="1"/>
          </p:cNvSpPr>
          <p:nvPr>
            <p:ph type="sldImg"/>
          </p:nvPr>
        </p:nvSpPr>
        <p:spPr>
          <a:ln/>
        </p:spPr>
      </p:sp>
      <p:sp>
        <p:nvSpPr>
          <p:cNvPr id="423939" name="Rectangle 3">
            <a:extLst>
              <a:ext uri="{FF2B5EF4-FFF2-40B4-BE49-F238E27FC236}">
                <a16:creationId xmlns:a16="http://schemas.microsoft.com/office/drawing/2014/main" id="{FFC22D98-8868-A2AC-C23D-2F25A2BC7F69}"/>
              </a:ext>
            </a:extLst>
          </p:cNvPr>
          <p:cNvSpPr>
            <a:spLocks noGrp="1" noChangeArrowheads="1"/>
          </p:cNvSpPr>
          <p:nvPr>
            <p:ph type="body" idx="1"/>
          </p:nvPr>
        </p:nvSpPr>
        <p:spPr/>
        <p:txBody>
          <a:bodyPr/>
          <a:lstStyle/>
          <a:p>
            <a:endParaRPr lang="zh-TW" altLang="zh-TW"/>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C1DADC2-D082-1F9A-47DB-9EBF60AA54BF}"/>
              </a:ext>
            </a:extLst>
          </p:cNvPr>
          <p:cNvSpPr>
            <a:spLocks noGrp="1" noChangeArrowheads="1"/>
          </p:cNvSpPr>
          <p:nvPr>
            <p:ph type="sldNum" sz="quarter" idx="5"/>
          </p:nvPr>
        </p:nvSpPr>
        <p:spPr>
          <a:ln/>
        </p:spPr>
        <p:txBody>
          <a:bodyPr/>
          <a:lstStyle/>
          <a:p>
            <a:fld id="{C37AA63D-1D33-C44B-A92E-E18614B4C754}" type="slidenum">
              <a:rPr lang="en-US" altLang="zh-TW"/>
              <a:pPr/>
              <a:t>2</a:t>
            </a:fld>
            <a:endParaRPr lang="en-US" altLang="zh-TW"/>
          </a:p>
        </p:txBody>
      </p:sp>
      <p:sp>
        <p:nvSpPr>
          <p:cNvPr id="933890" name="Rectangle 2">
            <a:extLst>
              <a:ext uri="{FF2B5EF4-FFF2-40B4-BE49-F238E27FC236}">
                <a16:creationId xmlns:a16="http://schemas.microsoft.com/office/drawing/2014/main" id="{8DE5776F-BC9A-0F6C-81CB-B6F673A89349}"/>
              </a:ext>
            </a:extLst>
          </p:cNvPr>
          <p:cNvSpPr>
            <a:spLocks noChangeArrowheads="1" noTextEdit="1"/>
          </p:cNvSpPr>
          <p:nvPr>
            <p:ph type="sldImg"/>
          </p:nvPr>
        </p:nvSpPr>
        <p:spPr>
          <a:ln/>
        </p:spPr>
      </p:sp>
      <p:sp>
        <p:nvSpPr>
          <p:cNvPr id="933891" name="Rectangle 3">
            <a:extLst>
              <a:ext uri="{FF2B5EF4-FFF2-40B4-BE49-F238E27FC236}">
                <a16:creationId xmlns:a16="http://schemas.microsoft.com/office/drawing/2014/main" id="{C1A17005-6900-F0D7-E5ED-315220DB7E1E}"/>
              </a:ext>
            </a:extLst>
          </p:cNvPr>
          <p:cNvSpPr>
            <a:spLocks noGrp="1" noChangeArrowheads="1"/>
          </p:cNvSpPr>
          <p:nvPr>
            <p:ph type="body" idx="1"/>
          </p:nvPr>
        </p:nvSpPr>
        <p:spPr/>
        <p:txBody>
          <a:bodyPr/>
          <a:lstStyle/>
          <a:p>
            <a:endParaRPr lang="zh-TW" altLang="zh-TW"/>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B75D229-BE6D-2000-6B26-6D70136A0D29}"/>
              </a:ext>
            </a:extLst>
          </p:cNvPr>
          <p:cNvSpPr>
            <a:spLocks noGrp="1" noChangeArrowheads="1"/>
          </p:cNvSpPr>
          <p:nvPr>
            <p:ph type="sldNum" sz="quarter" idx="5"/>
          </p:nvPr>
        </p:nvSpPr>
        <p:spPr>
          <a:ln/>
        </p:spPr>
        <p:txBody>
          <a:bodyPr/>
          <a:lstStyle/>
          <a:p>
            <a:fld id="{CD6611EA-B316-8740-AD88-BD589E72A072}" type="slidenum">
              <a:rPr lang="en-US" altLang="zh-TW"/>
              <a:pPr/>
              <a:t>14</a:t>
            </a:fld>
            <a:endParaRPr lang="en-US" altLang="zh-TW"/>
          </a:p>
        </p:txBody>
      </p:sp>
      <p:sp>
        <p:nvSpPr>
          <p:cNvPr id="935938" name="Rectangle 2">
            <a:extLst>
              <a:ext uri="{FF2B5EF4-FFF2-40B4-BE49-F238E27FC236}">
                <a16:creationId xmlns:a16="http://schemas.microsoft.com/office/drawing/2014/main" id="{709125DD-B001-742E-6D82-AAFAB8B46AED}"/>
              </a:ext>
            </a:extLst>
          </p:cNvPr>
          <p:cNvSpPr>
            <a:spLocks noChangeArrowheads="1" noTextEdit="1"/>
          </p:cNvSpPr>
          <p:nvPr>
            <p:ph type="sldImg"/>
          </p:nvPr>
        </p:nvSpPr>
        <p:spPr>
          <a:ln/>
        </p:spPr>
      </p:sp>
      <p:sp>
        <p:nvSpPr>
          <p:cNvPr id="935939" name="Rectangle 3">
            <a:extLst>
              <a:ext uri="{FF2B5EF4-FFF2-40B4-BE49-F238E27FC236}">
                <a16:creationId xmlns:a16="http://schemas.microsoft.com/office/drawing/2014/main" id="{40DBCC8C-7BAD-65EA-9ABE-91F853E7C397}"/>
              </a:ext>
            </a:extLst>
          </p:cNvPr>
          <p:cNvSpPr>
            <a:spLocks noGrp="1" noChangeArrowheads="1"/>
          </p:cNvSpPr>
          <p:nvPr>
            <p:ph type="body" idx="1"/>
          </p:nvPr>
        </p:nvSpPr>
        <p:spPr/>
        <p:txBody>
          <a:bodyPr/>
          <a:lstStyle/>
          <a:p>
            <a:endParaRPr lang="zh-TW" altLang="zh-TW"/>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7CC79A7-EACB-B009-CF84-FA13657CAE73}"/>
              </a:ext>
            </a:extLst>
          </p:cNvPr>
          <p:cNvSpPr>
            <a:spLocks noGrp="1" noChangeArrowheads="1"/>
          </p:cNvSpPr>
          <p:nvPr>
            <p:ph type="sldNum" sz="quarter" idx="5"/>
          </p:nvPr>
        </p:nvSpPr>
        <p:spPr>
          <a:ln/>
        </p:spPr>
        <p:txBody>
          <a:bodyPr/>
          <a:lstStyle/>
          <a:p>
            <a:fld id="{DB7CEB9D-A58B-7349-95A2-051C0930B19D}" type="slidenum">
              <a:rPr lang="en-US" altLang="zh-TW"/>
              <a:pPr/>
              <a:t>16</a:t>
            </a:fld>
            <a:endParaRPr lang="en-US" altLang="zh-TW"/>
          </a:p>
        </p:txBody>
      </p:sp>
      <p:sp>
        <p:nvSpPr>
          <p:cNvPr id="939010" name="Rectangle 2">
            <a:extLst>
              <a:ext uri="{FF2B5EF4-FFF2-40B4-BE49-F238E27FC236}">
                <a16:creationId xmlns:a16="http://schemas.microsoft.com/office/drawing/2014/main" id="{55788157-0711-DB43-51AD-4C5C4C749DFF}"/>
              </a:ext>
            </a:extLst>
          </p:cNvPr>
          <p:cNvSpPr>
            <a:spLocks noChangeArrowheads="1" noTextEdit="1"/>
          </p:cNvSpPr>
          <p:nvPr>
            <p:ph type="sldImg"/>
          </p:nvPr>
        </p:nvSpPr>
        <p:spPr>
          <a:ln/>
        </p:spPr>
      </p:sp>
      <p:sp>
        <p:nvSpPr>
          <p:cNvPr id="939011" name="Rectangle 3">
            <a:extLst>
              <a:ext uri="{FF2B5EF4-FFF2-40B4-BE49-F238E27FC236}">
                <a16:creationId xmlns:a16="http://schemas.microsoft.com/office/drawing/2014/main" id="{03158A2A-54B8-AD4A-59B1-38FBD1DD5D27}"/>
              </a:ext>
            </a:extLst>
          </p:cNvPr>
          <p:cNvSpPr>
            <a:spLocks noGrp="1" noChangeArrowheads="1"/>
          </p:cNvSpPr>
          <p:nvPr>
            <p:ph type="body" idx="1"/>
          </p:nvPr>
        </p:nvSpPr>
        <p:spPr/>
        <p:txBody>
          <a:bodyPr/>
          <a:lstStyle/>
          <a:p>
            <a:pPr>
              <a:lnSpc>
                <a:spcPct val="80000"/>
              </a:lnSpc>
            </a:pPr>
            <a:r>
              <a:rPr lang="en-US" altLang="zh-TW" sz="800"/>
              <a:t>------------------ Command &amp; Syntax --------------------</a:t>
            </a:r>
          </a:p>
          <a:p>
            <a:pPr>
              <a:lnSpc>
                <a:spcPct val="80000"/>
              </a:lnSpc>
            </a:pPr>
            <a:r>
              <a:rPr lang="en-US" altLang="zh-TW" sz="800"/>
              <a:t>Notify:</a:t>
            </a:r>
          </a:p>
          <a:p>
            <a:pPr>
              <a:lnSpc>
                <a:spcPct val="80000"/>
              </a:lnSpc>
            </a:pPr>
            <a:r>
              <a:rPr lang="en-US" altLang="zh-TW" sz="800"/>
              <a:t>- error command usage</a:t>
            </a:r>
          </a:p>
          <a:p>
            <a:pPr>
              <a:lnSpc>
                <a:spcPct val="80000"/>
              </a:lnSpc>
            </a:pPr>
            <a:r>
              <a:rPr lang="en-US" altLang="zh-TW" sz="800"/>
              <a:t>- syntax error (parsing gate-level netlist or dot library)</a:t>
            </a:r>
          </a:p>
          <a:p>
            <a:pPr>
              <a:lnSpc>
                <a:spcPct val="80000"/>
              </a:lnSpc>
            </a:pPr>
            <a:r>
              <a:rPr lang="en-US" altLang="zh-TW" sz="800"/>
              <a:t>- unmapped logic (verilog fail to link with dot library)</a:t>
            </a:r>
          </a:p>
          <a:p>
            <a:pPr>
              <a:lnSpc>
                <a:spcPct val="80000"/>
              </a:lnSpc>
            </a:pPr>
            <a:r>
              <a:rPr lang="en-US" altLang="zh-TW" sz="800"/>
              <a:t>-----------------------------------------------------------------</a:t>
            </a:r>
          </a:p>
          <a:p>
            <a:pPr>
              <a:lnSpc>
                <a:spcPct val="80000"/>
              </a:lnSpc>
            </a:pPr>
            <a:r>
              <a:rPr lang="en-US" altLang="zh-TW" sz="800"/>
              <a:t>- lengthy module name or signal name</a:t>
            </a:r>
          </a:p>
          <a:p>
            <a:pPr>
              <a:lnSpc>
                <a:spcPct val="80000"/>
              </a:lnSpc>
            </a:pPr>
            <a:r>
              <a:rPr lang="en-US" altLang="zh-TW" sz="800"/>
              <a:t>- single bit signal name with bus notation </a:t>
            </a:r>
          </a:p>
          <a:p>
            <a:pPr>
              <a:lnSpc>
                <a:spcPct val="80000"/>
              </a:lnSpc>
            </a:pPr>
            <a:r>
              <a:rPr lang="en-US" altLang="zh-TW" sz="800"/>
              <a:t>- assign statement </a:t>
            </a:r>
          </a:p>
          <a:p>
            <a:pPr>
              <a:lnSpc>
                <a:spcPct val="80000"/>
              </a:lnSpc>
            </a:pPr>
            <a:r>
              <a:rPr lang="en-US" altLang="zh-TW" sz="800"/>
              <a:t>- modules referenced multiple times </a:t>
            </a:r>
          </a:p>
          <a:p>
            <a:pPr>
              <a:lnSpc>
                <a:spcPct val="80000"/>
              </a:lnSpc>
            </a:pPr>
            <a:r>
              <a:rPr lang="en-US" altLang="zh-TW" sz="800"/>
              <a:t>- connection mismatch (e.g. inconsistency on bus width)</a:t>
            </a:r>
          </a:p>
          <a:p>
            <a:pPr>
              <a:lnSpc>
                <a:spcPct val="80000"/>
              </a:lnSpc>
            </a:pPr>
            <a:r>
              <a:rPr lang="en-US" altLang="zh-TW" sz="800"/>
              <a:t>- redundant signals or logics (empty module, port)</a:t>
            </a:r>
          </a:p>
          <a:p>
            <a:pPr>
              <a:lnSpc>
                <a:spcPct val="80000"/>
              </a:lnSpc>
            </a:pPr>
            <a:r>
              <a:rPr lang="en-US" altLang="zh-TW" sz="800"/>
              <a:t>- inconsistency between netlist and dot library</a:t>
            </a:r>
          </a:p>
          <a:p>
            <a:pPr>
              <a:lnSpc>
                <a:spcPct val="80000"/>
              </a:lnSpc>
            </a:pPr>
            <a:r>
              <a:rPr lang="en-US" altLang="zh-TW" sz="800"/>
              <a:t>----------- Design Specification Report --------------</a:t>
            </a:r>
          </a:p>
          <a:p>
            <a:pPr>
              <a:lnSpc>
                <a:spcPct val="80000"/>
              </a:lnSpc>
            </a:pPr>
            <a:r>
              <a:rPr lang="en-US" altLang="zh-TW" sz="800"/>
              <a:t>Report:</a:t>
            </a:r>
          </a:p>
          <a:p>
            <a:pPr>
              <a:lnSpc>
                <a:spcPct val="80000"/>
              </a:lnSpc>
            </a:pPr>
            <a:r>
              <a:rPr lang="en-US" altLang="zh-TW" sz="800"/>
              <a:t>- referenced module (for I/O pad, hard macro and core cells)</a:t>
            </a:r>
          </a:p>
          <a:p>
            <a:pPr>
              <a:lnSpc>
                <a:spcPct val="80000"/>
              </a:lnSpc>
            </a:pPr>
            <a:r>
              <a:rPr lang="en-US" altLang="zh-TW" sz="800"/>
              <a:t>- macro cell instance (memory or hard macro)</a:t>
            </a:r>
          </a:p>
          <a:p>
            <a:pPr>
              <a:lnSpc>
                <a:spcPct val="80000"/>
              </a:lnSpc>
            </a:pPr>
            <a:r>
              <a:rPr lang="en-US" altLang="zh-TW" sz="800"/>
              <a:t>- port specification (connectivity and I/O pad utilization)</a:t>
            </a:r>
          </a:p>
          <a:p>
            <a:pPr>
              <a:lnSpc>
                <a:spcPct val="80000"/>
              </a:lnSpc>
            </a:pPr>
            <a:r>
              <a:rPr lang="en-US" altLang="zh-TW" sz="800"/>
              <a:t>- fan-out distribution (complexity of internal wire)</a:t>
            </a:r>
          </a:p>
          <a:p>
            <a:pPr>
              <a:lnSpc>
                <a:spcPct val="80000"/>
              </a:lnSpc>
            </a:pPr>
            <a:r>
              <a:rPr lang="en-US" altLang="zh-TW" sz="800"/>
              <a:t>- design hierarchy (inst, gate count and FFs for DFT purpose)</a:t>
            </a:r>
          </a:p>
          <a:p>
            <a:pPr>
              <a:lnSpc>
                <a:spcPct val="80000"/>
              </a:lnSpc>
            </a:pPr>
            <a:r>
              <a:rPr lang="en-US" altLang="zh-TW" sz="800"/>
              <a:t>- leakage power consumption</a:t>
            </a:r>
          </a:p>
          <a:p>
            <a:pPr>
              <a:lnSpc>
                <a:spcPct val="80000"/>
              </a:lnSpc>
            </a:pPr>
            <a:r>
              <a:rPr lang="en-US" altLang="zh-TW" sz="800"/>
              <a:t>------------------ Engineering Rule Check --------------------</a:t>
            </a:r>
          </a:p>
          <a:p>
            <a:pPr>
              <a:lnSpc>
                <a:spcPct val="80000"/>
              </a:lnSpc>
            </a:pPr>
            <a:r>
              <a:rPr lang="en-US" altLang="zh-TW" sz="800"/>
              <a:t>Check:</a:t>
            </a:r>
          </a:p>
          <a:p>
            <a:pPr>
              <a:lnSpc>
                <a:spcPct val="80000"/>
              </a:lnSpc>
            </a:pPr>
            <a:r>
              <a:rPr lang="en-US" altLang="zh-TW" sz="800"/>
              <a:t>- memory block (incomplete chip enable or clock gating)</a:t>
            </a:r>
          </a:p>
          <a:p>
            <a:pPr>
              <a:lnSpc>
                <a:spcPct val="80000"/>
              </a:lnSpc>
            </a:pPr>
            <a:r>
              <a:rPr lang="en-US" altLang="zh-TW" sz="800"/>
              <a:t>- spare cell (profiling and don’t touch SDC constraint)</a:t>
            </a:r>
          </a:p>
          <a:p>
            <a:pPr>
              <a:lnSpc>
                <a:spcPct val="80000"/>
              </a:lnSpc>
            </a:pPr>
            <a:r>
              <a:rPr lang="en-US" altLang="zh-TW" sz="800"/>
              <a:t>- sub design block (large/empty/unmapped sub design)</a:t>
            </a:r>
          </a:p>
          <a:p>
            <a:pPr>
              <a:lnSpc>
                <a:spcPct val="80000"/>
              </a:lnSpc>
            </a:pPr>
            <a:r>
              <a:rPr lang="en-US" altLang="zh-TW" sz="800"/>
              <a:t>- high fan-out net (into non-clock tree and clock tree)</a:t>
            </a:r>
          </a:p>
          <a:p>
            <a:pPr>
              <a:lnSpc>
                <a:spcPct val="80000"/>
              </a:lnSpc>
            </a:pPr>
            <a:r>
              <a:rPr lang="en-US" altLang="zh-TW" sz="800"/>
              <a:t>- timing arcs (feedback, lengthy path, generated clock)</a:t>
            </a:r>
          </a:p>
          <a:p>
            <a:pPr>
              <a:lnSpc>
                <a:spcPct val="80000"/>
              </a:lnSpc>
            </a:pPr>
            <a:r>
              <a:rPr lang="en-US" altLang="zh-TW" sz="800"/>
              <a:t>- cell connectivity (floating input, multiple drivers)</a:t>
            </a:r>
          </a:p>
          <a:p>
            <a:pPr>
              <a:lnSpc>
                <a:spcPct val="80000"/>
              </a:lnSpc>
            </a:pPr>
            <a:r>
              <a:rPr lang="en-US" altLang="zh-TW" sz="800"/>
              <a:t>- port connectivity (floating and ambiguous connection)</a:t>
            </a:r>
          </a:p>
          <a:p>
            <a:pPr>
              <a:lnSpc>
                <a:spcPct val="80000"/>
              </a:lnSpc>
            </a:pPr>
            <a:r>
              <a:rPr lang="en-US" altLang="zh-TW" sz="800"/>
              <a:t>- pad cell (illegal multiple bond pads or used internally)</a:t>
            </a:r>
          </a:p>
          <a:p>
            <a:pPr>
              <a:lnSpc>
                <a:spcPct val="80000"/>
              </a:lnSpc>
            </a:pPr>
            <a:r>
              <a:rPr lang="en-US" altLang="zh-TW" sz="800"/>
              <a:t>- constant (signals tied to 1’b0 /1’b1)</a:t>
            </a:r>
          </a:p>
          <a:p>
            <a:pPr>
              <a:lnSpc>
                <a:spcPct val="80000"/>
              </a:lnSpc>
            </a:pPr>
            <a:r>
              <a:rPr lang="en-US" altLang="zh-TW" sz="800"/>
              <a:t>- clock domain (non-driven, profiling of clock tree cells)</a:t>
            </a:r>
          </a:p>
          <a:p>
            <a:pPr>
              <a:lnSpc>
                <a:spcPct val="80000"/>
              </a:lnSpc>
            </a:pPr>
            <a:r>
              <a:rPr lang="en-US" altLang="zh-TW" sz="800"/>
              <a:t>- analog path (digital cells inserted on analog path)</a:t>
            </a:r>
          </a:p>
          <a:p>
            <a:pPr>
              <a:lnSpc>
                <a:spcPct val="80000"/>
              </a:lnSpc>
            </a:pPr>
            <a:endParaRPr lang="en-US" altLang="zh-TW" sz="8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F0215DD-EEBD-42F8-3054-5ABA9FFC3A52}"/>
              </a:ext>
            </a:extLst>
          </p:cNvPr>
          <p:cNvSpPr>
            <a:spLocks noGrp="1" noChangeArrowheads="1"/>
          </p:cNvSpPr>
          <p:nvPr>
            <p:ph type="sldNum" sz="quarter" idx="5"/>
          </p:nvPr>
        </p:nvSpPr>
        <p:spPr>
          <a:ln/>
        </p:spPr>
        <p:txBody>
          <a:bodyPr/>
          <a:lstStyle/>
          <a:p>
            <a:fld id="{D0262B60-E39F-F549-AED4-FD7E01C8A50F}" type="slidenum">
              <a:rPr lang="en-US" altLang="zh-TW"/>
              <a:pPr/>
              <a:t>34</a:t>
            </a:fld>
            <a:endParaRPr lang="en-US" altLang="zh-TW"/>
          </a:p>
        </p:txBody>
      </p:sp>
      <p:sp>
        <p:nvSpPr>
          <p:cNvPr id="961538" name="Rectangle 2">
            <a:extLst>
              <a:ext uri="{FF2B5EF4-FFF2-40B4-BE49-F238E27FC236}">
                <a16:creationId xmlns:a16="http://schemas.microsoft.com/office/drawing/2014/main" id="{F9789A5A-625B-3E80-9031-F89EC34E3E4B}"/>
              </a:ext>
            </a:extLst>
          </p:cNvPr>
          <p:cNvSpPr>
            <a:spLocks noChangeArrowheads="1" noTextEdit="1"/>
          </p:cNvSpPr>
          <p:nvPr>
            <p:ph type="sldImg"/>
          </p:nvPr>
        </p:nvSpPr>
        <p:spPr>
          <a:ln/>
        </p:spPr>
      </p:sp>
      <p:sp>
        <p:nvSpPr>
          <p:cNvPr id="961539" name="Rectangle 3">
            <a:extLst>
              <a:ext uri="{FF2B5EF4-FFF2-40B4-BE49-F238E27FC236}">
                <a16:creationId xmlns:a16="http://schemas.microsoft.com/office/drawing/2014/main" id="{9CF0FA5E-38C9-E4CD-8783-45D70792E49F}"/>
              </a:ext>
            </a:extLst>
          </p:cNvPr>
          <p:cNvSpPr>
            <a:spLocks noGrp="1" noChangeArrowheads="1"/>
          </p:cNvSpPr>
          <p:nvPr>
            <p:ph type="body" idx="1"/>
          </p:nvPr>
        </p:nvSpPr>
        <p:spPr/>
        <p:txBody>
          <a:bodyPr/>
          <a:lstStyle/>
          <a:p>
            <a:endParaRPr lang="zh-TW" altLang="zh-TW"/>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FCC3C5F-1905-CCC3-F51A-F79EC3ECC8A1}"/>
              </a:ext>
            </a:extLst>
          </p:cNvPr>
          <p:cNvSpPr>
            <a:spLocks noGrp="1"/>
          </p:cNvSpPr>
          <p:nvPr>
            <p:ph type="ctrTitle"/>
          </p:nvPr>
        </p:nvSpPr>
        <p:spPr>
          <a:xfrm>
            <a:off x="1238250" y="1122363"/>
            <a:ext cx="74295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CB959CF0-A2BC-193D-B513-54C64D9C9460}"/>
              </a:ext>
            </a:extLst>
          </p:cNvPr>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投影片編號版面配置區 3">
            <a:extLst>
              <a:ext uri="{FF2B5EF4-FFF2-40B4-BE49-F238E27FC236}">
                <a16:creationId xmlns:a16="http://schemas.microsoft.com/office/drawing/2014/main" id="{BD097A55-74C7-CEFF-405E-E99759094586}"/>
              </a:ext>
            </a:extLst>
          </p:cNvPr>
          <p:cNvSpPr>
            <a:spLocks noGrp="1"/>
          </p:cNvSpPr>
          <p:nvPr>
            <p:ph type="sldNum" sz="quarter" idx="10"/>
          </p:nvPr>
        </p:nvSpPr>
        <p:spPr/>
        <p:txBody>
          <a:bodyPr/>
          <a:lstStyle>
            <a:lvl1pPr>
              <a:defRPr/>
            </a:lvl1pPr>
          </a:lstStyle>
          <a:p>
            <a:fld id="{86A4616E-F275-DA4A-B924-329322D7BED7}" type="slidenum">
              <a:rPr lang="en-US" altLang="zh-TW"/>
              <a:pPr/>
              <a:t>‹#›</a:t>
            </a:fld>
            <a:endParaRPr lang="en-US" altLang="zh-TW"/>
          </a:p>
        </p:txBody>
      </p:sp>
    </p:spTree>
    <p:extLst>
      <p:ext uri="{BB962C8B-B14F-4D97-AF65-F5344CB8AC3E}">
        <p14:creationId xmlns:p14="http://schemas.microsoft.com/office/powerpoint/2010/main" val="1711147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E2F37D-D320-25BA-094C-A358D4551F3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8EFFBAC-CAFF-809D-C4DC-8F889E70A996}"/>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a:extLst>
              <a:ext uri="{FF2B5EF4-FFF2-40B4-BE49-F238E27FC236}">
                <a16:creationId xmlns:a16="http://schemas.microsoft.com/office/drawing/2014/main" id="{3B44730D-4C13-DD89-39CD-ADF7C4F158AB}"/>
              </a:ext>
            </a:extLst>
          </p:cNvPr>
          <p:cNvSpPr>
            <a:spLocks noGrp="1"/>
          </p:cNvSpPr>
          <p:nvPr>
            <p:ph type="sldNum" sz="quarter" idx="10"/>
          </p:nvPr>
        </p:nvSpPr>
        <p:spPr/>
        <p:txBody>
          <a:bodyPr/>
          <a:lstStyle>
            <a:lvl1pPr>
              <a:defRPr/>
            </a:lvl1pPr>
          </a:lstStyle>
          <a:p>
            <a:fld id="{5A0A01C2-7190-3B4F-A624-AE38ABD9BBC9}" type="slidenum">
              <a:rPr lang="en-US" altLang="zh-TW"/>
              <a:pPr/>
              <a:t>‹#›</a:t>
            </a:fld>
            <a:endParaRPr lang="en-US" altLang="zh-TW"/>
          </a:p>
        </p:txBody>
      </p:sp>
    </p:spTree>
    <p:extLst>
      <p:ext uri="{BB962C8B-B14F-4D97-AF65-F5344CB8AC3E}">
        <p14:creationId xmlns:p14="http://schemas.microsoft.com/office/powerpoint/2010/main" val="38114987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AFC5D7-D6E5-F1A1-DB5D-C74D2BC40C3D}"/>
              </a:ext>
            </a:extLst>
          </p:cNvPr>
          <p:cNvSpPr>
            <a:spLocks noGrp="1"/>
          </p:cNvSpPr>
          <p:nvPr>
            <p:ph type="title"/>
          </p:nvPr>
        </p:nvSpPr>
        <p:spPr>
          <a:xfrm>
            <a:off x="676275" y="1709738"/>
            <a:ext cx="8543925"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644827AA-D981-486F-FF28-D552D38D35E6}"/>
              </a:ext>
            </a:extLst>
          </p:cNvPr>
          <p:cNvSpPr>
            <a:spLocks noGrp="1"/>
          </p:cNvSpPr>
          <p:nvPr>
            <p:ph type="body" idx="1"/>
          </p:nvPr>
        </p:nvSpPr>
        <p:spPr>
          <a:xfrm>
            <a:off x="676275" y="4589463"/>
            <a:ext cx="8543925"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TW" altLang="en-US"/>
              <a:t>按一下以編輯母片文字樣式</a:t>
            </a:r>
          </a:p>
        </p:txBody>
      </p:sp>
      <p:sp>
        <p:nvSpPr>
          <p:cNvPr id="4" name="投影片編號版面配置區 3">
            <a:extLst>
              <a:ext uri="{FF2B5EF4-FFF2-40B4-BE49-F238E27FC236}">
                <a16:creationId xmlns:a16="http://schemas.microsoft.com/office/drawing/2014/main" id="{E995B8C2-A105-E673-9C9C-EBD3C40FDB0A}"/>
              </a:ext>
            </a:extLst>
          </p:cNvPr>
          <p:cNvSpPr>
            <a:spLocks noGrp="1"/>
          </p:cNvSpPr>
          <p:nvPr>
            <p:ph type="sldNum" sz="quarter" idx="10"/>
          </p:nvPr>
        </p:nvSpPr>
        <p:spPr/>
        <p:txBody>
          <a:bodyPr/>
          <a:lstStyle>
            <a:lvl1pPr>
              <a:defRPr/>
            </a:lvl1pPr>
          </a:lstStyle>
          <a:p>
            <a:fld id="{E0B2A5EC-8006-6943-A7EA-3A5634C9FDA5}" type="slidenum">
              <a:rPr lang="en-US" altLang="zh-TW"/>
              <a:pPr/>
              <a:t>‹#›</a:t>
            </a:fld>
            <a:endParaRPr lang="en-US" altLang="zh-TW"/>
          </a:p>
        </p:txBody>
      </p:sp>
    </p:spTree>
    <p:extLst>
      <p:ext uri="{BB962C8B-B14F-4D97-AF65-F5344CB8AC3E}">
        <p14:creationId xmlns:p14="http://schemas.microsoft.com/office/powerpoint/2010/main" val="171701566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FF9769-EA43-2162-5FAF-54B148FE9BA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DE71118-BBAE-7721-E91A-C11CDB46861F}"/>
              </a:ext>
            </a:extLst>
          </p:cNvPr>
          <p:cNvSpPr>
            <a:spLocks noGrp="1"/>
          </p:cNvSpPr>
          <p:nvPr>
            <p:ph sz="half" idx="1"/>
          </p:nvPr>
        </p:nvSpPr>
        <p:spPr>
          <a:xfrm>
            <a:off x="609600" y="1371600"/>
            <a:ext cx="4033838" cy="464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9210748B-1AE2-D83D-70C2-D1FC2EA6A43F}"/>
              </a:ext>
            </a:extLst>
          </p:cNvPr>
          <p:cNvSpPr>
            <a:spLocks noGrp="1"/>
          </p:cNvSpPr>
          <p:nvPr>
            <p:ph sz="half" idx="2"/>
          </p:nvPr>
        </p:nvSpPr>
        <p:spPr>
          <a:xfrm>
            <a:off x="4795838" y="1371600"/>
            <a:ext cx="4035425" cy="464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投影片編號版面配置區 4">
            <a:extLst>
              <a:ext uri="{FF2B5EF4-FFF2-40B4-BE49-F238E27FC236}">
                <a16:creationId xmlns:a16="http://schemas.microsoft.com/office/drawing/2014/main" id="{FF569DE3-664F-E8B6-E7BF-C8968F0BC4FC}"/>
              </a:ext>
            </a:extLst>
          </p:cNvPr>
          <p:cNvSpPr>
            <a:spLocks noGrp="1"/>
          </p:cNvSpPr>
          <p:nvPr>
            <p:ph type="sldNum" sz="quarter" idx="10"/>
          </p:nvPr>
        </p:nvSpPr>
        <p:spPr/>
        <p:txBody>
          <a:bodyPr/>
          <a:lstStyle>
            <a:lvl1pPr>
              <a:defRPr/>
            </a:lvl1pPr>
          </a:lstStyle>
          <a:p>
            <a:fld id="{FE0D196C-E629-084D-A110-EBD498B587F2}" type="slidenum">
              <a:rPr lang="en-US" altLang="zh-TW"/>
              <a:pPr/>
              <a:t>‹#›</a:t>
            </a:fld>
            <a:endParaRPr lang="en-US" altLang="zh-TW"/>
          </a:p>
        </p:txBody>
      </p:sp>
    </p:spTree>
    <p:extLst>
      <p:ext uri="{BB962C8B-B14F-4D97-AF65-F5344CB8AC3E}">
        <p14:creationId xmlns:p14="http://schemas.microsoft.com/office/powerpoint/2010/main" val="48078003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3459A3-D3A4-82C9-B8BD-59A34ECE0CD5}"/>
              </a:ext>
            </a:extLst>
          </p:cNvPr>
          <p:cNvSpPr>
            <a:spLocks noGrp="1"/>
          </p:cNvSpPr>
          <p:nvPr>
            <p:ph type="title"/>
          </p:nvPr>
        </p:nvSpPr>
        <p:spPr>
          <a:xfrm>
            <a:off x="682625" y="365125"/>
            <a:ext cx="8543925"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9E012BB-5E7F-3BBD-37C5-8BE0F0936508}"/>
              </a:ext>
            </a:extLst>
          </p:cNvPr>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1BB916CB-61F1-DD96-D917-6F63190AEE8A}"/>
              </a:ext>
            </a:extLst>
          </p:cNvPr>
          <p:cNvSpPr>
            <a:spLocks noGrp="1"/>
          </p:cNvSpPr>
          <p:nvPr>
            <p:ph sz="half" idx="2"/>
          </p:nvPr>
        </p:nvSpPr>
        <p:spPr>
          <a:xfrm>
            <a:off x="682625" y="2505075"/>
            <a:ext cx="4191000"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B7C65EF-5E4E-D1D2-576D-62D7F9F4FCDD}"/>
              </a:ext>
            </a:extLst>
          </p:cNvPr>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1BD3EE2-4466-85D1-67DE-D50E7AE9B4D8}"/>
              </a:ext>
            </a:extLst>
          </p:cNvPr>
          <p:cNvSpPr>
            <a:spLocks noGrp="1"/>
          </p:cNvSpPr>
          <p:nvPr>
            <p:ph sz="quarter" idx="4"/>
          </p:nvPr>
        </p:nvSpPr>
        <p:spPr>
          <a:xfrm>
            <a:off x="5014913" y="2505075"/>
            <a:ext cx="421163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投影片編號版面配置區 6">
            <a:extLst>
              <a:ext uri="{FF2B5EF4-FFF2-40B4-BE49-F238E27FC236}">
                <a16:creationId xmlns:a16="http://schemas.microsoft.com/office/drawing/2014/main" id="{18AF8A80-7B81-DBEA-12D3-DE6B761EAA29}"/>
              </a:ext>
            </a:extLst>
          </p:cNvPr>
          <p:cNvSpPr>
            <a:spLocks noGrp="1"/>
          </p:cNvSpPr>
          <p:nvPr>
            <p:ph type="sldNum" sz="quarter" idx="10"/>
          </p:nvPr>
        </p:nvSpPr>
        <p:spPr/>
        <p:txBody>
          <a:bodyPr/>
          <a:lstStyle>
            <a:lvl1pPr>
              <a:defRPr/>
            </a:lvl1pPr>
          </a:lstStyle>
          <a:p>
            <a:fld id="{CCD12B60-7F8D-CE40-A145-7CB1446814E5}" type="slidenum">
              <a:rPr lang="en-US" altLang="zh-TW"/>
              <a:pPr/>
              <a:t>‹#›</a:t>
            </a:fld>
            <a:endParaRPr lang="en-US" altLang="zh-TW"/>
          </a:p>
        </p:txBody>
      </p:sp>
    </p:spTree>
    <p:extLst>
      <p:ext uri="{BB962C8B-B14F-4D97-AF65-F5344CB8AC3E}">
        <p14:creationId xmlns:p14="http://schemas.microsoft.com/office/powerpoint/2010/main" val="183820214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43989E-268B-201F-BA81-0ABF253FC145}"/>
              </a:ext>
            </a:extLst>
          </p:cNvPr>
          <p:cNvSpPr>
            <a:spLocks noGrp="1"/>
          </p:cNvSpPr>
          <p:nvPr>
            <p:ph type="title"/>
          </p:nvPr>
        </p:nvSpPr>
        <p:spPr/>
        <p:txBody>
          <a:bodyPr/>
          <a:lstStyle/>
          <a:p>
            <a:r>
              <a:rPr lang="zh-TW" altLang="en-US"/>
              <a:t>按一下以編輯母片標題樣式</a:t>
            </a:r>
          </a:p>
        </p:txBody>
      </p:sp>
      <p:sp>
        <p:nvSpPr>
          <p:cNvPr id="3" name="投影片編號版面配置區 2">
            <a:extLst>
              <a:ext uri="{FF2B5EF4-FFF2-40B4-BE49-F238E27FC236}">
                <a16:creationId xmlns:a16="http://schemas.microsoft.com/office/drawing/2014/main" id="{8804AB85-8FF4-A24B-46A1-5C4C8DF5C184}"/>
              </a:ext>
            </a:extLst>
          </p:cNvPr>
          <p:cNvSpPr>
            <a:spLocks noGrp="1"/>
          </p:cNvSpPr>
          <p:nvPr>
            <p:ph type="sldNum" sz="quarter" idx="10"/>
          </p:nvPr>
        </p:nvSpPr>
        <p:spPr/>
        <p:txBody>
          <a:bodyPr/>
          <a:lstStyle>
            <a:lvl1pPr>
              <a:defRPr/>
            </a:lvl1pPr>
          </a:lstStyle>
          <a:p>
            <a:fld id="{18B223F7-DB44-0845-BB9B-EECF19D606D1}" type="slidenum">
              <a:rPr lang="en-US" altLang="zh-TW"/>
              <a:pPr/>
              <a:t>‹#›</a:t>
            </a:fld>
            <a:endParaRPr lang="en-US" altLang="zh-TW"/>
          </a:p>
        </p:txBody>
      </p:sp>
    </p:spTree>
    <p:extLst>
      <p:ext uri="{BB962C8B-B14F-4D97-AF65-F5344CB8AC3E}">
        <p14:creationId xmlns:p14="http://schemas.microsoft.com/office/powerpoint/2010/main" val="89881359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C39BC61B-6C3E-D982-5BEA-1B8018DCC51D}"/>
              </a:ext>
            </a:extLst>
          </p:cNvPr>
          <p:cNvSpPr>
            <a:spLocks noGrp="1"/>
          </p:cNvSpPr>
          <p:nvPr>
            <p:ph type="sldNum" sz="quarter" idx="10"/>
          </p:nvPr>
        </p:nvSpPr>
        <p:spPr/>
        <p:txBody>
          <a:bodyPr/>
          <a:lstStyle>
            <a:lvl1pPr>
              <a:defRPr/>
            </a:lvl1pPr>
          </a:lstStyle>
          <a:p>
            <a:fld id="{E82B163E-CA9A-064D-A20D-C8D0E74B6C04}" type="slidenum">
              <a:rPr lang="en-US" altLang="zh-TW"/>
              <a:pPr/>
              <a:t>‹#›</a:t>
            </a:fld>
            <a:endParaRPr lang="en-US" altLang="zh-TW"/>
          </a:p>
        </p:txBody>
      </p:sp>
    </p:spTree>
    <p:extLst>
      <p:ext uri="{BB962C8B-B14F-4D97-AF65-F5344CB8AC3E}">
        <p14:creationId xmlns:p14="http://schemas.microsoft.com/office/powerpoint/2010/main" val="396605126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A25EF9-0E1C-49DC-BF12-7E6C07AAEF3A}"/>
              </a:ext>
            </a:extLst>
          </p:cNvPr>
          <p:cNvSpPr>
            <a:spLocks noGrp="1"/>
          </p:cNvSpPr>
          <p:nvPr>
            <p:ph type="title"/>
          </p:nvPr>
        </p:nvSpPr>
        <p:spPr>
          <a:xfrm>
            <a:off x="682625" y="457200"/>
            <a:ext cx="3194050"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92E70742-4E0F-A4AC-1D52-C18B11ADA134}"/>
              </a:ext>
            </a:extLst>
          </p:cNvPr>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FE4F1C40-B90F-C85F-D778-C8C0E37B6534}"/>
              </a:ext>
            </a:extLst>
          </p:cNvPr>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投影片編號版面配置區 4">
            <a:extLst>
              <a:ext uri="{FF2B5EF4-FFF2-40B4-BE49-F238E27FC236}">
                <a16:creationId xmlns:a16="http://schemas.microsoft.com/office/drawing/2014/main" id="{8BF08DE4-4CD3-5A3B-DD31-F72FAD07F136}"/>
              </a:ext>
            </a:extLst>
          </p:cNvPr>
          <p:cNvSpPr>
            <a:spLocks noGrp="1"/>
          </p:cNvSpPr>
          <p:nvPr>
            <p:ph type="sldNum" sz="quarter" idx="10"/>
          </p:nvPr>
        </p:nvSpPr>
        <p:spPr/>
        <p:txBody>
          <a:bodyPr/>
          <a:lstStyle>
            <a:lvl1pPr>
              <a:defRPr/>
            </a:lvl1pPr>
          </a:lstStyle>
          <a:p>
            <a:fld id="{C2DC30EB-4E41-0245-80E3-FFACC7519ABF}" type="slidenum">
              <a:rPr lang="en-US" altLang="zh-TW"/>
              <a:pPr/>
              <a:t>‹#›</a:t>
            </a:fld>
            <a:endParaRPr lang="en-US" altLang="zh-TW"/>
          </a:p>
        </p:txBody>
      </p:sp>
    </p:spTree>
    <p:extLst>
      <p:ext uri="{BB962C8B-B14F-4D97-AF65-F5344CB8AC3E}">
        <p14:creationId xmlns:p14="http://schemas.microsoft.com/office/powerpoint/2010/main" val="262361357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6A2CED-87A2-95D3-7FBE-82757189355F}"/>
              </a:ext>
            </a:extLst>
          </p:cNvPr>
          <p:cNvSpPr>
            <a:spLocks noGrp="1"/>
          </p:cNvSpPr>
          <p:nvPr>
            <p:ph type="title"/>
          </p:nvPr>
        </p:nvSpPr>
        <p:spPr>
          <a:xfrm>
            <a:off x="682625" y="457200"/>
            <a:ext cx="3194050"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8B1FCAE-D548-07AD-6E9A-2254D26FF7DF}"/>
              </a:ext>
            </a:extLst>
          </p:cNvPr>
          <p:cNvSpPr>
            <a:spLocks noGrp="1"/>
          </p:cNvSpPr>
          <p:nvPr>
            <p:ph type="pic" idx="1"/>
          </p:nvPr>
        </p:nvSpPr>
        <p:spPr>
          <a:xfrm>
            <a:off x="4211638" y="987425"/>
            <a:ext cx="50149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E8B12BD7-4214-15BA-0CB2-DCE91E6F344F}"/>
              </a:ext>
            </a:extLst>
          </p:cNvPr>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投影片編號版面配置區 4">
            <a:extLst>
              <a:ext uri="{FF2B5EF4-FFF2-40B4-BE49-F238E27FC236}">
                <a16:creationId xmlns:a16="http://schemas.microsoft.com/office/drawing/2014/main" id="{F1521374-576D-825A-B9AA-BEC6ECB4EC86}"/>
              </a:ext>
            </a:extLst>
          </p:cNvPr>
          <p:cNvSpPr>
            <a:spLocks noGrp="1"/>
          </p:cNvSpPr>
          <p:nvPr>
            <p:ph type="sldNum" sz="quarter" idx="10"/>
          </p:nvPr>
        </p:nvSpPr>
        <p:spPr/>
        <p:txBody>
          <a:bodyPr/>
          <a:lstStyle>
            <a:lvl1pPr>
              <a:defRPr/>
            </a:lvl1pPr>
          </a:lstStyle>
          <a:p>
            <a:fld id="{705F55B1-A0DD-4345-AE51-C885F66EC700}" type="slidenum">
              <a:rPr lang="en-US" altLang="zh-TW"/>
              <a:pPr/>
              <a:t>‹#›</a:t>
            </a:fld>
            <a:endParaRPr lang="en-US" altLang="zh-TW"/>
          </a:p>
        </p:txBody>
      </p:sp>
    </p:spTree>
    <p:extLst>
      <p:ext uri="{BB962C8B-B14F-4D97-AF65-F5344CB8AC3E}">
        <p14:creationId xmlns:p14="http://schemas.microsoft.com/office/powerpoint/2010/main" val="234211615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4EF89D-4459-641F-3B8A-DA41EEE1E311}"/>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361FCA41-CD9C-24B6-8F80-D7208F738EB7}"/>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a:extLst>
              <a:ext uri="{FF2B5EF4-FFF2-40B4-BE49-F238E27FC236}">
                <a16:creationId xmlns:a16="http://schemas.microsoft.com/office/drawing/2014/main" id="{51499E0A-44F4-1433-3BFB-C102545A8B0E}"/>
              </a:ext>
            </a:extLst>
          </p:cNvPr>
          <p:cNvSpPr>
            <a:spLocks noGrp="1"/>
          </p:cNvSpPr>
          <p:nvPr>
            <p:ph type="sldNum" sz="quarter" idx="10"/>
          </p:nvPr>
        </p:nvSpPr>
        <p:spPr/>
        <p:txBody>
          <a:bodyPr/>
          <a:lstStyle>
            <a:lvl1pPr>
              <a:defRPr/>
            </a:lvl1pPr>
          </a:lstStyle>
          <a:p>
            <a:fld id="{B9863974-A953-0B49-9538-A6813602E4E3}" type="slidenum">
              <a:rPr lang="en-US" altLang="zh-TW"/>
              <a:pPr/>
              <a:t>‹#›</a:t>
            </a:fld>
            <a:endParaRPr lang="en-US" altLang="zh-TW"/>
          </a:p>
        </p:txBody>
      </p:sp>
    </p:spTree>
    <p:extLst>
      <p:ext uri="{BB962C8B-B14F-4D97-AF65-F5344CB8AC3E}">
        <p14:creationId xmlns:p14="http://schemas.microsoft.com/office/powerpoint/2010/main" val="162932500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089DD9D-A77D-A440-6699-150B2B4608B2}"/>
              </a:ext>
            </a:extLst>
          </p:cNvPr>
          <p:cNvSpPr>
            <a:spLocks noGrp="1"/>
          </p:cNvSpPr>
          <p:nvPr>
            <p:ph type="title" orient="vert"/>
          </p:nvPr>
        </p:nvSpPr>
        <p:spPr>
          <a:xfrm>
            <a:off x="6757988" y="228600"/>
            <a:ext cx="2073275" cy="5791200"/>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375C3532-A805-F5F4-14DF-DB8028CD97BF}"/>
              </a:ext>
            </a:extLst>
          </p:cNvPr>
          <p:cNvSpPr>
            <a:spLocks noGrp="1"/>
          </p:cNvSpPr>
          <p:nvPr>
            <p:ph type="body" orient="vert" idx="1"/>
          </p:nvPr>
        </p:nvSpPr>
        <p:spPr>
          <a:xfrm>
            <a:off x="533400" y="228600"/>
            <a:ext cx="6072188" cy="579120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a:extLst>
              <a:ext uri="{FF2B5EF4-FFF2-40B4-BE49-F238E27FC236}">
                <a16:creationId xmlns:a16="http://schemas.microsoft.com/office/drawing/2014/main" id="{D6B1BE5E-2289-1A3A-21D8-6DADA51165FD}"/>
              </a:ext>
            </a:extLst>
          </p:cNvPr>
          <p:cNvSpPr>
            <a:spLocks noGrp="1"/>
          </p:cNvSpPr>
          <p:nvPr>
            <p:ph type="sldNum" sz="quarter" idx="10"/>
          </p:nvPr>
        </p:nvSpPr>
        <p:spPr/>
        <p:txBody>
          <a:bodyPr/>
          <a:lstStyle>
            <a:lvl1pPr>
              <a:defRPr/>
            </a:lvl1pPr>
          </a:lstStyle>
          <a:p>
            <a:fld id="{30F244ED-DEAD-B944-8812-2E58ACCC745F}" type="slidenum">
              <a:rPr lang="en-US" altLang="zh-TW"/>
              <a:pPr/>
              <a:t>‹#›</a:t>
            </a:fld>
            <a:endParaRPr lang="en-US" altLang="zh-TW"/>
          </a:p>
        </p:txBody>
      </p:sp>
    </p:spTree>
    <p:extLst>
      <p:ext uri="{BB962C8B-B14F-4D97-AF65-F5344CB8AC3E}">
        <p14:creationId xmlns:p14="http://schemas.microsoft.com/office/powerpoint/2010/main" val="295291029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A66472-D4C8-9D47-1189-827E089380BA}"/>
              </a:ext>
            </a:extLst>
          </p:cNvPr>
          <p:cNvSpPr>
            <a:spLocks noGrp="1"/>
          </p:cNvSpPr>
          <p:nvPr>
            <p:ph type="title"/>
          </p:nvPr>
        </p:nvSpPr>
        <p:spPr>
          <a:xfrm>
            <a:off x="533400" y="228600"/>
            <a:ext cx="7543800" cy="685800"/>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72E744B-6C29-9A6D-10B5-3727B54A6E45}"/>
              </a:ext>
            </a:extLst>
          </p:cNvPr>
          <p:cNvSpPr>
            <a:spLocks noGrp="1"/>
          </p:cNvSpPr>
          <p:nvPr>
            <p:ph type="body" sz="half" idx="1"/>
          </p:nvPr>
        </p:nvSpPr>
        <p:spPr>
          <a:xfrm>
            <a:off x="609600" y="1371600"/>
            <a:ext cx="4033838" cy="464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7F11C563-B7E0-01D0-6155-E75B87CDDE8B}"/>
              </a:ext>
            </a:extLst>
          </p:cNvPr>
          <p:cNvSpPr>
            <a:spLocks noGrp="1"/>
          </p:cNvSpPr>
          <p:nvPr>
            <p:ph sz="half" idx="2"/>
          </p:nvPr>
        </p:nvSpPr>
        <p:spPr>
          <a:xfrm>
            <a:off x="4795838" y="1371600"/>
            <a:ext cx="4035425" cy="464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投影片編號版面配置區 4">
            <a:extLst>
              <a:ext uri="{FF2B5EF4-FFF2-40B4-BE49-F238E27FC236}">
                <a16:creationId xmlns:a16="http://schemas.microsoft.com/office/drawing/2014/main" id="{78501FEB-7898-70D7-9D3D-BA415BE45DB1}"/>
              </a:ext>
            </a:extLst>
          </p:cNvPr>
          <p:cNvSpPr>
            <a:spLocks noGrp="1"/>
          </p:cNvSpPr>
          <p:nvPr>
            <p:ph type="sldNum" sz="quarter" idx="10"/>
          </p:nvPr>
        </p:nvSpPr>
        <p:spPr>
          <a:xfrm>
            <a:off x="7772400" y="6248400"/>
            <a:ext cx="1905000" cy="457200"/>
          </a:xfrm>
        </p:spPr>
        <p:txBody>
          <a:bodyPr/>
          <a:lstStyle>
            <a:lvl1pPr>
              <a:defRPr/>
            </a:lvl1pPr>
          </a:lstStyle>
          <a:p>
            <a:fld id="{95AF4715-A12F-4F48-82B9-71DBCFDDE67C}" type="slidenum">
              <a:rPr lang="en-US" altLang="zh-TW"/>
              <a:pPr/>
              <a:t>‹#›</a:t>
            </a:fld>
            <a:endParaRPr lang="en-US" altLang="zh-TW"/>
          </a:p>
        </p:txBody>
      </p:sp>
    </p:spTree>
    <p:extLst>
      <p:ext uri="{BB962C8B-B14F-4D97-AF65-F5344CB8AC3E}">
        <p14:creationId xmlns:p14="http://schemas.microsoft.com/office/powerpoint/2010/main" val="128292870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8A092C-578F-7CAB-7A83-3B5B3B275CA9}"/>
              </a:ext>
            </a:extLst>
          </p:cNvPr>
          <p:cNvSpPr>
            <a:spLocks noGrp="1"/>
          </p:cNvSpPr>
          <p:nvPr>
            <p:ph type="ctrTitle"/>
          </p:nvPr>
        </p:nvSpPr>
        <p:spPr>
          <a:xfrm>
            <a:off x="1238250" y="1122363"/>
            <a:ext cx="74295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E193F05-CC38-3D43-59CF-C0AEE9987845}"/>
              </a:ext>
            </a:extLst>
          </p:cNvPr>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投影片編號版面配置區 3">
            <a:extLst>
              <a:ext uri="{FF2B5EF4-FFF2-40B4-BE49-F238E27FC236}">
                <a16:creationId xmlns:a16="http://schemas.microsoft.com/office/drawing/2014/main" id="{BD732102-B7D7-6593-2BAE-1EF060ADE827}"/>
              </a:ext>
            </a:extLst>
          </p:cNvPr>
          <p:cNvSpPr>
            <a:spLocks noGrp="1"/>
          </p:cNvSpPr>
          <p:nvPr>
            <p:ph type="sldNum" sz="quarter" idx="10"/>
          </p:nvPr>
        </p:nvSpPr>
        <p:spPr/>
        <p:txBody>
          <a:bodyPr/>
          <a:lstStyle>
            <a:lvl1pPr>
              <a:defRPr/>
            </a:lvl1pPr>
          </a:lstStyle>
          <a:p>
            <a:fld id="{68883AC7-DDEC-5B49-B6FC-342667DFDCD8}" type="slidenum">
              <a:rPr lang="en-US" altLang="zh-TW"/>
              <a:pPr/>
              <a:t>‹#›</a:t>
            </a:fld>
            <a:endParaRPr lang="en-US" altLang="zh-TW"/>
          </a:p>
        </p:txBody>
      </p:sp>
    </p:spTree>
    <p:extLst>
      <p:ext uri="{BB962C8B-B14F-4D97-AF65-F5344CB8AC3E}">
        <p14:creationId xmlns:p14="http://schemas.microsoft.com/office/powerpoint/2010/main" val="125625441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5343EC-C7E9-1FBE-5483-3B7EAAFA77D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658FDA75-59EF-D9EC-6D79-1AAA603D32EF}"/>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a:extLst>
              <a:ext uri="{FF2B5EF4-FFF2-40B4-BE49-F238E27FC236}">
                <a16:creationId xmlns:a16="http://schemas.microsoft.com/office/drawing/2014/main" id="{20F0721C-8FE7-1DE1-FEDA-DF62167B342E}"/>
              </a:ext>
            </a:extLst>
          </p:cNvPr>
          <p:cNvSpPr>
            <a:spLocks noGrp="1"/>
          </p:cNvSpPr>
          <p:nvPr>
            <p:ph type="sldNum" sz="quarter" idx="10"/>
          </p:nvPr>
        </p:nvSpPr>
        <p:spPr/>
        <p:txBody>
          <a:bodyPr/>
          <a:lstStyle>
            <a:lvl1pPr>
              <a:defRPr/>
            </a:lvl1pPr>
          </a:lstStyle>
          <a:p>
            <a:fld id="{8EEEE657-A28F-CD4A-B8A6-15C5B073F08B}" type="slidenum">
              <a:rPr lang="en-US" altLang="zh-TW"/>
              <a:pPr/>
              <a:t>‹#›</a:t>
            </a:fld>
            <a:endParaRPr lang="en-US" altLang="zh-TW"/>
          </a:p>
        </p:txBody>
      </p:sp>
    </p:spTree>
    <p:extLst>
      <p:ext uri="{BB962C8B-B14F-4D97-AF65-F5344CB8AC3E}">
        <p14:creationId xmlns:p14="http://schemas.microsoft.com/office/powerpoint/2010/main" val="352018812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B9CBB3-7B5A-9466-CD2F-C9682DBA6C97}"/>
              </a:ext>
            </a:extLst>
          </p:cNvPr>
          <p:cNvSpPr>
            <a:spLocks noGrp="1"/>
          </p:cNvSpPr>
          <p:nvPr>
            <p:ph type="title"/>
          </p:nvPr>
        </p:nvSpPr>
        <p:spPr>
          <a:xfrm>
            <a:off x="676275" y="1709738"/>
            <a:ext cx="8543925"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FE77AC0-3F39-6A83-6801-5E4FB5D2B809}"/>
              </a:ext>
            </a:extLst>
          </p:cNvPr>
          <p:cNvSpPr>
            <a:spLocks noGrp="1"/>
          </p:cNvSpPr>
          <p:nvPr>
            <p:ph type="body" idx="1"/>
          </p:nvPr>
        </p:nvSpPr>
        <p:spPr>
          <a:xfrm>
            <a:off x="676275" y="4589463"/>
            <a:ext cx="8543925"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TW" altLang="en-US"/>
              <a:t>按一下以編輯母片文字樣式</a:t>
            </a:r>
          </a:p>
        </p:txBody>
      </p:sp>
      <p:sp>
        <p:nvSpPr>
          <p:cNvPr id="4" name="投影片編號版面配置區 3">
            <a:extLst>
              <a:ext uri="{FF2B5EF4-FFF2-40B4-BE49-F238E27FC236}">
                <a16:creationId xmlns:a16="http://schemas.microsoft.com/office/drawing/2014/main" id="{BB7D1074-5A69-D1A1-6DC0-E00968C9CA12}"/>
              </a:ext>
            </a:extLst>
          </p:cNvPr>
          <p:cNvSpPr>
            <a:spLocks noGrp="1"/>
          </p:cNvSpPr>
          <p:nvPr>
            <p:ph type="sldNum" sz="quarter" idx="10"/>
          </p:nvPr>
        </p:nvSpPr>
        <p:spPr/>
        <p:txBody>
          <a:bodyPr/>
          <a:lstStyle>
            <a:lvl1pPr>
              <a:defRPr/>
            </a:lvl1pPr>
          </a:lstStyle>
          <a:p>
            <a:fld id="{A5A94D2D-EF96-FF44-BEB0-71273ECE703A}" type="slidenum">
              <a:rPr lang="en-US" altLang="zh-TW"/>
              <a:pPr/>
              <a:t>‹#›</a:t>
            </a:fld>
            <a:endParaRPr lang="en-US" altLang="zh-TW"/>
          </a:p>
        </p:txBody>
      </p:sp>
    </p:spTree>
    <p:extLst>
      <p:ext uri="{BB962C8B-B14F-4D97-AF65-F5344CB8AC3E}">
        <p14:creationId xmlns:p14="http://schemas.microsoft.com/office/powerpoint/2010/main" val="352487447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CB5093-F5A2-02B2-2922-02C36B8C12D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9B26C59-4726-8702-359B-403608A72B8B}"/>
              </a:ext>
            </a:extLst>
          </p:cNvPr>
          <p:cNvSpPr>
            <a:spLocks noGrp="1"/>
          </p:cNvSpPr>
          <p:nvPr>
            <p:ph sz="half" idx="1"/>
          </p:nvPr>
        </p:nvSpPr>
        <p:spPr>
          <a:xfrm>
            <a:off x="609600" y="1219200"/>
            <a:ext cx="4033838" cy="464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BB5B559C-BDC9-CE30-898B-40B6ED4480D3}"/>
              </a:ext>
            </a:extLst>
          </p:cNvPr>
          <p:cNvSpPr>
            <a:spLocks noGrp="1"/>
          </p:cNvSpPr>
          <p:nvPr>
            <p:ph sz="half" idx="2"/>
          </p:nvPr>
        </p:nvSpPr>
        <p:spPr>
          <a:xfrm>
            <a:off x="4795838" y="1219200"/>
            <a:ext cx="4035425" cy="464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投影片編號版面配置區 4">
            <a:extLst>
              <a:ext uri="{FF2B5EF4-FFF2-40B4-BE49-F238E27FC236}">
                <a16:creationId xmlns:a16="http://schemas.microsoft.com/office/drawing/2014/main" id="{1EB4EFA5-7684-7727-D7B1-519ABB7210D9}"/>
              </a:ext>
            </a:extLst>
          </p:cNvPr>
          <p:cNvSpPr>
            <a:spLocks noGrp="1"/>
          </p:cNvSpPr>
          <p:nvPr>
            <p:ph type="sldNum" sz="quarter" idx="10"/>
          </p:nvPr>
        </p:nvSpPr>
        <p:spPr/>
        <p:txBody>
          <a:bodyPr/>
          <a:lstStyle>
            <a:lvl1pPr>
              <a:defRPr/>
            </a:lvl1pPr>
          </a:lstStyle>
          <a:p>
            <a:fld id="{E9182289-8D92-2C42-88FE-FE1308566E24}" type="slidenum">
              <a:rPr lang="en-US" altLang="zh-TW"/>
              <a:pPr/>
              <a:t>‹#›</a:t>
            </a:fld>
            <a:endParaRPr lang="en-US" altLang="zh-TW"/>
          </a:p>
        </p:txBody>
      </p:sp>
    </p:spTree>
    <p:extLst>
      <p:ext uri="{BB962C8B-B14F-4D97-AF65-F5344CB8AC3E}">
        <p14:creationId xmlns:p14="http://schemas.microsoft.com/office/powerpoint/2010/main" val="326598762"/>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CFC5EB-482F-C196-BAE9-DC092B2E2DE6}"/>
              </a:ext>
            </a:extLst>
          </p:cNvPr>
          <p:cNvSpPr>
            <a:spLocks noGrp="1"/>
          </p:cNvSpPr>
          <p:nvPr>
            <p:ph type="title"/>
          </p:nvPr>
        </p:nvSpPr>
        <p:spPr>
          <a:xfrm>
            <a:off x="682625" y="365125"/>
            <a:ext cx="8543925"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4A2DF9E-0410-7C53-C7FE-FF4D86F0BA5F}"/>
              </a:ext>
            </a:extLst>
          </p:cNvPr>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C752B32F-3C1C-1149-B914-1962186EFB8E}"/>
              </a:ext>
            </a:extLst>
          </p:cNvPr>
          <p:cNvSpPr>
            <a:spLocks noGrp="1"/>
          </p:cNvSpPr>
          <p:nvPr>
            <p:ph sz="half" idx="2"/>
          </p:nvPr>
        </p:nvSpPr>
        <p:spPr>
          <a:xfrm>
            <a:off x="682625" y="2505075"/>
            <a:ext cx="4191000"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5AE6C241-D087-9C55-43C5-390B41879B9D}"/>
              </a:ext>
            </a:extLst>
          </p:cNvPr>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65A624C4-CB7E-9700-A77D-E1266138B4C9}"/>
              </a:ext>
            </a:extLst>
          </p:cNvPr>
          <p:cNvSpPr>
            <a:spLocks noGrp="1"/>
          </p:cNvSpPr>
          <p:nvPr>
            <p:ph sz="quarter" idx="4"/>
          </p:nvPr>
        </p:nvSpPr>
        <p:spPr>
          <a:xfrm>
            <a:off x="5014913" y="2505075"/>
            <a:ext cx="421163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投影片編號版面配置區 6">
            <a:extLst>
              <a:ext uri="{FF2B5EF4-FFF2-40B4-BE49-F238E27FC236}">
                <a16:creationId xmlns:a16="http://schemas.microsoft.com/office/drawing/2014/main" id="{59B9E0A6-BE35-7B5B-40BE-E526AC3B6A5F}"/>
              </a:ext>
            </a:extLst>
          </p:cNvPr>
          <p:cNvSpPr>
            <a:spLocks noGrp="1"/>
          </p:cNvSpPr>
          <p:nvPr>
            <p:ph type="sldNum" sz="quarter" idx="10"/>
          </p:nvPr>
        </p:nvSpPr>
        <p:spPr/>
        <p:txBody>
          <a:bodyPr/>
          <a:lstStyle>
            <a:lvl1pPr>
              <a:defRPr/>
            </a:lvl1pPr>
          </a:lstStyle>
          <a:p>
            <a:fld id="{EB7666D3-319E-E545-A559-03700EA79A33}" type="slidenum">
              <a:rPr lang="en-US" altLang="zh-TW"/>
              <a:pPr/>
              <a:t>‹#›</a:t>
            </a:fld>
            <a:endParaRPr lang="en-US" altLang="zh-TW"/>
          </a:p>
        </p:txBody>
      </p:sp>
    </p:spTree>
    <p:extLst>
      <p:ext uri="{BB962C8B-B14F-4D97-AF65-F5344CB8AC3E}">
        <p14:creationId xmlns:p14="http://schemas.microsoft.com/office/powerpoint/2010/main" val="30155221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B039BC-BF09-9162-2480-C7AE42EB6087}"/>
              </a:ext>
            </a:extLst>
          </p:cNvPr>
          <p:cNvSpPr>
            <a:spLocks noGrp="1"/>
          </p:cNvSpPr>
          <p:nvPr>
            <p:ph type="title"/>
          </p:nvPr>
        </p:nvSpPr>
        <p:spPr/>
        <p:txBody>
          <a:bodyPr/>
          <a:lstStyle/>
          <a:p>
            <a:r>
              <a:rPr lang="zh-TW" altLang="en-US"/>
              <a:t>按一下以編輯母片標題樣式</a:t>
            </a:r>
          </a:p>
        </p:txBody>
      </p:sp>
      <p:sp>
        <p:nvSpPr>
          <p:cNvPr id="3" name="投影片編號版面配置區 2">
            <a:extLst>
              <a:ext uri="{FF2B5EF4-FFF2-40B4-BE49-F238E27FC236}">
                <a16:creationId xmlns:a16="http://schemas.microsoft.com/office/drawing/2014/main" id="{F67F28C9-F5CD-90F6-B161-A800A205CECF}"/>
              </a:ext>
            </a:extLst>
          </p:cNvPr>
          <p:cNvSpPr>
            <a:spLocks noGrp="1"/>
          </p:cNvSpPr>
          <p:nvPr>
            <p:ph type="sldNum" sz="quarter" idx="10"/>
          </p:nvPr>
        </p:nvSpPr>
        <p:spPr/>
        <p:txBody>
          <a:bodyPr/>
          <a:lstStyle>
            <a:lvl1pPr>
              <a:defRPr/>
            </a:lvl1pPr>
          </a:lstStyle>
          <a:p>
            <a:fld id="{6478EFA3-8D75-6E4F-A191-8AE3F3D96843}" type="slidenum">
              <a:rPr lang="en-US" altLang="zh-TW"/>
              <a:pPr/>
              <a:t>‹#›</a:t>
            </a:fld>
            <a:endParaRPr lang="en-US" altLang="zh-TW"/>
          </a:p>
        </p:txBody>
      </p:sp>
    </p:spTree>
    <p:extLst>
      <p:ext uri="{BB962C8B-B14F-4D97-AF65-F5344CB8AC3E}">
        <p14:creationId xmlns:p14="http://schemas.microsoft.com/office/powerpoint/2010/main" val="150158182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47B895F3-D485-F651-7873-9CB3A4D8E898}"/>
              </a:ext>
            </a:extLst>
          </p:cNvPr>
          <p:cNvSpPr>
            <a:spLocks noGrp="1"/>
          </p:cNvSpPr>
          <p:nvPr>
            <p:ph type="sldNum" sz="quarter" idx="10"/>
          </p:nvPr>
        </p:nvSpPr>
        <p:spPr/>
        <p:txBody>
          <a:bodyPr/>
          <a:lstStyle>
            <a:lvl1pPr>
              <a:defRPr/>
            </a:lvl1pPr>
          </a:lstStyle>
          <a:p>
            <a:fld id="{BE05A15D-9128-9C4E-AC47-0934433EAE90}" type="slidenum">
              <a:rPr lang="en-US" altLang="zh-TW"/>
              <a:pPr/>
              <a:t>‹#›</a:t>
            </a:fld>
            <a:endParaRPr lang="en-US" altLang="zh-TW"/>
          </a:p>
        </p:txBody>
      </p:sp>
    </p:spTree>
    <p:extLst>
      <p:ext uri="{BB962C8B-B14F-4D97-AF65-F5344CB8AC3E}">
        <p14:creationId xmlns:p14="http://schemas.microsoft.com/office/powerpoint/2010/main" val="2583278513"/>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D06CB7-FDD9-A520-7CE3-B9D9D861CE9B}"/>
              </a:ext>
            </a:extLst>
          </p:cNvPr>
          <p:cNvSpPr>
            <a:spLocks noGrp="1"/>
          </p:cNvSpPr>
          <p:nvPr>
            <p:ph type="title"/>
          </p:nvPr>
        </p:nvSpPr>
        <p:spPr>
          <a:xfrm>
            <a:off x="682625" y="457200"/>
            <a:ext cx="3194050"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301C51D-5FD7-F332-CC15-7AB24CFFA1A8}"/>
              </a:ext>
            </a:extLst>
          </p:cNvPr>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49A0DE-2A7D-164B-8577-C794ACFFD7BD}"/>
              </a:ext>
            </a:extLst>
          </p:cNvPr>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投影片編號版面配置區 4">
            <a:extLst>
              <a:ext uri="{FF2B5EF4-FFF2-40B4-BE49-F238E27FC236}">
                <a16:creationId xmlns:a16="http://schemas.microsoft.com/office/drawing/2014/main" id="{A4070FAD-E0C5-E085-7F01-E1310C6A4A89}"/>
              </a:ext>
            </a:extLst>
          </p:cNvPr>
          <p:cNvSpPr>
            <a:spLocks noGrp="1"/>
          </p:cNvSpPr>
          <p:nvPr>
            <p:ph type="sldNum" sz="quarter" idx="10"/>
          </p:nvPr>
        </p:nvSpPr>
        <p:spPr/>
        <p:txBody>
          <a:bodyPr/>
          <a:lstStyle>
            <a:lvl1pPr>
              <a:defRPr/>
            </a:lvl1pPr>
          </a:lstStyle>
          <a:p>
            <a:fld id="{05FA34D4-B83D-A14B-A5AC-FFF2D0F17111}" type="slidenum">
              <a:rPr lang="en-US" altLang="zh-TW"/>
              <a:pPr/>
              <a:t>‹#›</a:t>
            </a:fld>
            <a:endParaRPr lang="en-US" altLang="zh-TW"/>
          </a:p>
        </p:txBody>
      </p:sp>
    </p:spTree>
    <p:extLst>
      <p:ext uri="{BB962C8B-B14F-4D97-AF65-F5344CB8AC3E}">
        <p14:creationId xmlns:p14="http://schemas.microsoft.com/office/powerpoint/2010/main" val="328347407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154870-27E3-EA04-EDE9-74CC2EFDB360}"/>
              </a:ext>
            </a:extLst>
          </p:cNvPr>
          <p:cNvSpPr>
            <a:spLocks noGrp="1"/>
          </p:cNvSpPr>
          <p:nvPr>
            <p:ph type="title"/>
          </p:nvPr>
        </p:nvSpPr>
        <p:spPr>
          <a:xfrm>
            <a:off x="682625" y="457200"/>
            <a:ext cx="3194050"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020D5BC-0397-60EB-41BA-7CE2AC725502}"/>
              </a:ext>
            </a:extLst>
          </p:cNvPr>
          <p:cNvSpPr>
            <a:spLocks noGrp="1"/>
          </p:cNvSpPr>
          <p:nvPr>
            <p:ph type="pic" idx="1"/>
          </p:nvPr>
        </p:nvSpPr>
        <p:spPr>
          <a:xfrm>
            <a:off x="4211638" y="987425"/>
            <a:ext cx="50149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13F62C2-AEF5-D673-7341-29F8CEA9836D}"/>
              </a:ext>
            </a:extLst>
          </p:cNvPr>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投影片編號版面配置區 4">
            <a:extLst>
              <a:ext uri="{FF2B5EF4-FFF2-40B4-BE49-F238E27FC236}">
                <a16:creationId xmlns:a16="http://schemas.microsoft.com/office/drawing/2014/main" id="{F95DFDAB-0F0B-31AD-DD9F-D1ABB3AA9469}"/>
              </a:ext>
            </a:extLst>
          </p:cNvPr>
          <p:cNvSpPr>
            <a:spLocks noGrp="1"/>
          </p:cNvSpPr>
          <p:nvPr>
            <p:ph type="sldNum" sz="quarter" idx="10"/>
          </p:nvPr>
        </p:nvSpPr>
        <p:spPr/>
        <p:txBody>
          <a:bodyPr/>
          <a:lstStyle>
            <a:lvl1pPr>
              <a:defRPr/>
            </a:lvl1pPr>
          </a:lstStyle>
          <a:p>
            <a:fld id="{68CA5CEC-6AA7-7C45-9137-D956860D3C4A}" type="slidenum">
              <a:rPr lang="en-US" altLang="zh-TW"/>
              <a:pPr/>
              <a:t>‹#›</a:t>
            </a:fld>
            <a:endParaRPr lang="en-US" altLang="zh-TW"/>
          </a:p>
        </p:txBody>
      </p:sp>
    </p:spTree>
    <p:extLst>
      <p:ext uri="{BB962C8B-B14F-4D97-AF65-F5344CB8AC3E}">
        <p14:creationId xmlns:p14="http://schemas.microsoft.com/office/powerpoint/2010/main" val="136555462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6BF942-A68F-F12C-9B1C-206B44657DBE}"/>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315AB019-8C93-B49F-9D44-563BA8EB113D}"/>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a:extLst>
              <a:ext uri="{FF2B5EF4-FFF2-40B4-BE49-F238E27FC236}">
                <a16:creationId xmlns:a16="http://schemas.microsoft.com/office/drawing/2014/main" id="{B75A74BA-81C0-E6B9-A517-67597A634441}"/>
              </a:ext>
            </a:extLst>
          </p:cNvPr>
          <p:cNvSpPr>
            <a:spLocks noGrp="1"/>
          </p:cNvSpPr>
          <p:nvPr>
            <p:ph type="sldNum" sz="quarter" idx="10"/>
          </p:nvPr>
        </p:nvSpPr>
        <p:spPr/>
        <p:txBody>
          <a:bodyPr/>
          <a:lstStyle>
            <a:lvl1pPr>
              <a:defRPr/>
            </a:lvl1pPr>
          </a:lstStyle>
          <a:p>
            <a:fld id="{79A46DFE-E29A-9745-9A07-D109047E785C}" type="slidenum">
              <a:rPr lang="en-US" altLang="zh-TW"/>
              <a:pPr/>
              <a:t>‹#›</a:t>
            </a:fld>
            <a:endParaRPr lang="en-US" altLang="zh-TW"/>
          </a:p>
        </p:txBody>
      </p:sp>
    </p:spTree>
    <p:extLst>
      <p:ext uri="{BB962C8B-B14F-4D97-AF65-F5344CB8AC3E}">
        <p14:creationId xmlns:p14="http://schemas.microsoft.com/office/powerpoint/2010/main" val="375651728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BDA946D1-B7DA-47AF-B1DA-37360B05E8A6}"/>
              </a:ext>
            </a:extLst>
          </p:cNvPr>
          <p:cNvSpPr>
            <a:spLocks noGrp="1"/>
          </p:cNvSpPr>
          <p:nvPr>
            <p:ph type="title" orient="vert"/>
          </p:nvPr>
        </p:nvSpPr>
        <p:spPr>
          <a:xfrm>
            <a:off x="6738938" y="152400"/>
            <a:ext cx="2092325" cy="5715000"/>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1B3C703F-D15B-77B2-27EE-C460F8B4AC5D}"/>
              </a:ext>
            </a:extLst>
          </p:cNvPr>
          <p:cNvSpPr>
            <a:spLocks noGrp="1"/>
          </p:cNvSpPr>
          <p:nvPr>
            <p:ph type="body" orient="vert" idx="1"/>
          </p:nvPr>
        </p:nvSpPr>
        <p:spPr>
          <a:xfrm>
            <a:off x="457200" y="152400"/>
            <a:ext cx="6129338" cy="571500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a:extLst>
              <a:ext uri="{FF2B5EF4-FFF2-40B4-BE49-F238E27FC236}">
                <a16:creationId xmlns:a16="http://schemas.microsoft.com/office/drawing/2014/main" id="{F339C9B6-80CD-E2DF-C2EC-BC07A99079A4}"/>
              </a:ext>
            </a:extLst>
          </p:cNvPr>
          <p:cNvSpPr>
            <a:spLocks noGrp="1"/>
          </p:cNvSpPr>
          <p:nvPr>
            <p:ph type="sldNum" sz="quarter" idx="10"/>
          </p:nvPr>
        </p:nvSpPr>
        <p:spPr/>
        <p:txBody>
          <a:bodyPr/>
          <a:lstStyle>
            <a:lvl1pPr>
              <a:defRPr/>
            </a:lvl1pPr>
          </a:lstStyle>
          <a:p>
            <a:fld id="{E12D8110-AFB2-ED44-A872-24A1DDE8B053}" type="slidenum">
              <a:rPr lang="en-US" altLang="zh-TW"/>
              <a:pPr/>
              <a:t>‹#›</a:t>
            </a:fld>
            <a:endParaRPr lang="en-US" altLang="zh-TW"/>
          </a:p>
        </p:txBody>
      </p:sp>
    </p:spTree>
    <p:extLst>
      <p:ext uri="{BB962C8B-B14F-4D97-AF65-F5344CB8AC3E}">
        <p14:creationId xmlns:p14="http://schemas.microsoft.com/office/powerpoint/2010/main" val="248365899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2" name="Rectangle 4">
            <a:extLst>
              <a:ext uri="{FF2B5EF4-FFF2-40B4-BE49-F238E27FC236}">
                <a16:creationId xmlns:a16="http://schemas.microsoft.com/office/drawing/2014/main" id="{7EF876ED-DBE0-1651-6EE0-11441D62397C}"/>
              </a:ext>
            </a:extLst>
          </p:cNvPr>
          <p:cNvSpPr>
            <a:spLocks noGrp="1" noChangeArrowheads="1"/>
          </p:cNvSpPr>
          <p:nvPr>
            <p:ph type="body" idx="1"/>
          </p:nvPr>
        </p:nvSpPr>
        <p:spPr bwMode="auto">
          <a:xfrm>
            <a:off x="609600" y="1371600"/>
            <a:ext cx="8221663"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按一下以編輯母片本文樣式</a:t>
            </a:r>
          </a:p>
          <a:p>
            <a:pPr lvl="1"/>
            <a:r>
              <a:rPr lang="zh-TW" altLang="en-US"/>
              <a:t>第二層</a:t>
            </a:r>
            <a:endParaRPr lang="zh-TW" altLang="zh-TW"/>
          </a:p>
          <a:p>
            <a:pPr lvl="2"/>
            <a:r>
              <a:rPr lang="zh-TW" altLang="en-US"/>
              <a:t>第三層</a:t>
            </a:r>
          </a:p>
          <a:p>
            <a:pPr lvl="3"/>
            <a:r>
              <a:rPr lang="zh-TW" altLang="en-US"/>
              <a:t>第四層</a:t>
            </a:r>
          </a:p>
          <a:p>
            <a:pPr lvl="4"/>
            <a:r>
              <a:rPr lang="zh-TW" altLang="en-US"/>
              <a:t>第五層</a:t>
            </a:r>
            <a:endParaRPr lang="zh-TW" altLang="zh-TW"/>
          </a:p>
        </p:txBody>
      </p:sp>
      <p:sp>
        <p:nvSpPr>
          <p:cNvPr id="252931" name="Rectangle 3">
            <a:extLst>
              <a:ext uri="{FF2B5EF4-FFF2-40B4-BE49-F238E27FC236}">
                <a16:creationId xmlns:a16="http://schemas.microsoft.com/office/drawing/2014/main" id="{E8877D9B-689E-C353-F477-9DA582BF42A3}"/>
              </a:ext>
            </a:extLst>
          </p:cNvPr>
          <p:cNvSpPr>
            <a:spLocks noGrp="1" noChangeArrowheads="1"/>
          </p:cNvSpPr>
          <p:nvPr>
            <p:ph type="title"/>
          </p:nvPr>
        </p:nvSpPr>
        <p:spPr bwMode="auto">
          <a:xfrm>
            <a:off x="533400" y="228600"/>
            <a:ext cx="7543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TW" altLang="zh-TW"/>
          </a:p>
        </p:txBody>
      </p:sp>
      <p:sp>
        <p:nvSpPr>
          <p:cNvPr id="252975" name="Text Box 47">
            <a:extLst>
              <a:ext uri="{FF2B5EF4-FFF2-40B4-BE49-F238E27FC236}">
                <a16:creationId xmlns:a16="http://schemas.microsoft.com/office/drawing/2014/main" id="{6C8D524D-75B6-4B58-6724-B2DFE4B22F93}"/>
              </a:ext>
            </a:extLst>
          </p:cNvPr>
          <p:cNvSpPr txBox="1">
            <a:spLocks noChangeArrowheads="1"/>
          </p:cNvSpPr>
          <p:nvPr/>
        </p:nvSpPr>
        <p:spPr bwMode="auto">
          <a:xfrm>
            <a:off x="4038600" y="6629400"/>
            <a:ext cx="281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TW" sz="1200" b="1">
                <a:solidFill>
                  <a:srgbClr val="FF9900"/>
                </a:solidFill>
                <a:latin typeface="Lucida Handwriting" panose="03010101010101010101" pitchFamily="66" charset="0"/>
                <a:cs typeface="Arial" panose="020B0604020202020204" pitchFamily="34" charset="0"/>
              </a:rPr>
              <a:t>Your Best SOC Design Foundry</a:t>
            </a:r>
            <a:endParaRPr lang="en-US" altLang="zh-TW" sz="1200" b="1">
              <a:solidFill>
                <a:srgbClr val="FF9900"/>
              </a:solidFill>
              <a:latin typeface="Lucida Handwriting" panose="03010101010101010101" pitchFamily="66" charset="0"/>
            </a:endParaRPr>
          </a:p>
        </p:txBody>
      </p:sp>
      <p:sp>
        <p:nvSpPr>
          <p:cNvPr id="252976" name="Rectangle 48">
            <a:extLst>
              <a:ext uri="{FF2B5EF4-FFF2-40B4-BE49-F238E27FC236}">
                <a16:creationId xmlns:a16="http://schemas.microsoft.com/office/drawing/2014/main" id="{A9B7072A-FC99-1957-F0DA-E1852E569646}"/>
              </a:ext>
            </a:extLst>
          </p:cNvPr>
          <p:cNvSpPr>
            <a:spLocks noChangeArrowheads="1"/>
          </p:cNvSpPr>
          <p:nvPr/>
        </p:nvSpPr>
        <p:spPr bwMode="auto">
          <a:xfrm>
            <a:off x="488950" y="6629400"/>
            <a:ext cx="40830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TW" sz="1200" b="1">
                <a:latin typeface="Arial" panose="020B0604020202020204" pitchFamily="34" charset="0"/>
                <a:ea typeface="標楷體" pitchFamily="65" charset="-120"/>
              </a:rPr>
              <a:t>Global Uni</a:t>
            </a:r>
            <a:r>
              <a:rPr lang="en-US" altLang="ja-JP" sz="1200" b="1">
                <a:latin typeface="Arial" panose="020B0604020202020204" pitchFamily="34" charset="0"/>
                <a:ea typeface="標楷體" pitchFamily="65" charset="-120"/>
              </a:rPr>
              <a:t>c</a:t>
            </a:r>
            <a:r>
              <a:rPr lang="en-US" altLang="zh-TW" sz="1200" b="1">
                <a:latin typeface="Arial" panose="020B0604020202020204" pitchFamily="34" charset="0"/>
                <a:ea typeface="標楷體" pitchFamily="65" charset="-120"/>
              </a:rPr>
              <a:t>hip </a:t>
            </a:r>
            <a:r>
              <a:rPr lang="en-US" altLang="ja-JP" sz="1200" b="1">
                <a:latin typeface="Arial" panose="020B0604020202020204" pitchFamily="34" charset="0"/>
                <a:ea typeface="標楷體" pitchFamily="65" charset="-120"/>
              </a:rPr>
              <a:t>Corp. </a:t>
            </a:r>
            <a:r>
              <a:rPr lang="en-US" altLang="zh-TW" sz="1200" b="1">
                <a:latin typeface="Arial" panose="020B0604020202020204" pitchFamily="34" charset="0"/>
                <a:ea typeface="標楷體" pitchFamily="65" charset="-120"/>
              </a:rPr>
              <a:t>Confidential &amp;</a:t>
            </a:r>
            <a:r>
              <a:rPr lang="en-US" altLang="zh-TW" sz="1200" b="1">
                <a:latin typeface="Arial" panose="020B0604020202020204" pitchFamily="34" charset="0"/>
              </a:rPr>
              <a:t> </a:t>
            </a:r>
            <a:r>
              <a:rPr lang="en-US" altLang="zh-TW" sz="1200" b="1">
                <a:latin typeface="Arial" panose="020B0604020202020204" pitchFamily="34" charset="0"/>
                <a:ea typeface="標楷體" pitchFamily="65" charset="-120"/>
              </a:rPr>
              <a:t>Proprietary </a:t>
            </a:r>
            <a:r>
              <a:rPr lang="en-US" altLang="zh-TW" sz="1200" b="1">
                <a:latin typeface="Arial" panose="020B0604020202020204" pitchFamily="34" charset="0"/>
              </a:rPr>
              <a:t> </a:t>
            </a:r>
          </a:p>
        </p:txBody>
      </p:sp>
      <p:sp>
        <p:nvSpPr>
          <p:cNvPr id="252979" name="Rectangle 51">
            <a:extLst>
              <a:ext uri="{FF2B5EF4-FFF2-40B4-BE49-F238E27FC236}">
                <a16:creationId xmlns:a16="http://schemas.microsoft.com/office/drawing/2014/main" id="{6CAD3549-335A-AF7D-CED1-59AD558ED119}"/>
              </a:ext>
            </a:extLst>
          </p:cNvPr>
          <p:cNvSpPr>
            <a:spLocks noChangeArrowheads="1"/>
          </p:cNvSpPr>
          <p:nvPr/>
        </p:nvSpPr>
        <p:spPr bwMode="auto">
          <a:xfrm>
            <a:off x="6934200" y="6629400"/>
            <a:ext cx="2895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TW" sz="1200" b="1">
                <a:latin typeface="Arial" panose="020B0604020202020204" pitchFamily="34" charset="0"/>
                <a:ea typeface="標楷體" pitchFamily="65" charset="-120"/>
              </a:rPr>
              <a:t>Copyright ©  2007</a:t>
            </a:r>
            <a:r>
              <a:rPr lang="en-US" altLang="zh-TW" sz="1200" b="1">
                <a:latin typeface="Arial" panose="020B0604020202020204" pitchFamily="34" charset="0"/>
              </a:rPr>
              <a:t> </a:t>
            </a:r>
            <a:r>
              <a:rPr lang="en-US" altLang="zh-TW" sz="1200" b="1">
                <a:latin typeface="Arial" panose="020B0604020202020204" pitchFamily="34" charset="0"/>
                <a:ea typeface="標楷體" pitchFamily="65" charset="-120"/>
              </a:rPr>
              <a:t>All rights reserved</a:t>
            </a:r>
            <a:r>
              <a:rPr lang="en-US" altLang="zh-TW" sz="1200" b="1">
                <a:latin typeface="Arial" panose="020B0604020202020204" pitchFamily="34" charset="0"/>
              </a:rPr>
              <a:t> </a:t>
            </a:r>
          </a:p>
        </p:txBody>
      </p:sp>
      <p:sp>
        <p:nvSpPr>
          <p:cNvPr id="252982" name="Line 54">
            <a:extLst>
              <a:ext uri="{FF2B5EF4-FFF2-40B4-BE49-F238E27FC236}">
                <a16:creationId xmlns:a16="http://schemas.microsoft.com/office/drawing/2014/main" id="{5C71B50D-EFED-497F-9280-14C23477B6F1}"/>
              </a:ext>
            </a:extLst>
          </p:cNvPr>
          <p:cNvSpPr>
            <a:spLocks noChangeShapeType="1"/>
          </p:cNvSpPr>
          <p:nvPr/>
        </p:nvSpPr>
        <p:spPr bwMode="auto">
          <a:xfrm>
            <a:off x="990600" y="6629400"/>
            <a:ext cx="8763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52989" name="Rectangle 61">
            <a:extLst>
              <a:ext uri="{FF2B5EF4-FFF2-40B4-BE49-F238E27FC236}">
                <a16:creationId xmlns:a16="http://schemas.microsoft.com/office/drawing/2014/main" id="{42B227BF-07A8-8D2F-AC3A-AFD5CE315AD2}"/>
              </a:ext>
            </a:extLst>
          </p:cNvPr>
          <p:cNvSpPr>
            <a:spLocks noGrp="1" noChangeArrowheads="1"/>
          </p:cNvSpPr>
          <p:nvPr>
            <p:ph type="sldNum" sz="quarter" idx="4"/>
          </p:nvPr>
        </p:nvSpPr>
        <p:spPr bwMode="auto">
          <a:xfrm>
            <a:off x="77724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9DB6F07F-A1BF-124E-AC70-286178B9EA1E}" type="slidenum">
              <a:rPr lang="en-US" altLang="zh-TW"/>
              <a:pPr/>
              <a:t>‹#›</a:t>
            </a:fld>
            <a:endParaRPr lang="en-US" altLang="zh-TW"/>
          </a:p>
        </p:txBody>
      </p:sp>
      <p:pic>
        <p:nvPicPr>
          <p:cNvPr id="252993" name="Picture 65">
            <a:extLst>
              <a:ext uri="{FF2B5EF4-FFF2-40B4-BE49-F238E27FC236}">
                <a16:creationId xmlns:a16="http://schemas.microsoft.com/office/drawing/2014/main" id="{E59503C6-B333-AE8E-2A51-A6DF08CC95E2}"/>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5805488"/>
            <a:ext cx="2163763" cy="838200"/>
          </a:xfrm>
          <a:prstGeom prst="rect">
            <a:avLst/>
          </a:prstGeom>
          <a:noFill/>
          <a:extLst>
            <a:ext uri="{909E8E84-426E-40DD-AFC4-6F175D3DCCD1}">
              <a14:hiddenFill xmlns:a14="http://schemas.microsoft.com/office/drawing/2010/main">
                <a:solidFill>
                  <a:srgbClr val="FFFFFF"/>
                </a:solidFill>
              </a14:hiddenFill>
            </a:ext>
          </a:extLst>
        </p:spPr>
      </p:pic>
      <p:sp>
        <p:nvSpPr>
          <p:cNvPr id="253004" name="Rectangle 76">
            <a:extLst>
              <a:ext uri="{FF2B5EF4-FFF2-40B4-BE49-F238E27FC236}">
                <a16:creationId xmlns:a16="http://schemas.microsoft.com/office/drawing/2014/main" id="{48C96DC8-648D-32C5-CBF8-E7BB46D45F0F}"/>
              </a:ext>
            </a:extLst>
          </p:cNvPr>
          <p:cNvSpPr>
            <a:spLocks noChangeArrowheads="1"/>
          </p:cNvSpPr>
          <p:nvPr userDrawn="1"/>
        </p:nvSpPr>
        <p:spPr bwMode="auto">
          <a:xfrm>
            <a:off x="533400" y="990600"/>
            <a:ext cx="9067800" cy="76200"/>
          </a:xfrm>
          <a:prstGeom prst="rect">
            <a:avLst/>
          </a:prstGeom>
          <a:gradFill rotWithShape="0">
            <a:gsLst>
              <a:gs pos="0">
                <a:srgbClr val="4EA844"/>
              </a:gs>
              <a:gs pos="100000">
                <a:srgbClr val="D2E69E"/>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74" r:id="rId12"/>
  </p:sldLayoutIdLst>
  <p:transition/>
  <p:hf hdr="0" ftr="0" dt="0"/>
  <p:txStyles>
    <p:titleStyle>
      <a:lvl1pPr algn="l" rtl="0" fontAlgn="base">
        <a:lnSpc>
          <a:spcPct val="120000"/>
        </a:lnSpc>
        <a:spcBef>
          <a:spcPct val="0"/>
        </a:spcBef>
        <a:spcAft>
          <a:spcPct val="0"/>
        </a:spcAft>
        <a:defRPr kumimoji="1" sz="3200" b="1" kern="1200">
          <a:solidFill>
            <a:srgbClr val="006600"/>
          </a:solidFill>
          <a:latin typeface="+mj-lt"/>
          <a:ea typeface="+mj-ea"/>
          <a:cs typeface="+mj-cs"/>
        </a:defRPr>
      </a:lvl1pPr>
      <a:lvl2pPr algn="l" rtl="0" fontAlgn="base">
        <a:lnSpc>
          <a:spcPct val="120000"/>
        </a:lnSpc>
        <a:spcBef>
          <a:spcPct val="0"/>
        </a:spcBef>
        <a:spcAft>
          <a:spcPct val="0"/>
        </a:spcAft>
        <a:defRPr kumimoji="1" sz="3200" b="1">
          <a:solidFill>
            <a:srgbClr val="006600"/>
          </a:solidFill>
          <a:latin typeface="Arial Black" panose="020B0604020202020204" pitchFamily="34" charset="0"/>
          <a:ea typeface="標楷體" pitchFamily="65" charset="-120"/>
        </a:defRPr>
      </a:lvl2pPr>
      <a:lvl3pPr algn="l" rtl="0" fontAlgn="base">
        <a:lnSpc>
          <a:spcPct val="120000"/>
        </a:lnSpc>
        <a:spcBef>
          <a:spcPct val="0"/>
        </a:spcBef>
        <a:spcAft>
          <a:spcPct val="0"/>
        </a:spcAft>
        <a:defRPr kumimoji="1" sz="3200" b="1">
          <a:solidFill>
            <a:srgbClr val="006600"/>
          </a:solidFill>
          <a:latin typeface="Arial Black" panose="020B0604020202020204" pitchFamily="34" charset="0"/>
          <a:ea typeface="標楷體" pitchFamily="65" charset="-120"/>
        </a:defRPr>
      </a:lvl3pPr>
      <a:lvl4pPr algn="l" rtl="0" fontAlgn="base">
        <a:lnSpc>
          <a:spcPct val="120000"/>
        </a:lnSpc>
        <a:spcBef>
          <a:spcPct val="0"/>
        </a:spcBef>
        <a:spcAft>
          <a:spcPct val="0"/>
        </a:spcAft>
        <a:defRPr kumimoji="1" sz="3200" b="1">
          <a:solidFill>
            <a:srgbClr val="006600"/>
          </a:solidFill>
          <a:latin typeface="Arial Black" panose="020B0604020202020204" pitchFamily="34" charset="0"/>
          <a:ea typeface="標楷體" pitchFamily="65" charset="-120"/>
        </a:defRPr>
      </a:lvl4pPr>
      <a:lvl5pPr algn="l" rtl="0" fontAlgn="base">
        <a:lnSpc>
          <a:spcPct val="120000"/>
        </a:lnSpc>
        <a:spcBef>
          <a:spcPct val="0"/>
        </a:spcBef>
        <a:spcAft>
          <a:spcPct val="0"/>
        </a:spcAft>
        <a:defRPr kumimoji="1" sz="3200" b="1">
          <a:solidFill>
            <a:srgbClr val="006600"/>
          </a:solidFill>
          <a:latin typeface="Arial Black" panose="020B0604020202020204" pitchFamily="34" charset="0"/>
          <a:ea typeface="標楷體" pitchFamily="65" charset="-120"/>
        </a:defRPr>
      </a:lvl5pPr>
      <a:lvl6pPr marL="457200" algn="l" rtl="0" fontAlgn="base">
        <a:lnSpc>
          <a:spcPct val="120000"/>
        </a:lnSpc>
        <a:spcBef>
          <a:spcPct val="0"/>
        </a:spcBef>
        <a:spcAft>
          <a:spcPct val="0"/>
        </a:spcAft>
        <a:defRPr kumimoji="1" sz="3200" b="1">
          <a:solidFill>
            <a:srgbClr val="006600"/>
          </a:solidFill>
          <a:latin typeface="Arial Black" panose="020B0604020202020204" pitchFamily="34" charset="0"/>
          <a:ea typeface="標楷體" pitchFamily="65" charset="-120"/>
        </a:defRPr>
      </a:lvl6pPr>
      <a:lvl7pPr marL="914400" algn="l" rtl="0" fontAlgn="base">
        <a:lnSpc>
          <a:spcPct val="120000"/>
        </a:lnSpc>
        <a:spcBef>
          <a:spcPct val="0"/>
        </a:spcBef>
        <a:spcAft>
          <a:spcPct val="0"/>
        </a:spcAft>
        <a:defRPr kumimoji="1" sz="3200" b="1">
          <a:solidFill>
            <a:srgbClr val="006600"/>
          </a:solidFill>
          <a:latin typeface="Arial Black" panose="020B0604020202020204" pitchFamily="34" charset="0"/>
          <a:ea typeface="標楷體" pitchFamily="65" charset="-120"/>
        </a:defRPr>
      </a:lvl7pPr>
      <a:lvl8pPr marL="1371600" algn="l" rtl="0" fontAlgn="base">
        <a:lnSpc>
          <a:spcPct val="120000"/>
        </a:lnSpc>
        <a:spcBef>
          <a:spcPct val="0"/>
        </a:spcBef>
        <a:spcAft>
          <a:spcPct val="0"/>
        </a:spcAft>
        <a:defRPr kumimoji="1" sz="3200" b="1">
          <a:solidFill>
            <a:srgbClr val="006600"/>
          </a:solidFill>
          <a:latin typeface="Arial Black" panose="020B0604020202020204" pitchFamily="34" charset="0"/>
          <a:ea typeface="標楷體" pitchFamily="65" charset="-120"/>
        </a:defRPr>
      </a:lvl8pPr>
      <a:lvl9pPr marL="1828800" algn="l" rtl="0" fontAlgn="base">
        <a:lnSpc>
          <a:spcPct val="120000"/>
        </a:lnSpc>
        <a:spcBef>
          <a:spcPct val="0"/>
        </a:spcBef>
        <a:spcAft>
          <a:spcPct val="0"/>
        </a:spcAft>
        <a:defRPr kumimoji="1" sz="3200" b="1">
          <a:solidFill>
            <a:srgbClr val="006600"/>
          </a:solidFill>
          <a:latin typeface="Arial Black" panose="020B0604020202020204" pitchFamily="34" charset="0"/>
          <a:ea typeface="標楷體" pitchFamily="65" charset="-120"/>
        </a:defRPr>
      </a:lvl9pPr>
    </p:titleStyle>
    <p:bodyStyle>
      <a:lvl1pPr marL="342900" indent="-342900" algn="l" rtl="0" fontAlgn="base">
        <a:lnSpc>
          <a:spcPct val="120000"/>
        </a:lnSpc>
        <a:spcBef>
          <a:spcPct val="50000"/>
        </a:spcBef>
        <a:spcAft>
          <a:spcPct val="0"/>
        </a:spcAft>
        <a:buSzPct val="60000"/>
        <a:buFont typeface="Wingdings" pitchFamily="2" charset="2"/>
        <a:buChar char="l"/>
        <a:defRPr kumimoji="1" sz="2400" b="1" kern="1200">
          <a:solidFill>
            <a:schemeClr val="tx1"/>
          </a:solidFill>
          <a:latin typeface="+mn-lt"/>
          <a:ea typeface="+mn-ea"/>
          <a:cs typeface="+mn-cs"/>
        </a:defRPr>
      </a:lvl1pPr>
      <a:lvl2pPr marL="742950" indent="-285750" algn="l" rtl="0" fontAlgn="base">
        <a:lnSpc>
          <a:spcPct val="120000"/>
        </a:lnSpc>
        <a:spcBef>
          <a:spcPct val="50000"/>
        </a:spcBef>
        <a:spcAft>
          <a:spcPct val="0"/>
        </a:spcAft>
        <a:buChar char="–"/>
        <a:defRPr kumimoji="1" sz="2000" b="1" kern="1200">
          <a:solidFill>
            <a:schemeClr val="tx1"/>
          </a:solidFill>
          <a:latin typeface="+mn-lt"/>
          <a:ea typeface="+mn-ea"/>
          <a:cs typeface="+mn-cs"/>
        </a:defRPr>
      </a:lvl2pPr>
      <a:lvl3pPr marL="1143000" indent="-228600" algn="l" rtl="0" fontAlgn="base">
        <a:lnSpc>
          <a:spcPct val="120000"/>
        </a:lnSpc>
        <a:spcBef>
          <a:spcPct val="50000"/>
        </a:spcBef>
        <a:spcAft>
          <a:spcPct val="0"/>
        </a:spcAft>
        <a:buChar char="•"/>
        <a:defRPr kumimoji="1" sz="2000" kern="1200">
          <a:solidFill>
            <a:schemeClr val="tx1"/>
          </a:solidFill>
          <a:latin typeface="+mn-lt"/>
          <a:ea typeface="+mn-ea"/>
          <a:cs typeface="+mn-cs"/>
        </a:defRPr>
      </a:lvl3pPr>
      <a:lvl4pPr marL="1600200" indent="-228600" algn="l" rtl="0" fontAlgn="base">
        <a:lnSpc>
          <a:spcPct val="120000"/>
        </a:lnSpc>
        <a:spcBef>
          <a:spcPct val="50000"/>
        </a:spcBef>
        <a:spcAft>
          <a:spcPct val="0"/>
        </a:spcAft>
        <a:buChar char="–"/>
        <a:defRPr kumimoji="1" sz="2000" kern="1200">
          <a:solidFill>
            <a:schemeClr val="tx1"/>
          </a:solidFill>
          <a:latin typeface="+mn-lt"/>
          <a:ea typeface="+mn-ea"/>
          <a:cs typeface="+mn-cs"/>
        </a:defRPr>
      </a:lvl4pPr>
      <a:lvl5pPr marL="2057400" indent="-228600" algn="l" rtl="0" fontAlgn="base">
        <a:lnSpc>
          <a:spcPct val="120000"/>
        </a:lnSpc>
        <a:spcBef>
          <a:spcPct val="5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42" name="WordArt 2">
            <a:extLst>
              <a:ext uri="{FF2B5EF4-FFF2-40B4-BE49-F238E27FC236}">
                <a16:creationId xmlns:a16="http://schemas.microsoft.com/office/drawing/2014/main" id="{B8194F00-4CB7-F63E-4414-D7B8CAEEA38D}"/>
              </a:ext>
            </a:extLst>
          </p:cNvPr>
          <p:cNvSpPr>
            <a:spLocks noChangeArrowheads="1" noChangeShapeType="1" noTextEdit="1"/>
          </p:cNvSpPr>
          <p:nvPr userDrawn="1"/>
        </p:nvSpPr>
        <p:spPr bwMode="auto">
          <a:xfrm rot="-1807154">
            <a:off x="2425700" y="3733800"/>
            <a:ext cx="7480300" cy="11430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r>
              <a:rPr lang="en" altLang="zh-TW" sz="3600" b="1" kern="10">
                <a:ln w="9525">
                  <a:solidFill>
                    <a:schemeClr val="folHlink"/>
                  </a:solidFill>
                  <a:round/>
                  <a:headEnd/>
                  <a:tailEnd/>
                </a:ln>
                <a:solidFill>
                  <a:srgbClr val="FFFFFF"/>
                </a:solidFill>
                <a:latin typeface="Impact" panose="020B0806030902050204" pitchFamily="34" charset="0"/>
              </a:rPr>
              <a:t>For GUC Internal Use</a:t>
            </a:r>
            <a:endParaRPr lang="zh-TW" altLang="en-US" sz="3600" b="1" kern="10">
              <a:ln w="9525">
                <a:solidFill>
                  <a:schemeClr val="folHlink"/>
                </a:solidFill>
                <a:round/>
                <a:headEnd/>
                <a:tailEnd/>
              </a:ln>
              <a:solidFill>
                <a:srgbClr val="FFFFFF"/>
              </a:solidFill>
              <a:latin typeface="Impact" panose="020B0806030902050204" pitchFamily="34" charset="0"/>
            </a:endParaRPr>
          </a:p>
        </p:txBody>
      </p:sp>
      <p:sp>
        <p:nvSpPr>
          <p:cNvPr id="931843" name="Rectangle 3">
            <a:extLst>
              <a:ext uri="{FF2B5EF4-FFF2-40B4-BE49-F238E27FC236}">
                <a16:creationId xmlns:a16="http://schemas.microsoft.com/office/drawing/2014/main" id="{477A7FE2-6A99-9D7E-D6B0-D8E535E6A9C9}"/>
              </a:ext>
            </a:extLst>
          </p:cNvPr>
          <p:cNvSpPr>
            <a:spLocks noGrp="1" noChangeArrowheads="1"/>
          </p:cNvSpPr>
          <p:nvPr>
            <p:ph type="body" idx="1"/>
          </p:nvPr>
        </p:nvSpPr>
        <p:spPr bwMode="auto">
          <a:xfrm>
            <a:off x="609600" y="1219200"/>
            <a:ext cx="8221663"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TW"/>
              <a:t>Text - Arial 28 Bold Left Aligned</a:t>
            </a:r>
          </a:p>
          <a:p>
            <a:pPr lvl="1"/>
            <a:r>
              <a:rPr lang="en-US" altLang="zh-TW"/>
              <a:t>Text - Arial 24 Bold Left Aligned</a:t>
            </a:r>
          </a:p>
          <a:p>
            <a:pPr lvl="2"/>
            <a:r>
              <a:rPr lang="en-US" altLang="zh-TW"/>
              <a:t>Text - Arial 20 Bold Left Aligned</a:t>
            </a:r>
          </a:p>
          <a:p>
            <a:pPr lvl="2"/>
            <a:r>
              <a:rPr lang="en-US" altLang="zh-TW"/>
              <a:t>Text - Arial 20 Bold Left Aligned</a:t>
            </a:r>
          </a:p>
          <a:p>
            <a:pPr lvl="0"/>
            <a:r>
              <a:rPr lang="en-US" altLang="zh-TW"/>
              <a:t>Text - Arial 28 Bold Left Aligned</a:t>
            </a:r>
          </a:p>
          <a:p>
            <a:pPr lvl="1"/>
            <a:r>
              <a:rPr lang="en-US" altLang="zh-TW"/>
              <a:t>Text - Arial 24 Bold Left Aligned</a:t>
            </a:r>
          </a:p>
          <a:p>
            <a:pPr lvl="1"/>
            <a:r>
              <a:rPr lang="en-US" altLang="zh-TW"/>
              <a:t>Text - Arial 24 Bold Left Aligned</a:t>
            </a:r>
          </a:p>
        </p:txBody>
      </p:sp>
      <p:sp>
        <p:nvSpPr>
          <p:cNvPr id="931844" name="Text Box 4">
            <a:extLst>
              <a:ext uri="{FF2B5EF4-FFF2-40B4-BE49-F238E27FC236}">
                <a16:creationId xmlns:a16="http://schemas.microsoft.com/office/drawing/2014/main" id="{9D866EE1-65BE-BFE3-C846-7F68DC473B29}"/>
              </a:ext>
            </a:extLst>
          </p:cNvPr>
          <p:cNvSpPr txBox="1">
            <a:spLocks noChangeArrowheads="1"/>
          </p:cNvSpPr>
          <p:nvPr/>
        </p:nvSpPr>
        <p:spPr bwMode="auto">
          <a:xfrm>
            <a:off x="4038600" y="6629400"/>
            <a:ext cx="281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TW" sz="1200" b="1">
                <a:solidFill>
                  <a:srgbClr val="FF9900"/>
                </a:solidFill>
                <a:latin typeface="Lucida Handwriting" panose="03010101010101010101" pitchFamily="66" charset="0"/>
                <a:cs typeface="Arial" panose="020B0604020202020204" pitchFamily="34" charset="0"/>
              </a:rPr>
              <a:t>Your Best SOC Design Foundry</a:t>
            </a:r>
            <a:endParaRPr lang="en-US" altLang="zh-TW" sz="1200" b="1">
              <a:solidFill>
                <a:srgbClr val="FF9900"/>
              </a:solidFill>
              <a:latin typeface="Lucida Handwriting" panose="03010101010101010101" pitchFamily="66" charset="0"/>
            </a:endParaRPr>
          </a:p>
        </p:txBody>
      </p:sp>
      <p:sp>
        <p:nvSpPr>
          <p:cNvPr id="931845" name="Rectangle 5">
            <a:extLst>
              <a:ext uri="{FF2B5EF4-FFF2-40B4-BE49-F238E27FC236}">
                <a16:creationId xmlns:a16="http://schemas.microsoft.com/office/drawing/2014/main" id="{FC7DB80C-9A60-2093-D866-736D2692BD48}"/>
              </a:ext>
            </a:extLst>
          </p:cNvPr>
          <p:cNvSpPr>
            <a:spLocks noChangeArrowheads="1"/>
          </p:cNvSpPr>
          <p:nvPr/>
        </p:nvSpPr>
        <p:spPr bwMode="auto">
          <a:xfrm>
            <a:off x="6934200" y="6629400"/>
            <a:ext cx="2895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TW" b="1">
                <a:latin typeface="Arial" panose="020B0604020202020204" pitchFamily="34" charset="0"/>
                <a:ea typeface="標楷體" pitchFamily="65" charset="-120"/>
              </a:rPr>
              <a:t>Copyright ©  2006</a:t>
            </a:r>
            <a:r>
              <a:rPr lang="en-US" altLang="zh-TW" b="1">
                <a:latin typeface="Arial" panose="020B0604020202020204" pitchFamily="34" charset="0"/>
              </a:rPr>
              <a:t> </a:t>
            </a:r>
            <a:r>
              <a:rPr lang="en-US" altLang="zh-TW" b="1">
                <a:latin typeface="Arial" panose="020B0604020202020204" pitchFamily="34" charset="0"/>
                <a:ea typeface="標楷體" pitchFamily="65" charset="-120"/>
              </a:rPr>
              <a:t>All rights reserved</a:t>
            </a:r>
            <a:r>
              <a:rPr lang="en-US" altLang="zh-TW" sz="1200" b="1">
                <a:latin typeface="Arial" panose="020B0604020202020204" pitchFamily="34" charset="0"/>
              </a:rPr>
              <a:t> </a:t>
            </a:r>
          </a:p>
        </p:txBody>
      </p:sp>
      <p:sp>
        <p:nvSpPr>
          <p:cNvPr id="931846" name="Rectangle 6">
            <a:extLst>
              <a:ext uri="{FF2B5EF4-FFF2-40B4-BE49-F238E27FC236}">
                <a16:creationId xmlns:a16="http://schemas.microsoft.com/office/drawing/2014/main" id="{EF3C23CA-B549-823D-BE23-A74F40135696}"/>
              </a:ext>
            </a:extLst>
          </p:cNvPr>
          <p:cNvSpPr>
            <a:spLocks noChangeArrowheads="1"/>
          </p:cNvSpPr>
          <p:nvPr/>
        </p:nvSpPr>
        <p:spPr bwMode="auto">
          <a:xfrm>
            <a:off x="533400" y="914400"/>
            <a:ext cx="9067800" cy="76200"/>
          </a:xfrm>
          <a:prstGeom prst="rect">
            <a:avLst/>
          </a:prstGeom>
          <a:gradFill rotWithShape="0">
            <a:gsLst>
              <a:gs pos="0">
                <a:srgbClr val="4EA844"/>
              </a:gs>
              <a:gs pos="100000">
                <a:srgbClr val="D2E69E"/>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31847" name="Rectangle 7">
            <a:extLst>
              <a:ext uri="{FF2B5EF4-FFF2-40B4-BE49-F238E27FC236}">
                <a16:creationId xmlns:a16="http://schemas.microsoft.com/office/drawing/2014/main" id="{EFB6AE9D-4073-DCE8-08FF-45772FD44010}"/>
              </a:ext>
            </a:extLst>
          </p:cNvPr>
          <p:cNvSpPr>
            <a:spLocks noGrp="1" noChangeArrowheads="1"/>
          </p:cNvSpPr>
          <p:nvPr>
            <p:ph type="sldNum" sz="quarter" idx="4"/>
          </p:nvPr>
        </p:nvSpPr>
        <p:spPr bwMode="auto">
          <a:xfrm>
            <a:off x="77724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904778B0-E161-BA44-9375-0CB4D663C031}" type="slidenum">
              <a:rPr lang="en-US" altLang="zh-TW"/>
              <a:pPr/>
              <a:t>‹#›</a:t>
            </a:fld>
            <a:endParaRPr lang="en-US" altLang="zh-TW"/>
          </a:p>
        </p:txBody>
      </p:sp>
      <p:sp>
        <p:nvSpPr>
          <p:cNvPr id="931848" name="Rectangle 8">
            <a:extLst>
              <a:ext uri="{FF2B5EF4-FFF2-40B4-BE49-F238E27FC236}">
                <a16:creationId xmlns:a16="http://schemas.microsoft.com/office/drawing/2014/main" id="{ED295F89-7273-D537-EBE4-1C4DF386C7D7}"/>
              </a:ext>
            </a:extLst>
          </p:cNvPr>
          <p:cNvSpPr>
            <a:spLocks noGrp="1" noChangeArrowheads="1"/>
          </p:cNvSpPr>
          <p:nvPr userDrawn="1">
            <p:ph type="title"/>
          </p:nvPr>
        </p:nvSpPr>
        <p:spPr bwMode="auto">
          <a:xfrm>
            <a:off x="457200" y="152400"/>
            <a:ext cx="7427913"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TW"/>
              <a:t>Title - Arial 32 Bold Left Aligned</a:t>
            </a:r>
          </a:p>
        </p:txBody>
      </p:sp>
      <p:sp>
        <p:nvSpPr>
          <p:cNvPr id="931849" name="Text Box 9">
            <a:extLst>
              <a:ext uri="{FF2B5EF4-FFF2-40B4-BE49-F238E27FC236}">
                <a16:creationId xmlns:a16="http://schemas.microsoft.com/office/drawing/2014/main" id="{414F8854-3733-112C-FB1A-581FDADBCAD6}"/>
              </a:ext>
            </a:extLst>
          </p:cNvPr>
          <p:cNvSpPr txBox="1">
            <a:spLocks noChangeArrowheads="1"/>
          </p:cNvSpPr>
          <p:nvPr/>
        </p:nvSpPr>
        <p:spPr bwMode="auto">
          <a:xfrm rot="5400000">
            <a:off x="-2002631" y="3098006"/>
            <a:ext cx="4300537" cy="304801"/>
          </a:xfrm>
          <a:prstGeom prst="rect">
            <a:avLst/>
          </a:prstGeom>
          <a:noFill/>
          <a:ln>
            <a:noFill/>
          </a:ln>
          <a:effectLst/>
          <a:extLst>
            <a:ext uri="{909E8E84-426E-40DD-AFC4-6F175D3DCCD1}">
              <a14:hiddenFill xmlns:a14="http://schemas.microsoft.com/office/drawing/2010/main">
                <a:gradFill rotWithShape="0">
                  <a:gsLst>
                    <a:gs pos="0">
                      <a:srgbClr val="4EA844"/>
                    </a:gs>
                    <a:gs pos="100000">
                      <a:srgbClr val="D2E69E"/>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TW" sz="1400">
                <a:solidFill>
                  <a:srgbClr val="808080"/>
                </a:solidFill>
                <a:latin typeface="Arial Black" panose="020B0604020202020204" pitchFamily="34" charset="0"/>
              </a:rPr>
              <a:t> GUC Data Exchange/DFD/Reed/06/28/2006</a:t>
            </a:r>
          </a:p>
        </p:txBody>
      </p:sp>
      <p:pic>
        <p:nvPicPr>
          <p:cNvPr id="931850" name="Picture 10">
            <a:extLst>
              <a:ext uri="{FF2B5EF4-FFF2-40B4-BE49-F238E27FC236}">
                <a16:creationId xmlns:a16="http://schemas.microsoft.com/office/drawing/2014/main" id="{C27FC8DC-A575-C262-0C94-211F758F9FB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5975350"/>
            <a:ext cx="2163763" cy="838200"/>
          </a:xfrm>
          <a:prstGeom prst="rect">
            <a:avLst/>
          </a:prstGeom>
          <a:noFill/>
          <a:extLst>
            <a:ext uri="{909E8E84-426E-40DD-AFC4-6F175D3DCCD1}">
              <a14:hiddenFill xmlns:a14="http://schemas.microsoft.com/office/drawing/2010/main">
                <a:solidFill>
                  <a:srgbClr val="FFFFFF"/>
                </a:solidFill>
              </a14:hiddenFill>
            </a:ext>
          </a:extLst>
        </p:spPr>
      </p:pic>
      <p:sp>
        <p:nvSpPr>
          <p:cNvPr id="931851" name="Rectangle 11">
            <a:extLst>
              <a:ext uri="{FF2B5EF4-FFF2-40B4-BE49-F238E27FC236}">
                <a16:creationId xmlns:a16="http://schemas.microsoft.com/office/drawing/2014/main" id="{FE380F4D-0336-4E55-AB75-ADF0B7FDF6D0}"/>
              </a:ext>
            </a:extLst>
          </p:cNvPr>
          <p:cNvSpPr>
            <a:spLocks noChangeArrowheads="1"/>
          </p:cNvSpPr>
          <p:nvPr/>
        </p:nvSpPr>
        <p:spPr bwMode="auto">
          <a:xfrm>
            <a:off x="762000" y="6629400"/>
            <a:ext cx="37338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TW" b="1">
                <a:latin typeface="Arial" panose="020B0604020202020204" pitchFamily="34" charset="0"/>
                <a:ea typeface="標楷體" pitchFamily="65" charset="-120"/>
              </a:rPr>
              <a:t>Global Unichip Corp. Confidential &amp;</a:t>
            </a:r>
            <a:r>
              <a:rPr lang="en-US" altLang="zh-TW" b="1">
                <a:latin typeface="Arial" panose="020B0604020202020204" pitchFamily="34" charset="0"/>
              </a:rPr>
              <a:t> </a:t>
            </a:r>
            <a:r>
              <a:rPr lang="en-US" altLang="zh-TW" b="1">
                <a:latin typeface="Arial" panose="020B0604020202020204" pitchFamily="34" charset="0"/>
                <a:ea typeface="標楷體" pitchFamily="65" charset="-120"/>
              </a:rPr>
              <a:t>Proprietary </a:t>
            </a:r>
            <a:r>
              <a:rPr lang="en-US" altLang="zh-TW" b="1">
                <a:latin typeface="Arial" panose="020B0604020202020204" pitchFamily="34" charset="0"/>
              </a:rPr>
              <a:t> </a:t>
            </a: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ransition/>
  <p:hf hdr="0" ftr="0" dt="0"/>
  <p:txStyles>
    <p:titleStyle>
      <a:lvl1pPr algn="l" rtl="0" fontAlgn="base">
        <a:lnSpc>
          <a:spcPct val="120000"/>
        </a:lnSpc>
        <a:spcBef>
          <a:spcPct val="0"/>
        </a:spcBef>
        <a:spcAft>
          <a:spcPct val="0"/>
        </a:spcAft>
        <a:defRPr kumimoji="1" sz="3200" b="1" kern="1200">
          <a:solidFill>
            <a:srgbClr val="006600"/>
          </a:solidFill>
          <a:latin typeface="+mj-lt"/>
          <a:ea typeface="+mj-ea"/>
          <a:cs typeface="+mj-cs"/>
        </a:defRPr>
      </a:lvl1pPr>
      <a:lvl2pPr algn="l" rtl="0" fontAlgn="base">
        <a:lnSpc>
          <a:spcPct val="120000"/>
        </a:lnSpc>
        <a:spcBef>
          <a:spcPct val="0"/>
        </a:spcBef>
        <a:spcAft>
          <a:spcPct val="0"/>
        </a:spcAft>
        <a:defRPr kumimoji="1" sz="3200" b="1">
          <a:solidFill>
            <a:srgbClr val="006600"/>
          </a:solidFill>
          <a:latin typeface="Arial Black" panose="020B0604020202020204" pitchFamily="34" charset="0"/>
          <a:ea typeface="新細明體" panose="02020500000000000000" pitchFamily="18" charset="-120"/>
        </a:defRPr>
      </a:lvl2pPr>
      <a:lvl3pPr algn="l" rtl="0" fontAlgn="base">
        <a:lnSpc>
          <a:spcPct val="120000"/>
        </a:lnSpc>
        <a:spcBef>
          <a:spcPct val="0"/>
        </a:spcBef>
        <a:spcAft>
          <a:spcPct val="0"/>
        </a:spcAft>
        <a:defRPr kumimoji="1" sz="3200" b="1">
          <a:solidFill>
            <a:srgbClr val="006600"/>
          </a:solidFill>
          <a:latin typeface="Arial Black" panose="020B0604020202020204" pitchFamily="34" charset="0"/>
          <a:ea typeface="新細明體" panose="02020500000000000000" pitchFamily="18" charset="-120"/>
        </a:defRPr>
      </a:lvl3pPr>
      <a:lvl4pPr algn="l" rtl="0" fontAlgn="base">
        <a:lnSpc>
          <a:spcPct val="120000"/>
        </a:lnSpc>
        <a:spcBef>
          <a:spcPct val="0"/>
        </a:spcBef>
        <a:spcAft>
          <a:spcPct val="0"/>
        </a:spcAft>
        <a:defRPr kumimoji="1" sz="3200" b="1">
          <a:solidFill>
            <a:srgbClr val="006600"/>
          </a:solidFill>
          <a:latin typeface="Arial Black" panose="020B0604020202020204" pitchFamily="34" charset="0"/>
          <a:ea typeface="新細明體" panose="02020500000000000000" pitchFamily="18" charset="-120"/>
        </a:defRPr>
      </a:lvl4pPr>
      <a:lvl5pPr algn="l" rtl="0" fontAlgn="base">
        <a:lnSpc>
          <a:spcPct val="120000"/>
        </a:lnSpc>
        <a:spcBef>
          <a:spcPct val="0"/>
        </a:spcBef>
        <a:spcAft>
          <a:spcPct val="0"/>
        </a:spcAft>
        <a:defRPr kumimoji="1" sz="3200" b="1">
          <a:solidFill>
            <a:srgbClr val="006600"/>
          </a:solidFill>
          <a:latin typeface="Arial Black" panose="020B0604020202020204" pitchFamily="34" charset="0"/>
          <a:ea typeface="新細明體" panose="02020500000000000000" pitchFamily="18" charset="-120"/>
        </a:defRPr>
      </a:lvl5pPr>
      <a:lvl6pPr marL="457200" algn="l" rtl="0" fontAlgn="base">
        <a:lnSpc>
          <a:spcPct val="120000"/>
        </a:lnSpc>
        <a:spcBef>
          <a:spcPct val="0"/>
        </a:spcBef>
        <a:spcAft>
          <a:spcPct val="0"/>
        </a:spcAft>
        <a:defRPr kumimoji="1" sz="3200" b="1">
          <a:solidFill>
            <a:srgbClr val="006600"/>
          </a:solidFill>
          <a:latin typeface="Arial Black" panose="020B0604020202020204" pitchFamily="34" charset="0"/>
          <a:ea typeface="新細明體" panose="02020500000000000000" pitchFamily="18" charset="-120"/>
        </a:defRPr>
      </a:lvl6pPr>
      <a:lvl7pPr marL="914400" algn="l" rtl="0" fontAlgn="base">
        <a:lnSpc>
          <a:spcPct val="120000"/>
        </a:lnSpc>
        <a:spcBef>
          <a:spcPct val="0"/>
        </a:spcBef>
        <a:spcAft>
          <a:spcPct val="0"/>
        </a:spcAft>
        <a:defRPr kumimoji="1" sz="3200" b="1">
          <a:solidFill>
            <a:srgbClr val="006600"/>
          </a:solidFill>
          <a:latin typeface="Arial Black" panose="020B0604020202020204" pitchFamily="34" charset="0"/>
          <a:ea typeface="新細明體" panose="02020500000000000000" pitchFamily="18" charset="-120"/>
        </a:defRPr>
      </a:lvl7pPr>
      <a:lvl8pPr marL="1371600" algn="l" rtl="0" fontAlgn="base">
        <a:lnSpc>
          <a:spcPct val="120000"/>
        </a:lnSpc>
        <a:spcBef>
          <a:spcPct val="0"/>
        </a:spcBef>
        <a:spcAft>
          <a:spcPct val="0"/>
        </a:spcAft>
        <a:defRPr kumimoji="1" sz="3200" b="1">
          <a:solidFill>
            <a:srgbClr val="006600"/>
          </a:solidFill>
          <a:latin typeface="Arial Black" panose="020B0604020202020204" pitchFamily="34" charset="0"/>
          <a:ea typeface="新細明體" panose="02020500000000000000" pitchFamily="18" charset="-120"/>
        </a:defRPr>
      </a:lvl8pPr>
      <a:lvl9pPr marL="1828800" algn="l" rtl="0" fontAlgn="base">
        <a:lnSpc>
          <a:spcPct val="120000"/>
        </a:lnSpc>
        <a:spcBef>
          <a:spcPct val="0"/>
        </a:spcBef>
        <a:spcAft>
          <a:spcPct val="0"/>
        </a:spcAft>
        <a:defRPr kumimoji="1" sz="3200" b="1">
          <a:solidFill>
            <a:srgbClr val="006600"/>
          </a:solidFill>
          <a:latin typeface="Arial Black" panose="020B0604020202020204" pitchFamily="34" charset="0"/>
          <a:ea typeface="新細明體" panose="02020500000000000000" pitchFamily="18" charset="-120"/>
        </a:defRPr>
      </a:lvl9pPr>
    </p:titleStyle>
    <p:bodyStyle>
      <a:lvl1pPr marL="342900" indent="-342900" algn="l" rtl="0" fontAlgn="base">
        <a:lnSpc>
          <a:spcPct val="120000"/>
        </a:lnSpc>
        <a:spcBef>
          <a:spcPct val="50000"/>
        </a:spcBef>
        <a:spcAft>
          <a:spcPct val="0"/>
        </a:spcAft>
        <a:buFont typeface="Wingdings" pitchFamily="2" charset="2"/>
        <a:buChar char="v"/>
        <a:defRPr kumimoji="1" sz="2000" b="1" kern="1200">
          <a:solidFill>
            <a:schemeClr val="tx1"/>
          </a:solidFill>
          <a:latin typeface="+mn-lt"/>
          <a:ea typeface="+mn-ea"/>
          <a:cs typeface="+mn-cs"/>
        </a:defRPr>
      </a:lvl1pPr>
      <a:lvl2pPr marL="742950" indent="-285750" algn="l" rtl="0" fontAlgn="base">
        <a:lnSpc>
          <a:spcPct val="120000"/>
        </a:lnSpc>
        <a:spcBef>
          <a:spcPct val="50000"/>
        </a:spcBef>
        <a:spcAft>
          <a:spcPct val="0"/>
        </a:spcAft>
        <a:buChar char="–"/>
        <a:defRPr kumimoji="1" sz="2000" b="1" kern="1200">
          <a:solidFill>
            <a:schemeClr val="tx1"/>
          </a:solidFill>
          <a:latin typeface="+mn-lt"/>
          <a:ea typeface="+mn-ea"/>
          <a:cs typeface="+mn-cs"/>
        </a:defRPr>
      </a:lvl2pPr>
      <a:lvl3pPr marL="1143000" indent="-228600" algn="l" rtl="0" fontAlgn="base">
        <a:lnSpc>
          <a:spcPct val="120000"/>
        </a:lnSpc>
        <a:spcBef>
          <a:spcPct val="50000"/>
        </a:spcBef>
        <a:spcAft>
          <a:spcPct val="0"/>
        </a:spcAft>
        <a:buChar char="•"/>
        <a:defRPr kumimoji="1" sz="2000" b="1" kern="1200">
          <a:solidFill>
            <a:schemeClr val="tx1"/>
          </a:solidFill>
          <a:latin typeface="+mn-lt"/>
          <a:ea typeface="+mn-ea"/>
          <a:cs typeface="+mn-cs"/>
        </a:defRPr>
      </a:lvl3pPr>
      <a:lvl4pPr marL="1600200" indent="-228600" algn="l" rtl="0" fontAlgn="base">
        <a:lnSpc>
          <a:spcPct val="120000"/>
        </a:lnSpc>
        <a:spcBef>
          <a:spcPct val="50000"/>
        </a:spcBef>
        <a:spcAft>
          <a:spcPct val="0"/>
        </a:spcAft>
        <a:buChar char="–"/>
        <a:defRPr kumimoji="1" sz="2000" kern="1200">
          <a:solidFill>
            <a:schemeClr val="tx1"/>
          </a:solidFill>
          <a:latin typeface="+mn-lt"/>
          <a:ea typeface="+mn-ea"/>
          <a:cs typeface="+mn-cs"/>
        </a:defRPr>
      </a:lvl4pPr>
      <a:lvl5pPr marL="2057400" indent="-228600" algn="l" rtl="0" fontAlgn="base">
        <a:lnSpc>
          <a:spcPct val="120000"/>
        </a:lnSpc>
        <a:spcBef>
          <a:spcPct val="5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 Target="slide5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slide" Target="slide5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2941" name="Rectangle 29">
            <a:extLst>
              <a:ext uri="{FF2B5EF4-FFF2-40B4-BE49-F238E27FC236}">
                <a16:creationId xmlns:a16="http://schemas.microsoft.com/office/drawing/2014/main" id="{F96CFE8B-A00D-1A5E-2206-66623B60316D}"/>
              </a:ext>
            </a:extLst>
          </p:cNvPr>
          <p:cNvSpPr>
            <a:spLocks noGrp="1" noChangeArrowheads="1"/>
          </p:cNvSpPr>
          <p:nvPr>
            <p:ph type="ctrTitle"/>
          </p:nvPr>
        </p:nvSpPr>
        <p:spPr>
          <a:xfrm>
            <a:off x="685800" y="1447800"/>
            <a:ext cx="8713788" cy="1470025"/>
          </a:xfrm>
          <a:extLst>
            <a:ext uri="{AF507438-7753-43E0-B8FC-AC1667EBCBE1}">
              <a14:hiddenEffects xmlns:a14="http://schemas.microsoft.com/office/drawing/2010/main">
                <a:effectLst>
                  <a:outerShdw dist="35921" dir="2700000" algn="ctr" rotWithShape="0">
                    <a:srgbClr val="5CB852">
                      <a:alpha val="50000"/>
                    </a:srgbClr>
                  </a:outerShdw>
                </a:effectLst>
              </a14:hiddenEffects>
            </a:ext>
          </a:extLst>
        </p:spPr>
        <p:txBody>
          <a:bodyPr anchor="ctr"/>
          <a:lstStyle/>
          <a:p>
            <a:r>
              <a:rPr lang="en-US" altLang="zh-TW" sz="3400"/>
              <a:t>GUC Design Handoff Package Introduction</a:t>
            </a:r>
          </a:p>
        </p:txBody>
      </p:sp>
      <p:sp>
        <p:nvSpPr>
          <p:cNvPr id="422974" name="Rectangle 62">
            <a:extLst>
              <a:ext uri="{FF2B5EF4-FFF2-40B4-BE49-F238E27FC236}">
                <a16:creationId xmlns:a16="http://schemas.microsoft.com/office/drawing/2014/main" id="{4F052560-4751-C969-0079-B425F9837314}"/>
              </a:ext>
            </a:extLst>
          </p:cNvPr>
          <p:cNvSpPr>
            <a:spLocks noChangeArrowheads="1"/>
          </p:cNvSpPr>
          <p:nvPr/>
        </p:nvSpPr>
        <p:spPr bwMode="auto">
          <a:xfrm>
            <a:off x="304800" y="3124200"/>
            <a:ext cx="9296400" cy="76200"/>
          </a:xfrm>
          <a:prstGeom prst="rect">
            <a:avLst/>
          </a:prstGeom>
          <a:gradFill rotWithShape="0">
            <a:gsLst>
              <a:gs pos="0">
                <a:srgbClr val="4EA844"/>
              </a:gs>
              <a:gs pos="100000">
                <a:srgbClr val="D2E69E"/>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22975" name="Text Box 63">
            <a:extLst>
              <a:ext uri="{FF2B5EF4-FFF2-40B4-BE49-F238E27FC236}">
                <a16:creationId xmlns:a16="http://schemas.microsoft.com/office/drawing/2014/main" id="{D4BA0344-C4F6-6123-89E0-46F4E6603274}"/>
              </a:ext>
            </a:extLst>
          </p:cNvPr>
          <p:cNvSpPr txBox="1">
            <a:spLocks noChangeArrowheads="1"/>
          </p:cNvSpPr>
          <p:nvPr/>
        </p:nvSpPr>
        <p:spPr bwMode="auto">
          <a:xfrm>
            <a:off x="1639888" y="3505200"/>
            <a:ext cx="6913562" cy="1552575"/>
          </a:xfrm>
          <a:prstGeom prst="rect">
            <a:avLst/>
          </a:prstGeom>
          <a:noFill/>
          <a:ln>
            <a:noFill/>
          </a:ln>
          <a:effectLst/>
          <a:extLst>
            <a:ext uri="{909E8E84-426E-40DD-AFC4-6F175D3DCCD1}">
              <a14:hiddenFill xmlns:a14="http://schemas.microsoft.com/office/drawing/2010/main">
                <a:gradFill rotWithShape="0">
                  <a:gsLst>
                    <a:gs pos="0">
                      <a:srgbClr val="4EA844"/>
                    </a:gs>
                    <a:gs pos="100000">
                      <a:srgbClr val="D2E69E"/>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TW" sz="2400">
                <a:solidFill>
                  <a:srgbClr val="006600"/>
                </a:solidFill>
                <a:latin typeface="Arial Black" panose="020B0604020202020204" pitchFamily="34" charset="0"/>
              </a:rPr>
              <a:t>Design Service Division, GUC</a:t>
            </a:r>
          </a:p>
          <a:p>
            <a:pPr>
              <a:spcBef>
                <a:spcPct val="50000"/>
              </a:spcBef>
            </a:pPr>
            <a:r>
              <a:rPr lang="en-US" altLang="zh-TW" sz="2400">
                <a:solidFill>
                  <a:srgbClr val="006600"/>
                </a:solidFill>
                <a:latin typeface="Arial Black" panose="020B0604020202020204" pitchFamily="34" charset="0"/>
              </a:rPr>
              <a:t>http://www.globalunichip.com</a:t>
            </a:r>
          </a:p>
          <a:p>
            <a:pPr>
              <a:spcBef>
                <a:spcPct val="50000"/>
              </a:spcBef>
            </a:pPr>
            <a:r>
              <a:rPr lang="en-US" altLang="zh-TW" sz="2400">
                <a:solidFill>
                  <a:srgbClr val="006600"/>
                </a:solidFill>
                <a:latin typeface="Arial Black" panose="020B0604020202020204" pitchFamily="34" charset="0"/>
              </a:rPr>
              <a:t>2007/02/13</a:t>
            </a:r>
          </a:p>
        </p:txBody>
      </p:sp>
      <p:pic>
        <p:nvPicPr>
          <p:cNvPr id="422984" name="Picture 72">
            <a:extLst>
              <a:ext uri="{FF2B5EF4-FFF2-40B4-BE49-F238E27FC236}">
                <a16:creationId xmlns:a16="http://schemas.microsoft.com/office/drawing/2014/main" id="{B867428C-703B-5FA2-08DF-A970132AA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38" y="381000"/>
            <a:ext cx="2163762"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38A9506B-5231-D1AE-C8F7-4609F6534E2A}"/>
              </a:ext>
            </a:extLst>
          </p:cNvPr>
          <p:cNvSpPr>
            <a:spLocks noGrp="1"/>
          </p:cNvSpPr>
          <p:nvPr>
            <p:ph type="sldNum" sz="quarter" idx="10"/>
          </p:nvPr>
        </p:nvSpPr>
        <p:spPr/>
        <p:txBody>
          <a:bodyPr/>
          <a:lstStyle/>
          <a:p>
            <a:fld id="{94EB3BA2-843D-3949-B7C9-5D0F5CC04FFC}" type="slidenum">
              <a:rPr lang="en-US" altLang="zh-TW"/>
              <a:pPr/>
              <a:t>1</a:t>
            </a:fld>
            <a:endParaRPr lang="en-US" altLang="zh-TW"/>
          </a:p>
        </p:txBody>
      </p:sp>
      <p:sp>
        <p:nvSpPr>
          <p:cNvPr id="877570" name="Rectangle 1026">
            <a:extLst>
              <a:ext uri="{FF2B5EF4-FFF2-40B4-BE49-F238E27FC236}">
                <a16:creationId xmlns:a16="http://schemas.microsoft.com/office/drawing/2014/main" id="{0CA4BE43-E196-FC0A-1A18-44C15A81B543}"/>
              </a:ext>
            </a:extLst>
          </p:cNvPr>
          <p:cNvSpPr>
            <a:spLocks noChangeArrowheads="1"/>
          </p:cNvSpPr>
          <p:nvPr/>
        </p:nvSpPr>
        <p:spPr bwMode="auto">
          <a:xfrm>
            <a:off x="457200" y="228600"/>
            <a:ext cx="850741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kumimoji="1" sz="2400">
                <a:solidFill>
                  <a:schemeClr val="tx1"/>
                </a:solidFill>
                <a:latin typeface="Times New Roman" panose="02020603050405020304" pitchFamily="18" charset="0"/>
                <a:ea typeface="新細明體" panose="02020500000000000000" pitchFamily="18" charset="-120"/>
              </a:defRPr>
            </a:lvl1pPr>
            <a:lvl2pPr algn="l">
              <a:defRPr kumimoji="1" sz="2400">
                <a:solidFill>
                  <a:schemeClr val="tx1"/>
                </a:solidFill>
                <a:latin typeface="Times New Roman" panose="02020603050405020304" pitchFamily="18" charset="0"/>
                <a:ea typeface="新細明體" panose="02020500000000000000" pitchFamily="18" charset="-120"/>
              </a:defRPr>
            </a:lvl2pPr>
            <a:lvl3pPr algn="l">
              <a:defRPr kumimoji="1" sz="2400">
                <a:solidFill>
                  <a:schemeClr val="tx1"/>
                </a:solidFill>
                <a:latin typeface="Times New Roman" panose="02020603050405020304" pitchFamily="18" charset="0"/>
                <a:ea typeface="新細明體" panose="02020500000000000000" pitchFamily="18" charset="-120"/>
              </a:defRPr>
            </a:lvl3pPr>
            <a:lvl4pPr algn="l">
              <a:defRPr kumimoji="1" sz="2400">
                <a:solidFill>
                  <a:schemeClr val="tx1"/>
                </a:solidFill>
                <a:latin typeface="Times New Roman" panose="02020603050405020304" pitchFamily="18" charset="0"/>
                <a:ea typeface="新細明體" panose="02020500000000000000" pitchFamily="18" charset="-120"/>
              </a:defRPr>
            </a:lvl4pPr>
            <a:lvl5pPr algn="l">
              <a:defRPr kumimoji="1" sz="2400">
                <a:solidFill>
                  <a:schemeClr val="tx1"/>
                </a:solidFill>
                <a:latin typeface="Times New Roman" panose="02020603050405020304" pitchFamily="18" charset="0"/>
                <a:ea typeface="新細明體" panose="02020500000000000000" pitchFamily="18" charset="-120"/>
              </a:defRPr>
            </a:lvl5pPr>
            <a:lvl6pPr marL="4572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9144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1371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18288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120000"/>
              </a:lnSpc>
            </a:pPr>
            <a:r>
              <a:rPr lang="en-US" altLang="zh-TW" sz="3200">
                <a:solidFill>
                  <a:srgbClr val="006600"/>
                </a:solidFill>
                <a:latin typeface="Arial Black" panose="020B0604020202020204" pitchFamily="34" charset="0"/>
                <a:ea typeface="標楷體" pitchFamily="65" charset="-120"/>
              </a:rPr>
              <a:t>Design Handoff Package Overview</a:t>
            </a:r>
          </a:p>
        </p:txBody>
      </p:sp>
      <p:sp>
        <p:nvSpPr>
          <p:cNvPr id="877571" name="Rectangle 1027">
            <a:extLst>
              <a:ext uri="{FF2B5EF4-FFF2-40B4-BE49-F238E27FC236}">
                <a16:creationId xmlns:a16="http://schemas.microsoft.com/office/drawing/2014/main" id="{8C4E5FDF-D909-B056-A017-3712BE88639D}"/>
              </a:ext>
            </a:extLst>
          </p:cNvPr>
          <p:cNvSpPr>
            <a:spLocks noChangeArrowheads="1"/>
          </p:cNvSpPr>
          <p:nvPr/>
        </p:nvSpPr>
        <p:spPr bwMode="auto">
          <a:xfrm>
            <a:off x="914400" y="1752600"/>
            <a:ext cx="8305800" cy="4343400"/>
          </a:xfrm>
          <a:prstGeom prst="rect">
            <a:avLst/>
          </a:prstGeom>
          <a:noFill/>
          <a:ln>
            <a:noFill/>
          </a:ln>
          <a:effectLst/>
          <a:extLst>
            <a:ext uri="{909E8E84-426E-40DD-AFC4-6F175D3DCCD1}">
              <a14:hiddenFill xmlns:a14="http://schemas.microsoft.com/office/drawing/2010/main">
                <a:solidFill>
                  <a:srgbClr val="CCFF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877572" name="Rectangle 1028">
            <a:extLst>
              <a:ext uri="{FF2B5EF4-FFF2-40B4-BE49-F238E27FC236}">
                <a16:creationId xmlns:a16="http://schemas.microsoft.com/office/drawing/2014/main" id="{FA834FB0-E69B-86BC-8B15-36E195A9E757}"/>
              </a:ext>
            </a:extLst>
          </p:cNvPr>
          <p:cNvSpPr>
            <a:spLocks noChangeArrowheads="1"/>
          </p:cNvSpPr>
          <p:nvPr/>
        </p:nvSpPr>
        <p:spPr bwMode="auto">
          <a:xfrm>
            <a:off x="381000" y="1143000"/>
            <a:ext cx="9112250" cy="495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lgn="l">
              <a:defRPr kumimoji="1" sz="2400">
                <a:solidFill>
                  <a:schemeClr val="tx1"/>
                </a:solidFill>
                <a:latin typeface="Times New Roman" panose="02020603050405020304" pitchFamily="18" charset="0"/>
                <a:ea typeface="新細明體" panose="02020500000000000000" pitchFamily="18" charset="-120"/>
              </a:defRPr>
            </a:lvl1pPr>
            <a:lvl2pPr marL="914400" indent="-457200" algn="l">
              <a:defRPr kumimoji="1" sz="2400">
                <a:solidFill>
                  <a:schemeClr val="tx1"/>
                </a:solidFill>
                <a:latin typeface="Times New Roman" panose="02020603050405020304" pitchFamily="18" charset="0"/>
                <a:ea typeface="新細明體" panose="02020500000000000000" pitchFamily="18" charset="-120"/>
              </a:defRPr>
            </a:lvl2pPr>
            <a:lvl3pPr marL="1371600" indent="-457200" algn="l">
              <a:defRPr kumimoji="1" sz="2400">
                <a:solidFill>
                  <a:schemeClr val="tx1"/>
                </a:solidFill>
                <a:latin typeface="Times New Roman" panose="02020603050405020304" pitchFamily="18" charset="0"/>
                <a:ea typeface="新細明體" panose="02020500000000000000" pitchFamily="18" charset="-120"/>
              </a:defRPr>
            </a:lvl3pPr>
            <a:lvl4pPr marL="1828800" indent="-457200" algn="l">
              <a:defRPr kumimoji="1" sz="2400">
                <a:solidFill>
                  <a:schemeClr val="tx1"/>
                </a:solidFill>
                <a:latin typeface="Times New Roman" panose="02020603050405020304" pitchFamily="18" charset="0"/>
                <a:ea typeface="新細明體" panose="02020500000000000000" pitchFamily="18" charset="-120"/>
              </a:defRPr>
            </a:lvl4pPr>
            <a:lvl5pPr marL="2286000" indent="-457200" algn="l">
              <a:defRPr kumimoji="1" sz="2400">
                <a:solidFill>
                  <a:schemeClr val="tx1"/>
                </a:solidFill>
                <a:latin typeface="Times New Roman" panose="02020603050405020304" pitchFamily="18" charset="0"/>
                <a:ea typeface="新細明體" panose="02020500000000000000" pitchFamily="18" charset="-120"/>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20000"/>
              </a:spcBef>
              <a:buClr>
                <a:srgbClr val="FF3300"/>
              </a:buClr>
              <a:buFont typeface="Wingdings" pitchFamily="2" charset="2"/>
              <a:buChar char="v"/>
            </a:pPr>
            <a:r>
              <a:rPr lang="en-US" altLang="zh-TW" sz="2200" b="1">
                <a:latin typeface="Arial" panose="020B0604020202020204" pitchFamily="34" charset="0"/>
                <a:ea typeface="標楷體" pitchFamily="65" charset="-120"/>
              </a:rPr>
              <a:t>GUC in-house proprietary design kits for project cowork</a:t>
            </a:r>
          </a:p>
          <a:p>
            <a:pPr lvl="1">
              <a:lnSpc>
                <a:spcPct val="90000"/>
              </a:lnSpc>
              <a:spcBef>
                <a:spcPct val="15000"/>
              </a:spcBef>
              <a:buFont typeface="Wingdings" pitchFamily="2" charset="2"/>
              <a:buChar char="n"/>
            </a:pPr>
            <a:r>
              <a:rPr lang="en-US" altLang="zh-TW" sz="2000" b="1">
                <a:solidFill>
                  <a:schemeClr val="accent2"/>
                </a:solidFill>
                <a:latin typeface="Arial" panose="020B0604020202020204" pitchFamily="34" charset="0"/>
              </a:rPr>
              <a:t>Utility</a:t>
            </a:r>
          </a:p>
          <a:p>
            <a:pPr lvl="2">
              <a:lnSpc>
                <a:spcPct val="90000"/>
              </a:lnSpc>
              <a:spcBef>
                <a:spcPct val="15000"/>
              </a:spcBef>
              <a:buFont typeface="Wingdings" pitchFamily="2" charset="2"/>
              <a:buChar char="ü"/>
            </a:pPr>
            <a:r>
              <a:rPr lang="en-US" altLang="zh-TW" sz="1600" b="1">
                <a:solidFill>
                  <a:srgbClr val="006600"/>
                </a:solidFill>
                <a:latin typeface="Arial" panose="020B0604020202020204" pitchFamily="34" charset="0"/>
              </a:rPr>
              <a:t>UNS          		:  Netlist screener</a:t>
            </a:r>
            <a:endParaRPr lang="en-US" altLang="zh-TW" sz="1600" b="1">
              <a:solidFill>
                <a:srgbClr val="006600"/>
              </a:solidFill>
              <a:latin typeface="Arial" panose="020B0604020202020204" pitchFamily="34" charset="0"/>
              <a:ea typeface="標楷體" pitchFamily="65" charset="-120"/>
            </a:endParaRPr>
          </a:p>
          <a:p>
            <a:pPr lvl="2">
              <a:lnSpc>
                <a:spcPct val="90000"/>
              </a:lnSpc>
              <a:spcBef>
                <a:spcPct val="15000"/>
              </a:spcBef>
              <a:buFont typeface="Wingdings" pitchFamily="2" charset="2"/>
              <a:buChar char="ü"/>
            </a:pPr>
            <a:r>
              <a:rPr lang="en-US" altLang="zh-TW" sz="1600" b="1">
                <a:latin typeface="Arial" panose="020B0604020202020204" pitchFamily="34" charset="0"/>
                <a:ea typeface="標楷體" pitchFamily="65" charset="-120"/>
              </a:rPr>
              <a:t>UTPG          		:  Test pattern translator</a:t>
            </a:r>
          </a:p>
          <a:p>
            <a:pPr lvl="2">
              <a:lnSpc>
                <a:spcPct val="90000"/>
              </a:lnSpc>
              <a:spcBef>
                <a:spcPct val="15000"/>
              </a:spcBef>
              <a:buFont typeface="Wingdings" pitchFamily="2" charset="2"/>
              <a:buChar char="ü"/>
            </a:pPr>
            <a:r>
              <a:rPr lang="en-US" altLang="zh-TW" sz="1600" b="1">
                <a:solidFill>
                  <a:srgbClr val="006600"/>
                </a:solidFill>
                <a:latin typeface="Arial" panose="020B0604020202020204" pitchFamily="34" charset="0"/>
                <a:ea typeface="標楷體" pitchFamily="65" charset="-120"/>
              </a:rPr>
              <a:t>UPAD_ASSIGN 	:  Pad assignment file translator</a:t>
            </a:r>
          </a:p>
          <a:p>
            <a:pPr lvl="2">
              <a:lnSpc>
                <a:spcPct val="30000"/>
              </a:lnSpc>
              <a:spcBef>
                <a:spcPct val="15000"/>
              </a:spcBef>
              <a:buFont typeface="Wingdings" pitchFamily="2" charset="2"/>
              <a:buNone/>
            </a:pPr>
            <a:endParaRPr lang="en-US" altLang="zh-TW" sz="1600" b="1">
              <a:solidFill>
                <a:srgbClr val="006600"/>
              </a:solidFill>
              <a:latin typeface="Arial" panose="020B0604020202020204" pitchFamily="34" charset="0"/>
              <a:ea typeface="標楷體" pitchFamily="65" charset="-120"/>
            </a:endParaRPr>
          </a:p>
          <a:p>
            <a:pPr lvl="1">
              <a:lnSpc>
                <a:spcPct val="90000"/>
              </a:lnSpc>
              <a:spcBef>
                <a:spcPct val="15000"/>
              </a:spcBef>
              <a:buFont typeface="Wingdings" pitchFamily="2" charset="2"/>
              <a:buChar char="n"/>
            </a:pPr>
            <a:r>
              <a:rPr lang="en-US" altLang="zh-TW" sz="2000" b="1">
                <a:solidFill>
                  <a:schemeClr val="accent2"/>
                </a:solidFill>
                <a:latin typeface="Arial" panose="020B0604020202020204" pitchFamily="34" charset="0"/>
                <a:ea typeface="標楷體" pitchFamily="65" charset="-120"/>
              </a:rPr>
              <a:t>Script</a:t>
            </a:r>
          </a:p>
          <a:p>
            <a:pPr lvl="2">
              <a:lnSpc>
                <a:spcPct val="90000"/>
              </a:lnSpc>
              <a:spcBef>
                <a:spcPct val="15000"/>
              </a:spcBef>
              <a:buFont typeface="Wingdings" pitchFamily="2" charset="2"/>
              <a:buChar char="ü"/>
            </a:pPr>
            <a:r>
              <a:rPr lang="en-US" altLang="zh-TW" sz="1800" b="1">
                <a:latin typeface="Arial" panose="020B0604020202020204" pitchFamily="34" charset="0"/>
                <a:ea typeface="標楷體" pitchFamily="65" charset="-120"/>
              </a:rPr>
              <a:t>PrimeTime QoR</a:t>
            </a:r>
          </a:p>
          <a:p>
            <a:pPr lvl="2">
              <a:lnSpc>
                <a:spcPct val="90000"/>
              </a:lnSpc>
              <a:spcBef>
                <a:spcPct val="15000"/>
              </a:spcBef>
              <a:buFont typeface="Wingdings" pitchFamily="2" charset="2"/>
              <a:buChar char="ü"/>
            </a:pPr>
            <a:r>
              <a:rPr lang="en-US" altLang="zh-TW" sz="1800" b="1">
                <a:solidFill>
                  <a:srgbClr val="006600"/>
                </a:solidFill>
                <a:latin typeface="Arial" panose="020B0604020202020204" pitchFamily="34" charset="0"/>
                <a:ea typeface="標楷體" pitchFamily="65" charset="-120"/>
              </a:rPr>
              <a:t>Design Compiler Naming Rule </a:t>
            </a:r>
          </a:p>
          <a:p>
            <a:pPr lvl="2">
              <a:lnSpc>
                <a:spcPct val="50000"/>
              </a:lnSpc>
              <a:spcBef>
                <a:spcPct val="15000"/>
              </a:spcBef>
              <a:buFont typeface="Wingdings" pitchFamily="2" charset="2"/>
              <a:buChar char="ü"/>
            </a:pPr>
            <a:endParaRPr lang="en-US" altLang="zh-TW" sz="1800" b="1">
              <a:solidFill>
                <a:srgbClr val="006600"/>
              </a:solidFill>
              <a:latin typeface="Arial" panose="020B0604020202020204" pitchFamily="34" charset="0"/>
              <a:ea typeface="標楷體" pitchFamily="65" charset="-120"/>
            </a:endParaRPr>
          </a:p>
          <a:p>
            <a:pPr lvl="1">
              <a:lnSpc>
                <a:spcPct val="90000"/>
              </a:lnSpc>
              <a:spcBef>
                <a:spcPct val="15000"/>
              </a:spcBef>
              <a:buFont typeface="Wingdings" pitchFamily="2" charset="2"/>
              <a:buChar char="n"/>
            </a:pPr>
            <a:r>
              <a:rPr lang="en-US" altLang="zh-TW" sz="2000" b="1">
                <a:solidFill>
                  <a:schemeClr val="accent2"/>
                </a:solidFill>
                <a:latin typeface="Arial" panose="020B0604020202020204" pitchFamily="34" charset="0"/>
                <a:ea typeface="標楷體" pitchFamily="65" charset="-120"/>
              </a:rPr>
              <a:t>Document</a:t>
            </a:r>
          </a:p>
          <a:p>
            <a:pPr lvl="2">
              <a:lnSpc>
                <a:spcPct val="90000"/>
              </a:lnSpc>
              <a:spcBef>
                <a:spcPct val="15000"/>
              </a:spcBef>
              <a:buFont typeface="Wingdings" pitchFamily="2" charset="2"/>
              <a:buChar char="ü"/>
            </a:pPr>
            <a:r>
              <a:rPr lang="en-US" altLang="zh-TW" sz="1800" b="1">
                <a:latin typeface="Arial" panose="020B0604020202020204" pitchFamily="34" charset="0"/>
              </a:rPr>
              <a:t>Design kit for ASIC Design Service – User’s Manual</a:t>
            </a:r>
          </a:p>
          <a:p>
            <a:pPr lvl="2">
              <a:lnSpc>
                <a:spcPct val="90000"/>
              </a:lnSpc>
              <a:spcBef>
                <a:spcPct val="15000"/>
              </a:spcBef>
              <a:buFont typeface="Wingdings" pitchFamily="2" charset="2"/>
              <a:buChar char="ü"/>
            </a:pPr>
            <a:r>
              <a:rPr lang="en-US" altLang="zh-TW" sz="1800" b="1">
                <a:latin typeface="Arial" panose="020B0604020202020204" pitchFamily="34" charset="0"/>
              </a:rPr>
              <a:t>GUC Static Timing Analysis User Guide</a:t>
            </a:r>
          </a:p>
          <a:p>
            <a:pPr lvl="2">
              <a:lnSpc>
                <a:spcPct val="90000"/>
              </a:lnSpc>
              <a:spcBef>
                <a:spcPct val="15000"/>
              </a:spcBef>
              <a:buFont typeface="Wingdings" pitchFamily="2" charset="2"/>
              <a:buChar char="ü"/>
            </a:pPr>
            <a:r>
              <a:rPr lang="en-US" altLang="zh-TW" sz="1800" b="1">
                <a:latin typeface="Arial" panose="020B0604020202020204" pitchFamily="34" charset="0"/>
              </a:rPr>
              <a:t>GUC Spare Cell Guide</a:t>
            </a:r>
          </a:p>
          <a:p>
            <a:pPr lvl="2">
              <a:lnSpc>
                <a:spcPct val="90000"/>
              </a:lnSpc>
              <a:spcBef>
                <a:spcPct val="15000"/>
              </a:spcBef>
              <a:buFont typeface="Wingdings" pitchFamily="2" charset="2"/>
              <a:buNone/>
            </a:pPr>
            <a:endParaRPr lang="en-US" altLang="zh-TW" sz="1800" b="1">
              <a:latin typeface="Arial" panose="020B0604020202020204" pitchFamily="34" charset="0"/>
            </a:endParaRPr>
          </a:p>
          <a:p>
            <a:pPr lvl="2">
              <a:lnSpc>
                <a:spcPct val="90000"/>
              </a:lnSpc>
              <a:spcBef>
                <a:spcPct val="15000"/>
              </a:spcBef>
              <a:buFont typeface="Wingdings" pitchFamily="2" charset="2"/>
              <a:buNone/>
            </a:pPr>
            <a:r>
              <a:rPr lang="en-US" altLang="zh-TW" sz="1800" b="1">
                <a:solidFill>
                  <a:srgbClr val="006600"/>
                </a:solidFill>
                <a:latin typeface="Arial" panose="020B0604020202020204" pitchFamily="34" charset="0"/>
              </a:rPr>
              <a:t>Data Exchange / UNS / </a:t>
            </a:r>
            <a:r>
              <a:rPr lang="en-US" altLang="zh-TW" sz="1800" b="1">
                <a:solidFill>
                  <a:srgbClr val="006600"/>
                </a:solidFill>
                <a:latin typeface="Arial" panose="020B0604020202020204" pitchFamily="34" charset="0"/>
                <a:ea typeface="標楷體" pitchFamily="65" charset="-120"/>
              </a:rPr>
              <a:t>UPAD_ASSIGN</a:t>
            </a:r>
            <a:r>
              <a:rPr lang="en-US" altLang="zh-TW" sz="1600" b="1">
                <a:solidFill>
                  <a:srgbClr val="006600"/>
                </a:solidFill>
                <a:latin typeface="Arial" panose="020B0604020202020204" pitchFamily="34" charset="0"/>
                <a:ea typeface="標楷體" pitchFamily="65" charset="-120"/>
              </a:rPr>
              <a:t> will be quickly introduced in this presentation.</a:t>
            </a:r>
            <a:r>
              <a:rPr lang="en-US" altLang="zh-TW" sz="1600" b="1">
                <a:solidFill>
                  <a:schemeClr val="accent2"/>
                </a:solidFill>
                <a:latin typeface="Arial" panose="020B0604020202020204" pitchFamily="34" charset="0"/>
                <a:ea typeface="標楷體" pitchFamily="65" charset="-120"/>
              </a:rPr>
              <a:t> </a:t>
            </a:r>
            <a:r>
              <a:rPr lang="en-US" altLang="zh-TW" sz="1600" b="1">
                <a:latin typeface="Arial" panose="020B0604020202020204" pitchFamily="34" charset="0"/>
                <a:ea typeface="標楷體" pitchFamily="65" charset="-120"/>
              </a:rPr>
              <a:t>(Important for project trial run.)</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2869" name="Rectangle 5">
            <a:extLst>
              <a:ext uri="{FF2B5EF4-FFF2-40B4-BE49-F238E27FC236}">
                <a16:creationId xmlns:a16="http://schemas.microsoft.com/office/drawing/2014/main" id="{61B765AB-354C-F4B6-19E2-ECF94161306D}"/>
              </a:ext>
            </a:extLst>
          </p:cNvPr>
          <p:cNvSpPr>
            <a:spLocks noGrp="1" noChangeArrowheads="1"/>
          </p:cNvSpPr>
          <p:nvPr>
            <p:ph type="ctrTitle"/>
          </p:nvPr>
        </p:nvSpPr>
        <p:spPr>
          <a:xfrm>
            <a:off x="1281113" y="2708275"/>
            <a:ext cx="7467600" cy="1470025"/>
          </a:xfrm>
          <a:noFill/>
          <a:ln/>
          <a:extLst>
            <a:ext uri="{AF507438-7753-43E0-B8FC-AC1667EBCBE1}">
              <a14:hiddenEffects xmlns:a14="http://schemas.microsoft.com/office/drawing/2010/main">
                <a:effectLst>
                  <a:outerShdw dist="35921" dir="2700000" algn="ctr" rotWithShape="0">
                    <a:srgbClr val="5CB852">
                      <a:alpha val="50000"/>
                    </a:srgbClr>
                  </a:outerShdw>
                </a:effectLst>
              </a14:hiddenEffects>
            </a:ext>
          </a:extLst>
        </p:spPr>
        <p:txBody>
          <a:bodyPr anchor="ctr"/>
          <a:lstStyle/>
          <a:p>
            <a:r>
              <a:rPr lang="en-US" altLang="zh-TW" sz="3600"/>
              <a:t>Data Exchange</a:t>
            </a:r>
          </a:p>
        </p:txBody>
      </p:sp>
      <p:pic>
        <p:nvPicPr>
          <p:cNvPr id="932870" name="Picture 6">
            <a:extLst>
              <a:ext uri="{FF2B5EF4-FFF2-40B4-BE49-F238E27FC236}">
                <a16:creationId xmlns:a16="http://schemas.microsoft.com/office/drawing/2014/main" id="{2B511662-9C4B-D26C-A17D-736E8F4221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200" y="457200"/>
            <a:ext cx="1519238"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2871" name="Picture 7">
            <a:extLst>
              <a:ext uri="{FF2B5EF4-FFF2-40B4-BE49-F238E27FC236}">
                <a16:creationId xmlns:a16="http://schemas.microsoft.com/office/drawing/2014/main" id="{F7D159C6-5BF9-E354-8AC6-9082940329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038" y="381000"/>
            <a:ext cx="2163762"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BE9DB07B-B613-936A-D247-DB7453FA6DE3}"/>
              </a:ext>
            </a:extLst>
          </p:cNvPr>
          <p:cNvSpPr>
            <a:spLocks noGrp="1"/>
          </p:cNvSpPr>
          <p:nvPr>
            <p:ph type="sldNum" sz="quarter" idx="10"/>
          </p:nvPr>
        </p:nvSpPr>
        <p:spPr/>
        <p:txBody>
          <a:bodyPr/>
          <a:lstStyle/>
          <a:p>
            <a:fld id="{EA55127D-3E6E-4548-A605-CE2F23484118}" type="slidenum">
              <a:rPr lang="en-US" altLang="zh-TW"/>
              <a:pPr/>
              <a:t>3</a:t>
            </a:fld>
            <a:endParaRPr lang="en-US" altLang="zh-TW"/>
          </a:p>
        </p:txBody>
      </p:sp>
      <p:sp>
        <p:nvSpPr>
          <p:cNvPr id="918530" name="Rectangle 2">
            <a:extLst>
              <a:ext uri="{FF2B5EF4-FFF2-40B4-BE49-F238E27FC236}">
                <a16:creationId xmlns:a16="http://schemas.microsoft.com/office/drawing/2014/main" id="{732231B3-4BEE-DFC9-3FA7-64C2F349ABF6}"/>
              </a:ext>
            </a:extLst>
          </p:cNvPr>
          <p:cNvSpPr>
            <a:spLocks noGrp="1" noChangeArrowheads="1"/>
          </p:cNvSpPr>
          <p:nvPr>
            <p:ph type="title"/>
          </p:nvPr>
        </p:nvSpPr>
        <p:spPr>
          <a:xfrm>
            <a:off x="457200" y="152400"/>
            <a:ext cx="8991600" cy="838200"/>
          </a:xfrm>
        </p:spPr>
        <p:txBody>
          <a:bodyPr/>
          <a:lstStyle/>
          <a:p>
            <a:r>
              <a:rPr lang="en-US" altLang="zh-TW"/>
              <a:t>Data Exchange for GUC Design Service</a:t>
            </a:r>
          </a:p>
        </p:txBody>
      </p:sp>
      <p:graphicFrame>
        <p:nvGraphicFramePr>
          <p:cNvPr id="918531" name="Object 3">
            <a:extLst>
              <a:ext uri="{FF2B5EF4-FFF2-40B4-BE49-F238E27FC236}">
                <a16:creationId xmlns:a16="http://schemas.microsoft.com/office/drawing/2014/main" id="{EE306177-3C24-949C-FDA7-77A2CAB02878}"/>
              </a:ext>
            </a:extLst>
          </p:cNvPr>
          <p:cNvGraphicFramePr>
            <a:graphicFrameLocks noChangeAspect="1"/>
          </p:cNvGraphicFramePr>
          <p:nvPr/>
        </p:nvGraphicFramePr>
        <p:xfrm>
          <a:off x="1371600" y="1066800"/>
          <a:ext cx="7620000" cy="5608638"/>
        </p:xfrm>
        <a:graphic>
          <a:graphicData uri="http://schemas.openxmlformats.org/presentationml/2006/ole">
            <mc:AlternateContent xmlns:mc="http://schemas.openxmlformats.org/markup-compatibility/2006">
              <mc:Choice xmlns:v="urn:schemas-microsoft-com:vml" Requires="v">
                <p:oleObj name="Visio" r:id="rId2" imgW="5994400" imgH="4749800" progId="Visio.Drawing.11">
                  <p:embed/>
                </p:oleObj>
              </mc:Choice>
              <mc:Fallback>
                <p:oleObj name="Visio" r:id="rId2" imgW="5994400" imgH="4749800" progId="Visio.Drawing.11">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066800"/>
                        <a:ext cx="7620000" cy="560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18532" name="AutoShape 4">
            <a:extLst>
              <a:ext uri="{FF2B5EF4-FFF2-40B4-BE49-F238E27FC236}">
                <a16:creationId xmlns:a16="http://schemas.microsoft.com/office/drawing/2014/main" id="{93893563-A78E-61A2-94B2-27379F086F3E}"/>
              </a:ext>
            </a:extLst>
          </p:cNvPr>
          <p:cNvSpPr>
            <a:spLocks noChangeArrowheads="1"/>
          </p:cNvSpPr>
          <p:nvPr/>
        </p:nvSpPr>
        <p:spPr bwMode="auto">
          <a:xfrm>
            <a:off x="5562600" y="1752600"/>
            <a:ext cx="914400" cy="914400"/>
          </a:xfrm>
          <a:prstGeom prst="irregularSeal1">
            <a:avLst/>
          </a:prstGeom>
          <a:noFill/>
          <a:ln w="9525">
            <a:solidFill>
              <a:srgbClr val="FF3300"/>
            </a:solidFill>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TW" sz="1200" b="1">
                <a:solidFill>
                  <a:srgbClr val="CC0000"/>
                </a:solidFill>
              </a:rPr>
              <a:t>Try Run</a:t>
            </a:r>
          </a:p>
        </p:txBody>
      </p:sp>
      <p:sp>
        <p:nvSpPr>
          <p:cNvPr id="918533" name="AutoShape 5">
            <a:extLst>
              <a:ext uri="{FF2B5EF4-FFF2-40B4-BE49-F238E27FC236}">
                <a16:creationId xmlns:a16="http://schemas.microsoft.com/office/drawing/2014/main" id="{73F73E4A-531C-BB40-56C1-FF305E3AABA0}"/>
              </a:ext>
            </a:extLst>
          </p:cNvPr>
          <p:cNvSpPr>
            <a:spLocks noChangeArrowheads="1"/>
          </p:cNvSpPr>
          <p:nvPr/>
        </p:nvSpPr>
        <p:spPr bwMode="auto">
          <a:xfrm>
            <a:off x="5600700" y="2852738"/>
            <a:ext cx="914400" cy="914400"/>
          </a:xfrm>
          <a:prstGeom prst="irregularSeal1">
            <a:avLst/>
          </a:prstGeom>
          <a:noFill/>
          <a:ln w="9525">
            <a:solidFill>
              <a:srgbClr val="FF3300"/>
            </a:solidFill>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TW" sz="1200" b="1">
                <a:solidFill>
                  <a:srgbClr val="CC0000"/>
                </a:solidFill>
              </a:rPr>
              <a:t>Final Check</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5D9CA1D8-4A48-565E-9765-EF6B3C8F389C}"/>
              </a:ext>
            </a:extLst>
          </p:cNvPr>
          <p:cNvSpPr>
            <a:spLocks noGrp="1"/>
          </p:cNvSpPr>
          <p:nvPr>
            <p:ph type="sldNum" sz="quarter" idx="10"/>
          </p:nvPr>
        </p:nvSpPr>
        <p:spPr/>
        <p:txBody>
          <a:bodyPr/>
          <a:lstStyle/>
          <a:p>
            <a:fld id="{7EAB3DDB-DAB1-2B4E-B5A0-FC50A95660AE}" type="slidenum">
              <a:rPr lang="en-US" altLang="zh-TW"/>
              <a:pPr/>
              <a:t>4</a:t>
            </a:fld>
            <a:endParaRPr lang="en-US" altLang="zh-TW"/>
          </a:p>
        </p:txBody>
      </p:sp>
      <p:sp>
        <p:nvSpPr>
          <p:cNvPr id="919554" name="Rectangle 2">
            <a:extLst>
              <a:ext uri="{FF2B5EF4-FFF2-40B4-BE49-F238E27FC236}">
                <a16:creationId xmlns:a16="http://schemas.microsoft.com/office/drawing/2014/main" id="{504C48AB-D2E5-BFE4-E8C1-CB861BC510C8}"/>
              </a:ext>
            </a:extLst>
          </p:cNvPr>
          <p:cNvSpPr>
            <a:spLocks noGrp="1" noChangeArrowheads="1"/>
          </p:cNvSpPr>
          <p:nvPr>
            <p:ph type="title"/>
          </p:nvPr>
        </p:nvSpPr>
        <p:spPr>
          <a:xfrm>
            <a:off x="415925" y="260350"/>
            <a:ext cx="7543800" cy="685800"/>
          </a:xfrm>
        </p:spPr>
        <p:txBody>
          <a:bodyPr/>
          <a:lstStyle/>
          <a:p>
            <a:r>
              <a:rPr lang="en-US" altLang="zh-TW"/>
              <a:t>Back-end APR Service</a:t>
            </a:r>
          </a:p>
        </p:txBody>
      </p:sp>
      <p:sp>
        <p:nvSpPr>
          <p:cNvPr id="919555" name="Rectangle 3">
            <a:extLst>
              <a:ext uri="{FF2B5EF4-FFF2-40B4-BE49-F238E27FC236}">
                <a16:creationId xmlns:a16="http://schemas.microsoft.com/office/drawing/2014/main" id="{49794CE9-6CA2-CC07-0C8B-33CEED81EB42}"/>
              </a:ext>
            </a:extLst>
          </p:cNvPr>
          <p:cNvSpPr>
            <a:spLocks noGrp="1" noChangeArrowheads="1"/>
          </p:cNvSpPr>
          <p:nvPr>
            <p:ph type="body" idx="1"/>
          </p:nvPr>
        </p:nvSpPr>
        <p:spPr>
          <a:xfrm>
            <a:off x="609600" y="1295400"/>
            <a:ext cx="8610600" cy="4648200"/>
          </a:xfrm>
        </p:spPr>
        <p:txBody>
          <a:bodyPr/>
          <a:lstStyle/>
          <a:p>
            <a:r>
              <a:rPr lang="en-US" altLang="zh-TW"/>
              <a:t>Hand-off data at Preliminary Design Handoff</a:t>
            </a:r>
          </a:p>
          <a:p>
            <a:r>
              <a:rPr lang="en-US" altLang="zh-TW"/>
              <a:t>Data Release to Customer after Preliminary Physical Design</a:t>
            </a:r>
          </a:p>
          <a:p>
            <a:r>
              <a:rPr lang="en-US" altLang="zh-TW"/>
              <a:t>Hand-off data at Final Design Handoff </a:t>
            </a:r>
          </a:p>
          <a:p>
            <a:r>
              <a:rPr lang="en-US" altLang="zh-TW"/>
              <a:t>Data Release to Customer after Physical Design Implementation </a:t>
            </a:r>
          </a:p>
          <a:p>
            <a:r>
              <a:rPr lang="en-US" altLang="zh-TW">
                <a:solidFill>
                  <a:schemeClr val="accent2"/>
                </a:solidFill>
              </a:rPr>
              <a:t>Exchange Method: Through FTP/e-mail after encript/zip with password</a:t>
            </a:r>
          </a:p>
        </p:txBody>
      </p:sp>
      <p:sp>
        <p:nvSpPr>
          <p:cNvPr id="919556" name="Oval 4">
            <a:extLst>
              <a:ext uri="{FF2B5EF4-FFF2-40B4-BE49-F238E27FC236}">
                <a16:creationId xmlns:a16="http://schemas.microsoft.com/office/drawing/2014/main" id="{8E492713-D913-6AF1-5DB4-D5EAF48C3CF1}"/>
              </a:ext>
            </a:extLst>
          </p:cNvPr>
          <p:cNvSpPr>
            <a:spLocks noChangeArrowheads="1"/>
          </p:cNvSpPr>
          <p:nvPr/>
        </p:nvSpPr>
        <p:spPr bwMode="auto">
          <a:xfrm>
            <a:off x="8913813" y="1196975"/>
            <a:ext cx="609600" cy="533400"/>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TW" sz="2800"/>
              <a:t>1</a:t>
            </a:r>
          </a:p>
        </p:txBody>
      </p:sp>
      <p:sp>
        <p:nvSpPr>
          <p:cNvPr id="919557" name="Oval 5">
            <a:extLst>
              <a:ext uri="{FF2B5EF4-FFF2-40B4-BE49-F238E27FC236}">
                <a16:creationId xmlns:a16="http://schemas.microsoft.com/office/drawing/2014/main" id="{D888A1A8-8401-5BBC-EBBA-6776A387E224}"/>
              </a:ext>
            </a:extLst>
          </p:cNvPr>
          <p:cNvSpPr>
            <a:spLocks noChangeArrowheads="1"/>
          </p:cNvSpPr>
          <p:nvPr/>
        </p:nvSpPr>
        <p:spPr bwMode="auto">
          <a:xfrm>
            <a:off x="8915400" y="1905000"/>
            <a:ext cx="609600" cy="533400"/>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TW" sz="2800"/>
              <a:t>2</a:t>
            </a:r>
          </a:p>
        </p:txBody>
      </p:sp>
      <p:sp>
        <p:nvSpPr>
          <p:cNvPr id="919558" name="Oval 6">
            <a:extLst>
              <a:ext uri="{FF2B5EF4-FFF2-40B4-BE49-F238E27FC236}">
                <a16:creationId xmlns:a16="http://schemas.microsoft.com/office/drawing/2014/main" id="{77DD66B4-3153-BA49-9558-D8051AC4B7B4}"/>
              </a:ext>
            </a:extLst>
          </p:cNvPr>
          <p:cNvSpPr>
            <a:spLocks noChangeArrowheads="1"/>
          </p:cNvSpPr>
          <p:nvPr/>
        </p:nvSpPr>
        <p:spPr bwMode="auto">
          <a:xfrm>
            <a:off x="8913813" y="2852738"/>
            <a:ext cx="609600" cy="533400"/>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TW" sz="2800"/>
              <a:t>3</a:t>
            </a:r>
          </a:p>
        </p:txBody>
      </p:sp>
      <p:sp>
        <p:nvSpPr>
          <p:cNvPr id="919559" name="Oval 7">
            <a:extLst>
              <a:ext uri="{FF2B5EF4-FFF2-40B4-BE49-F238E27FC236}">
                <a16:creationId xmlns:a16="http://schemas.microsoft.com/office/drawing/2014/main" id="{D27928F1-3CA2-F38D-F712-B37FF9C96094}"/>
              </a:ext>
            </a:extLst>
          </p:cNvPr>
          <p:cNvSpPr>
            <a:spLocks noChangeArrowheads="1"/>
          </p:cNvSpPr>
          <p:nvPr/>
        </p:nvSpPr>
        <p:spPr bwMode="auto">
          <a:xfrm>
            <a:off x="8913813" y="3716338"/>
            <a:ext cx="609600" cy="533400"/>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TW" sz="2800"/>
              <a:t>6</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E0C58A49-99EF-DFC0-B8DC-D93C6D1D9C6E}"/>
              </a:ext>
            </a:extLst>
          </p:cNvPr>
          <p:cNvSpPr>
            <a:spLocks noGrp="1"/>
          </p:cNvSpPr>
          <p:nvPr>
            <p:ph type="sldNum" sz="quarter" idx="10"/>
          </p:nvPr>
        </p:nvSpPr>
        <p:spPr/>
        <p:txBody>
          <a:bodyPr/>
          <a:lstStyle/>
          <a:p>
            <a:fld id="{5149D086-346D-924C-BBE5-C35061C6F8B4}" type="slidenum">
              <a:rPr lang="en-US" altLang="zh-TW"/>
              <a:pPr/>
              <a:t>5</a:t>
            </a:fld>
            <a:endParaRPr lang="en-US" altLang="zh-TW"/>
          </a:p>
        </p:txBody>
      </p:sp>
      <p:sp>
        <p:nvSpPr>
          <p:cNvPr id="920578" name="Rectangle 2">
            <a:extLst>
              <a:ext uri="{FF2B5EF4-FFF2-40B4-BE49-F238E27FC236}">
                <a16:creationId xmlns:a16="http://schemas.microsoft.com/office/drawing/2014/main" id="{7AA99637-A46A-A7A6-0DE5-5F5334C7056E}"/>
              </a:ext>
            </a:extLst>
          </p:cNvPr>
          <p:cNvSpPr>
            <a:spLocks noGrp="1" noChangeArrowheads="1"/>
          </p:cNvSpPr>
          <p:nvPr>
            <p:ph type="title"/>
          </p:nvPr>
        </p:nvSpPr>
        <p:spPr>
          <a:xfrm>
            <a:off x="457200" y="152400"/>
            <a:ext cx="8915400" cy="838200"/>
          </a:xfrm>
        </p:spPr>
        <p:txBody>
          <a:bodyPr/>
          <a:lstStyle/>
          <a:p>
            <a:pPr>
              <a:lnSpc>
                <a:spcPct val="80000"/>
              </a:lnSpc>
            </a:pPr>
            <a:r>
              <a:rPr lang="en-US" altLang="zh-TW" sz="2800"/>
              <a:t>Hand-off data at Preliminary Design Handoff</a:t>
            </a:r>
          </a:p>
        </p:txBody>
      </p:sp>
      <p:sp>
        <p:nvSpPr>
          <p:cNvPr id="920579" name="Rectangle 3">
            <a:extLst>
              <a:ext uri="{FF2B5EF4-FFF2-40B4-BE49-F238E27FC236}">
                <a16:creationId xmlns:a16="http://schemas.microsoft.com/office/drawing/2014/main" id="{74239DD6-73F9-E69F-B87F-093E86B06E42}"/>
              </a:ext>
            </a:extLst>
          </p:cNvPr>
          <p:cNvSpPr>
            <a:spLocks noGrp="1" noChangeArrowheads="1"/>
          </p:cNvSpPr>
          <p:nvPr>
            <p:ph type="body" idx="1"/>
          </p:nvPr>
        </p:nvSpPr>
        <p:spPr>
          <a:xfrm>
            <a:off x="704850" y="1125538"/>
            <a:ext cx="8569325" cy="4648200"/>
          </a:xfrm>
        </p:spPr>
        <p:txBody>
          <a:bodyPr/>
          <a:lstStyle/>
          <a:p>
            <a:pPr>
              <a:lnSpc>
                <a:spcPct val="100000"/>
              </a:lnSpc>
            </a:pPr>
            <a:r>
              <a:rPr lang="en-US" altLang="zh-TW" sz="1600"/>
              <a:t>Customer Deliverable</a:t>
            </a:r>
          </a:p>
          <a:p>
            <a:pPr lvl="1">
              <a:lnSpc>
                <a:spcPct val="100000"/>
              </a:lnSpc>
            </a:pPr>
            <a:r>
              <a:rPr lang="en-US" altLang="zh-TW" sz="1600"/>
              <a:t>Initial Netlist (Mandatory)</a:t>
            </a:r>
          </a:p>
          <a:p>
            <a:pPr lvl="2">
              <a:lnSpc>
                <a:spcPct val="100000"/>
              </a:lnSpc>
            </a:pPr>
            <a:r>
              <a:rPr lang="en-US" altLang="zh-TW" sz="1600"/>
              <a:t>Netlist is nearly frozen</a:t>
            </a:r>
          </a:p>
          <a:p>
            <a:pPr lvl="2">
              <a:lnSpc>
                <a:spcPct val="100000"/>
              </a:lnSpc>
            </a:pPr>
            <a:r>
              <a:rPr lang="en-US" altLang="zh-TW" sz="1600"/>
              <a:t>In Verilog format</a:t>
            </a:r>
          </a:p>
          <a:p>
            <a:pPr lvl="2">
              <a:lnSpc>
                <a:spcPct val="100000"/>
              </a:lnSpc>
            </a:pPr>
            <a:r>
              <a:rPr lang="en-US" altLang="zh-TW" sz="1600"/>
              <a:t>Verified by uns</a:t>
            </a:r>
          </a:p>
          <a:p>
            <a:pPr lvl="2">
              <a:lnSpc>
                <a:spcPct val="100000"/>
              </a:lnSpc>
            </a:pPr>
            <a:r>
              <a:rPr lang="en-US" altLang="zh-TW" sz="1600"/>
              <a:t>Naming-clean (script to generate naming-clean netlist: </a:t>
            </a:r>
            <a:r>
              <a:rPr lang="en-US" altLang="zh-TW" sz="1600" i="1">
                <a:solidFill>
                  <a:srgbClr val="000000"/>
                </a:solidFill>
                <a:latin typeface="Times New Roman" panose="02020603050405020304" pitchFamily="18" charset="0"/>
                <a:cs typeface="Times New Roman" panose="02020603050405020304" pitchFamily="18" charset="0"/>
              </a:rPr>
              <a:t>&lt;install_dir&gt;</a:t>
            </a:r>
            <a:r>
              <a:rPr lang="en-US" altLang="zh-TW" sz="1600">
                <a:solidFill>
                  <a:srgbClr val="000000"/>
                </a:solidFill>
                <a:latin typeface="Times New Roman" panose="02020603050405020304" pitchFamily="18" charset="0"/>
                <a:cs typeface="Times New Roman" panose="02020603050405020304" pitchFamily="18" charset="0"/>
              </a:rPr>
              <a:t>/script/dc</a:t>
            </a:r>
            <a:r>
              <a:rPr lang="en-US" altLang="zh-TW" sz="1600"/>
              <a:t> )</a:t>
            </a:r>
          </a:p>
          <a:p>
            <a:pPr lvl="2">
              <a:lnSpc>
                <a:spcPct val="100000"/>
              </a:lnSpc>
            </a:pPr>
            <a:r>
              <a:rPr lang="en-US" altLang="zh-TW" sz="1600"/>
              <a:t>Assign: </a:t>
            </a:r>
            <a:r>
              <a:rPr lang="en-US" altLang="zh-TW" sz="1600">
                <a:solidFill>
                  <a:srgbClr val="000000"/>
                </a:solidFill>
                <a:cs typeface="Times New Roman" panose="02020603050405020304" pitchFamily="18" charset="0"/>
              </a:rPr>
              <a:t>Customer must use uns to replace it by buffer and run pre-layout simulation before submitting to UniChip.</a:t>
            </a:r>
            <a:endParaRPr lang="en-US" altLang="zh-TW" sz="1600"/>
          </a:p>
          <a:p>
            <a:pPr lvl="1">
              <a:lnSpc>
                <a:spcPct val="100000"/>
              </a:lnSpc>
            </a:pPr>
            <a:r>
              <a:rPr lang="en-US" altLang="zh-TW" sz="1600"/>
              <a:t>Spare Cell List (Optional)</a:t>
            </a:r>
          </a:p>
          <a:p>
            <a:pPr lvl="2">
              <a:lnSpc>
                <a:spcPct val="100000"/>
              </a:lnSpc>
            </a:pPr>
            <a:r>
              <a:rPr lang="en-US" altLang="zh-TW" sz="1600"/>
              <a:t>Format is defined in “GUC Spare Cell Insertion Guide”</a:t>
            </a:r>
          </a:p>
          <a:p>
            <a:pPr lvl="1">
              <a:lnSpc>
                <a:spcPct val="100000"/>
              </a:lnSpc>
            </a:pPr>
            <a:r>
              <a:rPr lang="en-US" altLang="zh-TW" sz="1600"/>
              <a:t>Complete Pin Sequence File (Mandatory)</a:t>
            </a:r>
          </a:p>
          <a:p>
            <a:pPr lvl="2">
              <a:lnSpc>
                <a:spcPct val="100000"/>
              </a:lnSpc>
            </a:pPr>
            <a:r>
              <a:rPr lang="en-US" altLang="zh-TW" sz="1600"/>
              <a:t>Format is defined in </a:t>
            </a:r>
            <a:r>
              <a:rPr lang="en-US" altLang="zh-TW" sz="1600" b="1"/>
              <a:t>Design kit for ASIC Design Service – User’s Manual</a:t>
            </a:r>
            <a:r>
              <a:rPr lang="en-US" altLang="zh-TW" sz="1800"/>
              <a:t> , </a:t>
            </a:r>
            <a:r>
              <a:rPr lang="en-US" altLang="zh-TW" sz="1600"/>
              <a:t>chapter “UPAD_ASSIGN”</a:t>
            </a:r>
          </a:p>
        </p:txBody>
      </p:sp>
      <p:sp>
        <p:nvSpPr>
          <p:cNvPr id="920580" name="Oval 4">
            <a:extLst>
              <a:ext uri="{FF2B5EF4-FFF2-40B4-BE49-F238E27FC236}">
                <a16:creationId xmlns:a16="http://schemas.microsoft.com/office/drawing/2014/main" id="{8C762D2B-FE87-A19C-5E1B-35619BFB5B86}"/>
              </a:ext>
            </a:extLst>
          </p:cNvPr>
          <p:cNvSpPr>
            <a:spLocks noChangeArrowheads="1"/>
          </p:cNvSpPr>
          <p:nvPr/>
        </p:nvSpPr>
        <p:spPr bwMode="auto">
          <a:xfrm>
            <a:off x="6465888" y="1125538"/>
            <a:ext cx="609600" cy="533400"/>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zh-TW" sz="2800"/>
              <a:t> 1   </a:t>
            </a:r>
            <a:r>
              <a:rPr lang="en-US" altLang="zh-TW" sz="2000"/>
              <a:t>Customer-&gt;GUC</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AFF44DF0-8294-F65E-DCE2-462AC231426D}"/>
              </a:ext>
            </a:extLst>
          </p:cNvPr>
          <p:cNvSpPr>
            <a:spLocks noGrp="1"/>
          </p:cNvSpPr>
          <p:nvPr>
            <p:ph type="sldNum" sz="quarter" idx="10"/>
          </p:nvPr>
        </p:nvSpPr>
        <p:spPr/>
        <p:txBody>
          <a:bodyPr/>
          <a:lstStyle/>
          <a:p>
            <a:fld id="{61C80EA9-8DAC-114C-AC07-D62939986260}" type="slidenum">
              <a:rPr lang="en-US" altLang="zh-TW"/>
              <a:pPr/>
              <a:t>6</a:t>
            </a:fld>
            <a:endParaRPr lang="en-US" altLang="zh-TW"/>
          </a:p>
        </p:txBody>
      </p:sp>
      <p:sp>
        <p:nvSpPr>
          <p:cNvPr id="921602" name="Rectangle 2">
            <a:extLst>
              <a:ext uri="{FF2B5EF4-FFF2-40B4-BE49-F238E27FC236}">
                <a16:creationId xmlns:a16="http://schemas.microsoft.com/office/drawing/2014/main" id="{A508753D-7341-260C-7F0D-DB3EB1E50CF6}"/>
              </a:ext>
            </a:extLst>
          </p:cNvPr>
          <p:cNvSpPr>
            <a:spLocks noGrp="1" noChangeArrowheads="1"/>
          </p:cNvSpPr>
          <p:nvPr>
            <p:ph type="body" idx="1"/>
          </p:nvPr>
        </p:nvSpPr>
        <p:spPr/>
        <p:txBody>
          <a:bodyPr/>
          <a:lstStyle/>
          <a:p>
            <a:pPr>
              <a:lnSpc>
                <a:spcPct val="110000"/>
              </a:lnSpc>
            </a:pPr>
            <a:r>
              <a:rPr lang="en-US" altLang="zh-TW" sz="1600"/>
              <a:t>Customer Deliverable</a:t>
            </a:r>
          </a:p>
          <a:p>
            <a:pPr lvl="1">
              <a:lnSpc>
                <a:spcPct val="110000"/>
              </a:lnSpc>
            </a:pPr>
            <a:r>
              <a:rPr lang="en-US" altLang="zh-TW" sz="1600"/>
              <a:t>Layout Constraint File (Mandatory)</a:t>
            </a:r>
          </a:p>
          <a:p>
            <a:pPr lvl="2">
              <a:lnSpc>
                <a:spcPct val="110000"/>
              </a:lnSpc>
            </a:pPr>
            <a:r>
              <a:rPr lang="en-US" altLang="zh-TW" sz="1600">
                <a:cs typeface="Times New Roman" panose="02020603050405020304" pitchFamily="18" charset="0"/>
              </a:rPr>
              <a:t>Must include floorplan diagram and clock tree diagram</a:t>
            </a:r>
            <a:endParaRPr lang="en-US" altLang="zh-TW" sz="1600"/>
          </a:p>
          <a:p>
            <a:pPr lvl="2">
              <a:lnSpc>
                <a:spcPct val="110000"/>
              </a:lnSpc>
            </a:pPr>
            <a:r>
              <a:rPr lang="en-US" altLang="zh-TW" sz="1600" i="1">
                <a:solidFill>
                  <a:srgbClr val="000000"/>
                </a:solidFill>
                <a:latin typeface="Times New Roman" panose="02020603050405020304" pitchFamily="18" charset="0"/>
                <a:cs typeface="Times New Roman" panose="02020603050405020304" pitchFamily="18" charset="0"/>
              </a:rPr>
              <a:t>&lt;install_dir&gt;</a:t>
            </a:r>
            <a:r>
              <a:rPr lang="en-US" altLang="zh-TW" sz="1600">
                <a:solidFill>
                  <a:srgbClr val="000000"/>
                </a:solidFill>
                <a:latin typeface="Times New Roman" panose="02020603050405020304" pitchFamily="18" charset="0"/>
                <a:cs typeface="Times New Roman" panose="02020603050405020304" pitchFamily="18" charset="0"/>
              </a:rPr>
              <a:t>/demo/template/floorplan</a:t>
            </a:r>
            <a:r>
              <a:rPr lang="en-US" altLang="zh-TW" sz="1600"/>
              <a:t> </a:t>
            </a:r>
          </a:p>
          <a:p>
            <a:pPr lvl="2">
              <a:lnSpc>
                <a:spcPct val="110000"/>
              </a:lnSpc>
            </a:pPr>
            <a:r>
              <a:rPr lang="en-US" altLang="zh-TW" sz="1600" i="1">
                <a:solidFill>
                  <a:srgbClr val="000000"/>
                </a:solidFill>
                <a:latin typeface="Times New Roman" panose="02020603050405020304" pitchFamily="18" charset="0"/>
                <a:cs typeface="Times New Roman" panose="02020603050405020304" pitchFamily="18" charset="0"/>
              </a:rPr>
              <a:t>&lt;install_dir&gt;</a:t>
            </a:r>
            <a:r>
              <a:rPr lang="en-US" altLang="zh-TW" sz="1600">
                <a:solidFill>
                  <a:srgbClr val="000000"/>
                </a:solidFill>
                <a:latin typeface="Times New Roman" panose="02020603050405020304" pitchFamily="18" charset="0"/>
                <a:cs typeface="Times New Roman" panose="02020603050405020304" pitchFamily="18" charset="0"/>
              </a:rPr>
              <a:t>/demo/template/constraint</a:t>
            </a:r>
          </a:p>
          <a:p>
            <a:pPr lvl="2">
              <a:lnSpc>
                <a:spcPct val="110000"/>
              </a:lnSpc>
            </a:pPr>
            <a:r>
              <a:rPr lang="en-US" altLang="zh-TW" sz="1600"/>
              <a:t>The format is defined in Chapter 3.</a:t>
            </a:r>
          </a:p>
          <a:p>
            <a:pPr lvl="1">
              <a:lnSpc>
                <a:spcPct val="110000"/>
              </a:lnSpc>
            </a:pPr>
            <a:r>
              <a:rPr lang="en-US" altLang="zh-TW" sz="1600"/>
              <a:t>Timing Constraint File (Mandatory)</a:t>
            </a:r>
          </a:p>
          <a:p>
            <a:pPr lvl="2">
              <a:lnSpc>
                <a:spcPct val="110000"/>
              </a:lnSpc>
            </a:pPr>
            <a:r>
              <a:rPr lang="en-US" altLang="zh-TW" sz="1600"/>
              <a:t>One for APR timing optimization. One in each mode for STA.</a:t>
            </a:r>
          </a:p>
          <a:p>
            <a:pPr lvl="2">
              <a:lnSpc>
                <a:spcPct val="110000"/>
              </a:lnSpc>
            </a:pPr>
            <a:r>
              <a:rPr lang="en-US" altLang="zh-TW" sz="1600"/>
              <a:t>In *.sdc and *.wscr format</a:t>
            </a:r>
          </a:p>
          <a:p>
            <a:pPr lvl="2">
              <a:lnSpc>
                <a:spcPct val="110000"/>
              </a:lnSpc>
            </a:pPr>
            <a:r>
              <a:rPr lang="en-US" altLang="zh-TW" sz="1600"/>
              <a:t>Include clock definition, input/output delay, input transition, output load, and timing exceptions.</a:t>
            </a:r>
          </a:p>
          <a:p>
            <a:pPr lvl="1">
              <a:lnSpc>
                <a:spcPct val="110000"/>
              </a:lnSpc>
            </a:pPr>
            <a:endParaRPr lang="en-US" altLang="zh-TW" sz="1600"/>
          </a:p>
        </p:txBody>
      </p:sp>
      <p:sp>
        <p:nvSpPr>
          <p:cNvPr id="921603" name="Oval 3">
            <a:extLst>
              <a:ext uri="{FF2B5EF4-FFF2-40B4-BE49-F238E27FC236}">
                <a16:creationId xmlns:a16="http://schemas.microsoft.com/office/drawing/2014/main" id="{437E7355-D506-5294-63BC-DEBF00D14322}"/>
              </a:ext>
            </a:extLst>
          </p:cNvPr>
          <p:cNvSpPr>
            <a:spLocks noChangeArrowheads="1"/>
          </p:cNvSpPr>
          <p:nvPr/>
        </p:nvSpPr>
        <p:spPr bwMode="auto">
          <a:xfrm>
            <a:off x="6465888" y="1125538"/>
            <a:ext cx="609600" cy="533400"/>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zh-TW" sz="2800"/>
              <a:t> 1   </a:t>
            </a:r>
            <a:r>
              <a:rPr lang="en-US" altLang="zh-TW" sz="2000"/>
              <a:t>Customer-&gt;GUC</a:t>
            </a:r>
          </a:p>
        </p:txBody>
      </p:sp>
      <p:grpSp>
        <p:nvGrpSpPr>
          <p:cNvPr id="921604" name="Group 4">
            <a:extLst>
              <a:ext uri="{FF2B5EF4-FFF2-40B4-BE49-F238E27FC236}">
                <a16:creationId xmlns:a16="http://schemas.microsoft.com/office/drawing/2014/main" id="{34F5D901-2EBD-3DE0-1944-97BAC71EE617}"/>
              </a:ext>
            </a:extLst>
          </p:cNvPr>
          <p:cNvGrpSpPr>
            <a:grpSpLocks/>
          </p:cNvGrpSpPr>
          <p:nvPr/>
        </p:nvGrpSpPr>
        <p:grpSpPr bwMode="auto">
          <a:xfrm>
            <a:off x="2432050" y="5734050"/>
            <a:ext cx="5926138" cy="533400"/>
            <a:chOff x="-2" y="-2"/>
            <a:chExt cx="3733" cy="522"/>
          </a:xfrm>
        </p:grpSpPr>
        <p:grpSp>
          <p:nvGrpSpPr>
            <p:cNvPr id="921605" name="Group 5">
              <a:extLst>
                <a:ext uri="{FF2B5EF4-FFF2-40B4-BE49-F238E27FC236}">
                  <a16:creationId xmlns:a16="http://schemas.microsoft.com/office/drawing/2014/main" id="{C5659BC7-8106-C985-390A-6C6AB63515A3}"/>
                </a:ext>
              </a:extLst>
            </p:cNvPr>
            <p:cNvGrpSpPr>
              <a:grpSpLocks/>
            </p:cNvGrpSpPr>
            <p:nvPr/>
          </p:nvGrpSpPr>
          <p:grpSpPr bwMode="auto">
            <a:xfrm>
              <a:off x="0" y="0"/>
              <a:ext cx="3729" cy="518"/>
              <a:chOff x="0" y="0"/>
              <a:chExt cx="3729" cy="518"/>
            </a:xfrm>
          </p:grpSpPr>
          <p:sp>
            <p:nvSpPr>
              <p:cNvPr id="921606" name="Rectangle 6">
                <a:extLst>
                  <a:ext uri="{FF2B5EF4-FFF2-40B4-BE49-F238E27FC236}">
                    <a16:creationId xmlns:a16="http://schemas.microsoft.com/office/drawing/2014/main" id="{778ED8D1-E3D8-C75F-FCCA-271127EC6115}"/>
                  </a:ext>
                </a:extLst>
              </p:cNvPr>
              <p:cNvSpPr>
                <a:spLocks noChangeArrowheads="1"/>
              </p:cNvSpPr>
              <p:nvPr/>
            </p:nvSpPr>
            <p:spPr bwMode="auto">
              <a:xfrm>
                <a:off x="11" y="0"/>
                <a:ext cx="3707" cy="518"/>
              </a:xfrm>
              <a:prstGeom prst="rect">
                <a:avLst/>
              </a:prstGeom>
              <a:noFill/>
              <a:ln w="9525">
                <a:solidFill>
                  <a:srgbClr val="CC0000"/>
                </a:solidFill>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tabLst>
                    <a:tab pos="3381375" algn="l"/>
                  </a:tabLst>
                  <a:defRPr kumimoji="1" sz="2400">
                    <a:solidFill>
                      <a:schemeClr val="tx1"/>
                    </a:solidFill>
                    <a:latin typeface="Times New Roman" panose="02020603050405020304" pitchFamily="18" charset="0"/>
                    <a:ea typeface="新細明體" panose="02020500000000000000" pitchFamily="18" charset="-120"/>
                  </a:defRPr>
                </a:lvl1pPr>
                <a:lvl2pPr algn="l">
                  <a:tabLst>
                    <a:tab pos="3381375" algn="l"/>
                  </a:tabLst>
                  <a:defRPr kumimoji="1" sz="2400">
                    <a:solidFill>
                      <a:schemeClr val="tx1"/>
                    </a:solidFill>
                    <a:latin typeface="Times New Roman" panose="02020603050405020304" pitchFamily="18" charset="0"/>
                    <a:ea typeface="新細明體" panose="02020500000000000000" pitchFamily="18" charset="-120"/>
                  </a:defRPr>
                </a:lvl2pPr>
                <a:lvl3pPr algn="l">
                  <a:tabLst>
                    <a:tab pos="3381375" algn="l"/>
                  </a:tabLst>
                  <a:defRPr kumimoji="1" sz="2400">
                    <a:solidFill>
                      <a:schemeClr val="tx1"/>
                    </a:solidFill>
                    <a:latin typeface="Times New Roman" panose="02020603050405020304" pitchFamily="18" charset="0"/>
                    <a:ea typeface="新細明體" panose="02020500000000000000" pitchFamily="18" charset="-120"/>
                  </a:defRPr>
                </a:lvl3pPr>
                <a:lvl4pPr algn="l">
                  <a:tabLst>
                    <a:tab pos="3381375" algn="l"/>
                  </a:tabLst>
                  <a:defRPr kumimoji="1" sz="2400">
                    <a:solidFill>
                      <a:schemeClr val="tx1"/>
                    </a:solidFill>
                    <a:latin typeface="Times New Roman" panose="02020603050405020304" pitchFamily="18" charset="0"/>
                    <a:ea typeface="新細明體" panose="02020500000000000000" pitchFamily="18" charset="-120"/>
                  </a:defRPr>
                </a:lvl4pPr>
                <a:lvl5pPr algn="l">
                  <a:tabLst>
                    <a:tab pos="3381375" algn="l"/>
                  </a:tabLst>
                  <a:defRPr kumimoji="1" sz="2400">
                    <a:solidFill>
                      <a:schemeClr val="tx1"/>
                    </a:solidFill>
                    <a:latin typeface="Times New Roman" panose="02020603050405020304" pitchFamily="18" charset="0"/>
                    <a:ea typeface="新細明體" panose="02020500000000000000" pitchFamily="18" charset="-120"/>
                  </a:defRPr>
                </a:lvl5pPr>
                <a:lvl6pPr fontAlgn="base">
                  <a:spcBef>
                    <a:spcPct val="0"/>
                  </a:spcBef>
                  <a:spcAft>
                    <a:spcPct val="0"/>
                  </a:spcAft>
                  <a:tabLst>
                    <a:tab pos="3381375" algn="l"/>
                  </a:tabLst>
                  <a:defRPr kumimoji="1" sz="2400">
                    <a:solidFill>
                      <a:schemeClr val="tx1"/>
                    </a:solidFill>
                    <a:latin typeface="Times New Roman" panose="02020603050405020304" pitchFamily="18" charset="0"/>
                    <a:ea typeface="新細明體" panose="02020500000000000000" pitchFamily="18" charset="-120"/>
                  </a:defRPr>
                </a:lvl6pPr>
                <a:lvl7pPr fontAlgn="base">
                  <a:spcBef>
                    <a:spcPct val="0"/>
                  </a:spcBef>
                  <a:spcAft>
                    <a:spcPct val="0"/>
                  </a:spcAft>
                  <a:tabLst>
                    <a:tab pos="3381375" algn="l"/>
                  </a:tabLst>
                  <a:defRPr kumimoji="1" sz="2400">
                    <a:solidFill>
                      <a:schemeClr val="tx1"/>
                    </a:solidFill>
                    <a:latin typeface="Times New Roman" panose="02020603050405020304" pitchFamily="18" charset="0"/>
                    <a:ea typeface="新細明體" panose="02020500000000000000" pitchFamily="18" charset="-120"/>
                  </a:defRPr>
                </a:lvl7pPr>
                <a:lvl8pPr fontAlgn="base">
                  <a:spcBef>
                    <a:spcPct val="0"/>
                  </a:spcBef>
                  <a:spcAft>
                    <a:spcPct val="0"/>
                  </a:spcAft>
                  <a:tabLst>
                    <a:tab pos="3381375" algn="l"/>
                  </a:tabLst>
                  <a:defRPr kumimoji="1" sz="2400">
                    <a:solidFill>
                      <a:schemeClr val="tx1"/>
                    </a:solidFill>
                    <a:latin typeface="Times New Roman" panose="02020603050405020304" pitchFamily="18" charset="0"/>
                    <a:ea typeface="新細明體" panose="02020500000000000000" pitchFamily="18" charset="-120"/>
                  </a:defRPr>
                </a:lvl8pPr>
                <a:lvl9pPr fontAlgn="base">
                  <a:spcBef>
                    <a:spcPct val="0"/>
                  </a:spcBef>
                  <a:spcAft>
                    <a:spcPct val="0"/>
                  </a:spcAft>
                  <a:tabLst>
                    <a:tab pos="3381375" algn="l"/>
                  </a:tabLst>
                  <a:defRPr kumimoji="1" sz="2400">
                    <a:solidFill>
                      <a:schemeClr val="tx1"/>
                    </a:solidFill>
                    <a:latin typeface="Times New Roman" panose="02020603050405020304" pitchFamily="18" charset="0"/>
                    <a:ea typeface="新細明體" panose="02020500000000000000" pitchFamily="18" charset="-120"/>
                  </a:defRPr>
                </a:lvl9pPr>
              </a:lstStyle>
              <a:p>
                <a:pPr algn="just"/>
                <a:r>
                  <a:rPr lang="en-US" altLang="zh-TW" sz="1200">
                    <a:solidFill>
                      <a:srgbClr val="000000"/>
                    </a:solidFill>
                  </a:rPr>
                  <a:t>write_script –output &lt; Timing_Constraint_File.wscr &gt; </a:t>
                </a:r>
                <a:endParaRPr lang="en-US" altLang="zh-TW" sz="1200"/>
              </a:p>
              <a:p>
                <a:pPr algn="just" eaLnBrk="0" hangingPunct="0"/>
                <a:r>
                  <a:rPr lang="en-US" altLang="zh-TW" sz="1200">
                    <a:solidFill>
                      <a:srgbClr val="000000"/>
                    </a:solidFill>
                  </a:rPr>
                  <a:t>write_sdc &lt;Timing_Constraint_File.sdc&gt;</a:t>
                </a:r>
                <a:endParaRPr lang="en-US" altLang="zh-TW" sz="1200"/>
              </a:p>
              <a:p>
                <a:pPr algn="just" eaLnBrk="0" hangingPunct="0"/>
                <a:endParaRPr lang="en-US" altLang="zh-TW"/>
              </a:p>
            </p:txBody>
          </p:sp>
          <p:sp>
            <p:nvSpPr>
              <p:cNvPr id="921607" name="Rectangle 7">
                <a:extLst>
                  <a:ext uri="{FF2B5EF4-FFF2-40B4-BE49-F238E27FC236}">
                    <a16:creationId xmlns:a16="http://schemas.microsoft.com/office/drawing/2014/main" id="{387D2E04-5E9D-146A-4AF8-F11243447FDA}"/>
                  </a:ext>
                </a:extLst>
              </p:cNvPr>
              <p:cNvSpPr>
                <a:spLocks noChangeArrowheads="1"/>
              </p:cNvSpPr>
              <p:nvPr/>
            </p:nvSpPr>
            <p:spPr bwMode="auto">
              <a:xfrm>
                <a:off x="0" y="0"/>
                <a:ext cx="3729" cy="518"/>
              </a:xfrm>
              <a:prstGeom prst="rect">
                <a:avLst/>
              </a:prstGeom>
              <a:noFill/>
              <a:ln w="7">
                <a:solidFill>
                  <a:srgbClr val="CC0000"/>
                </a:solidFill>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921608" name="Rectangle 8">
              <a:extLst>
                <a:ext uri="{FF2B5EF4-FFF2-40B4-BE49-F238E27FC236}">
                  <a16:creationId xmlns:a16="http://schemas.microsoft.com/office/drawing/2014/main" id="{6DDE181A-184C-560F-74A4-E6B70FE72435}"/>
                </a:ext>
              </a:extLst>
            </p:cNvPr>
            <p:cNvSpPr>
              <a:spLocks noChangeArrowheads="1"/>
            </p:cNvSpPr>
            <p:nvPr/>
          </p:nvSpPr>
          <p:spPr bwMode="auto">
            <a:xfrm>
              <a:off x="-2" y="-2"/>
              <a:ext cx="3733" cy="522"/>
            </a:xfrm>
            <a:prstGeom prst="rect">
              <a:avLst/>
            </a:prstGeom>
            <a:noFill/>
            <a:ln w="7937">
              <a:solidFill>
                <a:srgbClr val="CC0000"/>
              </a:solidFill>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921609" name="Rectangle 9">
            <a:extLst>
              <a:ext uri="{FF2B5EF4-FFF2-40B4-BE49-F238E27FC236}">
                <a16:creationId xmlns:a16="http://schemas.microsoft.com/office/drawing/2014/main" id="{27124244-EB24-E8D7-75C8-780C9708BFCC}"/>
              </a:ext>
            </a:extLst>
          </p:cNvPr>
          <p:cNvSpPr>
            <a:spLocks noGrp="1" noChangeArrowheads="1"/>
          </p:cNvSpPr>
          <p:nvPr>
            <p:ph type="title"/>
          </p:nvPr>
        </p:nvSpPr>
        <p:spPr>
          <a:xfrm>
            <a:off x="415925" y="188913"/>
            <a:ext cx="8915400" cy="838200"/>
          </a:xfrm>
          <a:noFill/>
          <a:ln/>
        </p:spPr>
        <p:txBody>
          <a:bodyPr/>
          <a:lstStyle/>
          <a:p>
            <a:pPr>
              <a:lnSpc>
                <a:spcPct val="80000"/>
              </a:lnSpc>
            </a:pPr>
            <a:r>
              <a:rPr lang="en-US" altLang="zh-TW" sz="2800"/>
              <a:t>Hand-off data at Preliminary Design Handoff</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430EDD1F-47B8-9909-1A93-95B5C5014567}"/>
              </a:ext>
            </a:extLst>
          </p:cNvPr>
          <p:cNvSpPr>
            <a:spLocks noGrp="1"/>
          </p:cNvSpPr>
          <p:nvPr>
            <p:ph type="sldNum" sz="quarter" idx="10"/>
          </p:nvPr>
        </p:nvSpPr>
        <p:spPr/>
        <p:txBody>
          <a:bodyPr/>
          <a:lstStyle/>
          <a:p>
            <a:fld id="{EAA5CA54-7CCF-864A-973E-FDCF3FE762EA}" type="slidenum">
              <a:rPr lang="en-US" altLang="zh-TW"/>
              <a:pPr/>
              <a:t>7</a:t>
            </a:fld>
            <a:endParaRPr lang="en-US" altLang="zh-TW"/>
          </a:p>
        </p:txBody>
      </p:sp>
      <p:sp>
        <p:nvSpPr>
          <p:cNvPr id="922626" name="Rectangle 2">
            <a:extLst>
              <a:ext uri="{FF2B5EF4-FFF2-40B4-BE49-F238E27FC236}">
                <a16:creationId xmlns:a16="http://schemas.microsoft.com/office/drawing/2014/main" id="{4F156DDC-451D-9517-D822-2D9924635D13}"/>
              </a:ext>
            </a:extLst>
          </p:cNvPr>
          <p:cNvSpPr>
            <a:spLocks noGrp="1" noChangeArrowheads="1"/>
          </p:cNvSpPr>
          <p:nvPr>
            <p:ph type="body" idx="1"/>
          </p:nvPr>
        </p:nvSpPr>
        <p:spPr/>
        <p:txBody>
          <a:bodyPr/>
          <a:lstStyle/>
          <a:p>
            <a:r>
              <a:rPr lang="en-US" altLang="zh-TW" sz="1600"/>
              <a:t>Customer Deliverable</a:t>
            </a:r>
          </a:p>
          <a:p>
            <a:pPr lvl="1"/>
            <a:r>
              <a:rPr lang="en-US" altLang="zh-TW" sz="1600"/>
              <a:t>Ball Assignment Request (Optional)</a:t>
            </a:r>
          </a:p>
          <a:p>
            <a:pPr lvl="2"/>
            <a:r>
              <a:rPr lang="en-US" altLang="zh-TW" sz="1600">
                <a:solidFill>
                  <a:srgbClr val="000000"/>
                </a:solidFill>
                <a:cs typeface="Times New Roman" panose="02020603050405020304" pitchFamily="18" charset="0"/>
              </a:rPr>
              <a:t>special consideration on BGA package (for example, pin location)</a:t>
            </a:r>
          </a:p>
          <a:p>
            <a:pPr lvl="2"/>
            <a:r>
              <a:rPr lang="en-US" altLang="zh-TW" sz="1600"/>
              <a:t>Detail in </a:t>
            </a:r>
            <a:r>
              <a:rPr lang="en-US" altLang="zh-TW" sz="1600" b="1"/>
              <a:t>Design kit for ASIC Design Service – User’s Manual</a:t>
            </a:r>
            <a:r>
              <a:rPr lang="en-US" altLang="zh-TW" sz="1600"/>
              <a:t>, chapter “UPAD_ASSIGN”</a:t>
            </a:r>
          </a:p>
          <a:p>
            <a:pPr lvl="1"/>
            <a:r>
              <a:rPr lang="en-US" altLang="zh-TW" sz="1600"/>
              <a:t>ROM Code File (Mandatory)</a:t>
            </a:r>
          </a:p>
          <a:p>
            <a:pPr lvl="2"/>
            <a:r>
              <a:rPr lang="en-US" altLang="zh-TW" sz="1600" i="1">
                <a:solidFill>
                  <a:srgbClr val="000000"/>
                </a:solidFill>
                <a:latin typeface="Times New Roman" panose="02020603050405020304" pitchFamily="18" charset="0"/>
                <a:cs typeface="Times New Roman" panose="02020603050405020304" pitchFamily="18" charset="0"/>
              </a:rPr>
              <a:t>&lt;install_dir&gt;</a:t>
            </a:r>
            <a:r>
              <a:rPr lang="en-US" altLang="zh-TW" sz="1600">
                <a:solidFill>
                  <a:srgbClr val="000000"/>
                </a:solidFill>
                <a:latin typeface="Times New Roman" panose="02020603050405020304" pitchFamily="18" charset="0"/>
                <a:cs typeface="Times New Roman" panose="02020603050405020304" pitchFamily="18" charset="0"/>
              </a:rPr>
              <a:t>/demo/template/rom</a:t>
            </a:r>
            <a:r>
              <a:rPr lang="en-US" altLang="zh-TW" sz="1600"/>
              <a:t> </a:t>
            </a:r>
          </a:p>
          <a:p>
            <a:pPr lvl="2"/>
            <a:r>
              <a:rPr lang="en-US" altLang="zh-TW" sz="1600"/>
              <a:t>When the customer change the ROM code, it must be delivered again.</a:t>
            </a:r>
          </a:p>
          <a:p>
            <a:pPr lvl="1"/>
            <a:endParaRPr lang="en-US" altLang="zh-TW" sz="1600"/>
          </a:p>
        </p:txBody>
      </p:sp>
      <p:sp>
        <p:nvSpPr>
          <p:cNvPr id="922627" name="Oval 3">
            <a:extLst>
              <a:ext uri="{FF2B5EF4-FFF2-40B4-BE49-F238E27FC236}">
                <a16:creationId xmlns:a16="http://schemas.microsoft.com/office/drawing/2014/main" id="{2200E989-5AF8-125D-4CD4-C0A70932109B}"/>
              </a:ext>
            </a:extLst>
          </p:cNvPr>
          <p:cNvSpPr>
            <a:spLocks noChangeArrowheads="1"/>
          </p:cNvSpPr>
          <p:nvPr/>
        </p:nvSpPr>
        <p:spPr bwMode="auto">
          <a:xfrm>
            <a:off x="6537325" y="1125538"/>
            <a:ext cx="609600" cy="533400"/>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zh-TW" sz="2800"/>
              <a:t> 1   </a:t>
            </a:r>
            <a:r>
              <a:rPr lang="en-US" altLang="zh-TW" sz="2000"/>
              <a:t>Customer-&gt;GUC</a:t>
            </a:r>
          </a:p>
        </p:txBody>
      </p:sp>
      <p:sp>
        <p:nvSpPr>
          <p:cNvPr id="922628" name="Rectangle 4">
            <a:extLst>
              <a:ext uri="{FF2B5EF4-FFF2-40B4-BE49-F238E27FC236}">
                <a16:creationId xmlns:a16="http://schemas.microsoft.com/office/drawing/2014/main" id="{C727F5E6-7E6D-AEE8-197A-69D76B357434}"/>
              </a:ext>
            </a:extLst>
          </p:cNvPr>
          <p:cNvSpPr>
            <a:spLocks noGrp="1" noChangeArrowheads="1"/>
          </p:cNvSpPr>
          <p:nvPr>
            <p:ph type="title"/>
          </p:nvPr>
        </p:nvSpPr>
        <p:spPr>
          <a:xfrm>
            <a:off x="457200" y="152400"/>
            <a:ext cx="8915400" cy="838200"/>
          </a:xfrm>
          <a:noFill/>
          <a:ln/>
        </p:spPr>
        <p:txBody>
          <a:bodyPr/>
          <a:lstStyle/>
          <a:p>
            <a:pPr>
              <a:lnSpc>
                <a:spcPct val="80000"/>
              </a:lnSpc>
            </a:pPr>
            <a:r>
              <a:rPr lang="en-US" altLang="zh-TW" sz="2800"/>
              <a:t>Hand-off data at Preliminary Design Handoff</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3F293A31-5F9F-97B5-B5EB-296621CC5269}"/>
              </a:ext>
            </a:extLst>
          </p:cNvPr>
          <p:cNvSpPr>
            <a:spLocks noGrp="1"/>
          </p:cNvSpPr>
          <p:nvPr>
            <p:ph type="sldNum" sz="quarter" idx="10"/>
          </p:nvPr>
        </p:nvSpPr>
        <p:spPr/>
        <p:txBody>
          <a:bodyPr/>
          <a:lstStyle/>
          <a:p>
            <a:fld id="{471CDC0B-B2D7-7444-A642-52E8202BF586}" type="slidenum">
              <a:rPr lang="en-US" altLang="zh-TW"/>
              <a:pPr/>
              <a:t>8</a:t>
            </a:fld>
            <a:endParaRPr lang="en-US" altLang="zh-TW"/>
          </a:p>
        </p:txBody>
      </p:sp>
      <p:sp>
        <p:nvSpPr>
          <p:cNvPr id="923650" name="Rectangle 2">
            <a:extLst>
              <a:ext uri="{FF2B5EF4-FFF2-40B4-BE49-F238E27FC236}">
                <a16:creationId xmlns:a16="http://schemas.microsoft.com/office/drawing/2014/main" id="{B553DF78-08BD-3DC0-222B-45AB151CFB2F}"/>
              </a:ext>
            </a:extLst>
          </p:cNvPr>
          <p:cNvSpPr>
            <a:spLocks noGrp="1" noChangeArrowheads="1"/>
          </p:cNvSpPr>
          <p:nvPr>
            <p:ph type="title"/>
          </p:nvPr>
        </p:nvSpPr>
        <p:spPr>
          <a:xfrm>
            <a:off x="457200" y="152400"/>
            <a:ext cx="9144000" cy="838200"/>
          </a:xfrm>
        </p:spPr>
        <p:txBody>
          <a:bodyPr/>
          <a:lstStyle/>
          <a:p>
            <a:pPr>
              <a:lnSpc>
                <a:spcPct val="80000"/>
              </a:lnSpc>
            </a:pPr>
            <a:r>
              <a:rPr lang="en-US" altLang="zh-TW" sz="2800"/>
              <a:t>Data Release to Customer after Preliminary Physical Design</a:t>
            </a:r>
          </a:p>
        </p:txBody>
      </p:sp>
      <p:sp>
        <p:nvSpPr>
          <p:cNvPr id="923651" name="Rectangle 3">
            <a:extLst>
              <a:ext uri="{FF2B5EF4-FFF2-40B4-BE49-F238E27FC236}">
                <a16:creationId xmlns:a16="http://schemas.microsoft.com/office/drawing/2014/main" id="{6FADB387-E259-73FA-A62D-85734968E62A}"/>
              </a:ext>
            </a:extLst>
          </p:cNvPr>
          <p:cNvSpPr>
            <a:spLocks noGrp="1" noChangeArrowheads="1"/>
          </p:cNvSpPr>
          <p:nvPr>
            <p:ph type="body" idx="1"/>
          </p:nvPr>
        </p:nvSpPr>
        <p:spPr/>
        <p:txBody>
          <a:bodyPr/>
          <a:lstStyle/>
          <a:p>
            <a:r>
              <a:rPr lang="en-US" altLang="zh-TW" sz="1600"/>
              <a:t>GUC Deliverable</a:t>
            </a:r>
          </a:p>
          <a:p>
            <a:pPr lvl="1"/>
            <a:r>
              <a:rPr lang="en-US" altLang="zh-TW" sz="1600"/>
              <a:t>Custom Wire Load Model</a:t>
            </a:r>
          </a:p>
          <a:p>
            <a:pPr lvl="2"/>
            <a:r>
              <a:rPr lang="en-US" altLang="zh-TW" sz="1600"/>
              <a:t>For logic re-synthesis</a:t>
            </a:r>
          </a:p>
          <a:p>
            <a:pPr lvl="2"/>
            <a:r>
              <a:rPr lang="en-US" altLang="zh-TW" sz="1600"/>
              <a:t>One model for one physical group</a:t>
            </a:r>
          </a:p>
          <a:p>
            <a:pPr lvl="1"/>
            <a:r>
              <a:rPr lang="en-US" altLang="zh-TW" sz="1600"/>
              <a:t>A Design Compiler Script to Update the Custom Wire Load Model</a:t>
            </a:r>
          </a:p>
          <a:p>
            <a:pPr lvl="1"/>
            <a:r>
              <a:rPr lang="en-US" altLang="zh-TW" sz="1600"/>
              <a:t>Set Load File</a:t>
            </a:r>
          </a:p>
          <a:p>
            <a:pPr lvl="2"/>
            <a:r>
              <a:rPr lang="en-US" altLang="zh-TW" sz="1600"/>
              <a:t>For logic re-synthesis</a:t>
            </a:r>
          </a:p>
          <a:p>
            <a:pPr lvl="1"/>
            <a:r>
              <a:rPr lang="en-US" altLang="zh-TW" sz="1600"/>
              <a:t>Preliminary SDF File</a:t>
            </a:r>
          </a:p>
          <a:p>
            <a:pPr lvl="2"/>
            <a:r>
              <a:rPr lang="en-US" altLang="zh-TW" sz="1600"/>
              <a:t>Clock tree is ideal/propagated depend on try-run stage	</a:t>
            </a:r>
          </a:p>
        </p:txBody>
      </p:sp>
      <p:sp>
        <p:nvSpPr>
          <p:cNvPr id="923652" name="Oval 4">
            <a:extLst>
              <a:ext uri="{FF2B5EF4-FFF2-40B4-BE49-F238E27FC236}">
                <a16:creationId xmlns:a16="http://schemas.microsoft.com/office/drawing/2014/main" id="{8A2242D5-19C8-5A73-6186-FE91A2F24ECE}"/>
              </a:ext>
            </a:extLst>
          </p:cNvPr>
          <p:cNvSpPr>
            <a:spLocks noChangeArrowheads="1"/>
          </p:cNvSpPr>
          <p:nvPr/>
        </p:nvSpPr>
        <p:spPr bwMode="auto">
          <a:xfrm>
            <a:off x="6553200" y="1143000"/>
            <a:ext cx="609600" cy="533400"/>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zh-TW" sz="2800"/>
              <a:t> 2   </a:t>
            </a:r>
            <a:r>
              <a:rPr lang="en-US" altLang="zh-TW" sz="2000"/>
              <a:t>GUC-&gt;Customer</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1A6F0114-0096-5B57-856F-D3F15C6D3F11}"/>
              </a:ext>
            </a:extLst>
          </p:cNvPr>
          <p:cNvSpPr>
            <a:spLocks noGrp="1"/>
          </p:cNvSpPr>
          <p:nvPr>
            <p:ph type="sldNum" sz="quarter" idx="10"/>
          </p:nvPr>
        </p:nvSpPr>
        <p:spPr/>
        <p:txBody>
          <a:bodyPr/>
          <a:lstStyle/>
          <a:p>
            <a:fld id="{CF413AA5-5F86-2049-86CD-9F06D7921093}" type="slidenum">
              <a:rPr lang="en-US" altLang="zh-TW"/>
              <a:pPr/>
              <a:t>9</a:t>
            </a:fld>
            <a:endParaRPr lang="en-US" altLang="zh-TW"/>
          </a:p>
        </p:txBody>
      </p:sp>
      <p:sp>
        <p:nvSpPr>
          <p:cNvPr id="924674" name="Rectangle 2">
            <a:extLst>
              <a:ext uri="{FF2B5EF4-FFF2-40B4-BE49-F238E27FC236}">
                <a16:creationId xmlns:a16="http://schemas.microsoft.com/office/drawing/2014/main" id="{8FE5EC16-B221-0F2A-4545-1B229A51B7DB}"/>
              </a:ext>
            </a:extLst>
          </p:cNvPr>
          <p:cNvSpPr>
            <a:spLocks noGrp="1" noChangeArrowheads="1"/>
          </p:cNvSpPr>
          <p:nvPr>
            <p:ph type="title"/>
          </p:nvPr>
        </p:nvSpPr>
        <p:spPr>
          <a:xfrm>
            <a:off x="415925" y="260350"/>
            <a:ext cx="8610600" cy="838200"/>
          </a:xfrm>
        </p:spPr>
        <p:txBody>
          <a:bodyPr/>
          <a:lstStyle/>
          <a:p>
            <a:pPr>
              <a:lnSpc>
                <a:spcPct val="80000"/>
              </a:lnSpc>
            </a:pPr>
            <a:r>
              <a:rPr lang="en-US" altLang="zh-TW" sz="2800"/>
              <a:t>Hand-off Data at Final Design Handoff</a:t>
            </a:r>
          </a:p>
        </p:txBody>
      </p:sp>
      <p:sp>
        <p:nvSpPr>
          <p:cNvPr id="924675" name="Rectangle 3">
            <a:extLst>
              <a:ext uri="{FF2B5EF4-FFF2-40B4-BE49-F238E27FC236}">
                <a16:creationId xmlns:a16="http://schemas.microsoft.com/office/drawing/2014/main" id="{5626F9D4-3122-1FFF-ADCF-614B0691792C}"/>
              </a:ext>
            </a:extLst>
          </p:cNvPr>
          <p:cNvSpPr>
            <a:spLocks noGrp="1" noChangeArrowheads="1"/>
          </p:cNvSpPr>
          <p:nvPr>
            <p:ph type="body" idx="1"/>
          </p:nvPr>
        </p:nvSpPr>
        <p:spPr/>
        <p:txBody>
          <a:bodyPr/>
          <a:lstStyle/>
          <a:p>
            <a:pPr>
              <a:lnSpc>
                <a:spcPct val="110000"/>
              </a:lnSpc>
            </a:pPr>
            <a:r>
              <a:rPr lang="en-US" altLang="zh-TW" sz="1600"/>
              <a:t>Customer Deliverable</a:t>
            </a:r>
          </a:p>
          <a:p>
            <a:pPr lvl="1">
              <a:lnSpc>
                <a:spcPct val="110000"/>
              </a:lnSpc>
            </a:pPr>
            <a:r>
              <a:rPr lang="en-US" altLang="zh-TW" sz="1600"/>
              <a:t>Final Netlist (Mandatory)</a:t>
            </a:r>
          </a:p>
          <a:p>
            <a:pPr lvl="2">
              <a:lnSpc>
                <a:spcPct val="110000"/>
              </a:lnSpc>
            </a:pPr>
            <a:r>
              <a:rPr lang="en-US" altLang="zh-TW" sz="1600"/>
              <a:t>In Verilog format.</a:t>
            </a:r>
          </a:p>
          <a:p>
            <a:pPr lvl="2">
              <a:lnSpc>
                <a:spcPct val="110000"/>
              </a:lnSpc>
            </a:pPr>
            <a:r>
              <a:rPr lang="en-US" altLang="zh-TW" sz="1600"/>
              <a:t>Must be validated by uns.</a:t>
            </a:r>
          </a:p>
          <a:p>
            <a:pPr lvl="2">
              <a:lnSpc>
                <a:spcPct val="110000"/>
              </a:lnSpc>
            </a:pPr>
            <a:r>
              <a:rPr lang="en-US" altLang="zh-TW" sz="1600"/>
              <a:t>Both function and timing must be frozen.</a:t>
            </a:r>
          </a:p>
          <a:p>
            <a:pPr lvl="2">
              <a:lnSpc>
                <a:spcPct val="110000"/>
              </a:lnSpc>
            </a:pPr>
            <a:r>
              <a:rPr lang="en-US" altLang="zh-TW" sz="1600"/>
              <a:t>Naming-clean (script to generate naming-clean netlist: </a:t>
            </a:r>
            <a:r>
              <a:rPr lang="en-US" altLang="zh-TW" sz="1600" i="1">
                <a:solidFill>
                  <a:srgbClr val="000000"/>
                </a:solidFill>
                <a:latin typeface="Times New Roman" panose="02020603050405020304" pitchFamily="18" charset="0"/>
                <a:cs typeface="Times New Roman" panose="02020603050405020304" pitchFamily="18" charset="0"/>
              </a:rPr>
              <a:t>&lt;install_dir&gt;</a:t>
            </a:r>
            <a:r>
              <a:rPr lang="en-US" altLang="zh-TW" sz="1600">
                <a:solidFill>
                  <a:srgbClr val="000000"/>
                </a:solidFill>
                <a:latin typeface="Times New Roman" panose="02020603050405020304" pitchFamily="18" charset="0"/>
                <a:cs typeface="Times New Roman" panose="02020603050405020304" pitchFamily="18" charset="0"/>
              </a:rPr>
              <a:t>/script/dc</a:t>
            </a:r>
            <a:r>
              <a:rPr lang="en-US" altLang="zh-TW" sz="1600"/>
              <a:t> )</a:t>
            </a:r>
          </a:p>
          <a:p>
            <a:pPr lvl="2">
              <a:lnSpc>
                <a:spcPct val="110000"/>
              </a:lnSpc>
            </a:pPr>
            <a:r>
              <a:rPr lang="en-US" altLang="zh-TW" sz="1600"/>
              <a:t>Assign: </a:t>
            </a:r>
            <a:r>
              <a:rPr lang="en-US" altLang="zh-TW" sz="1600">
                <a:solidFill>
                  <a:srgbClr val="000000"/>
                </a:solidFill>
                <a:cs typeface="Times New Roman" panose="02020603050405020304" pitchFamily="18" charset="0"/>
              </a:rPr>
              <a:t>Customer must use uns to replace it by buffer and run pre-layout simulation before submitting to UniChip.</a:t>
            </a:r>
            <a:endParaRPr lang="en-US" altLang="zh-TW" sz="1600"/>
          </a:p>
          <a:p>
            <a:pPr lvl="1">
              <a:lnSpc>
                <a:spcPct val="110000"/>
              </a:lnSpc>
            </a:pPr>
            <a:r>
              <a:rPr lang="en-US" altLang="zh-TW" sz="1600"/>
              <a:t>Spare Cell List (Mandatory)</a:t>
            </a:r>
          </a:p>
          <a:p>
            <a:pPr lvl="2">
              <a:lnSpc>
                <a:spcPct val="110000"/>
              </a:lnSpc>
            </a:pPr>
            <a:r>
              <a:rPr lang="en-US" altLang="zh-TW" sz="1600"/>
              <a:t>Format is defined in “GUC Spare Cell Insertion Guide”</a:t>
            </a:r>
          </a:p>
          <a:p>
            <a:pPr lvl="1">
              <a:lnSpc>
                <a:spcPct val="110000"/>
              </a:lnSpc>
            </a:pPr>
            <a:endParaRPr lang="en-US" altLang="zh-TW" sz="1600"/>
          </a:p>
        </p:txBody>
      </p:sp>
      <p:sp>
        <p:nvSpPr>
          <p:cNvPr id="924676" name="Oval 4">
            <a:extLst>
              <a:ext uri="{FF2B5EF4-FFF2-40B4-BE49-F238E27FC236}">
                <a16:creationId xmlns:a16="http://schemas.microsoft.com/office/drawing/2014/main" id="{187AFACA-D624-689E-12BD-388538391FA0}"/>
              </a:ext>
            </a:extLst>
          </p:cNvPr>
          <p:cNvSpPr>
            <a:spLocks noChangeArrowheads="1"/>
          </p:cNvSpPr>
          <p:nvPr/>
        </p:nvSpPr>
        <p:spPr bwMode="auto">
          <a:xfrm>
            <a:off x="6321425" y="1125538"/>
            <a:ext cx="609600" cy="533400"/>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zh-TW" sz="2800"/>
              <a:t> 3   </a:t>
            </a:r>
            <a:r>
              <a:rPr lang="en-US" altLang="zh-TW" sz="2000"/>
              <a:t>Customer-&gt;GUC</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DB3BC81B-88D3-C535-9DD4-7FAA76F86255}"/>
              </a:ext>
            </a:extLst>
          </p:cNvPr>
          <p:cNvSpPr>
            <a:spLocks noGrp="1"/>
          </p:cNvSpPr>
          <p:nvPr>
            <p:ph type="sldNum" sz="quarter" idx="10"/>
          </p:nvPr>
        </p:nvSpPr>
        <p:spPr/>
        <p:txBody>
          <a:bodyPr/>
          <a:lstStyle/>
          <a:p>
            <a:fld id="{528D3452-4E2E-504B-9AE5-CD9D9C997948}" type="slidenum">
              <a:rPr lang="en-US" altLang="zh-TW"/>
              <a:pPr/>
              <a:t>10</a:t>
            </a:fld>
            <a:endParaRPr lang="en-US" altLang="zh-TW"/>
          </a:p>
        </p:txBody>
      </p:sp>
      <p:sp>
        <p:nvSpPr>
          <p:cNvPr id="925698" name="Rectangle 2">
            <a:extLst>
              <a:ext uri="{FF2B5EF4-FFF2-40B4-BE49-F238E27FC236}">
                <a16:creationId xmlns:a16="http://schemas.microsoft.com/office/drawing/2014/main" id="{E4E82DFB-E827-DD72-1770-8A924C3F00C0}"/>
              </a:ext>
            </a:extLst>
          </p:cNvPr>
          <p:cNvSpPr>
            <a:spLocks noGrp="1" noChangeArrowheads="1"/>
          </p:cNvSpPr>
          <p:nvPr>
            <p:ph type="body" idx="1"/>
          </p:nvPr>
        </p:nvSpPr>
        <p:spPr/>
        <p:txBody>
          <a:bodyPr/>
          <a:lstStyle/>
          <a:p>
            <a:pPr>
              <a:lnSpc>
                <a:spcPct val="110000"/>
              </a:lnSpc>
            </a:pPr>
            <a:r>
              <a:rPr lang="en-US" altLang="zh-TW" sz="1600"/>
              <a:t>Customer Deliverable</a:t>
            </a:r>
          </a:p>
          <a:p>
            <a:pPr lvl="1">
              <a:lnSpc>
                <a:spcPct val="110000"/>
              </a:lnSpc>
            </a:pPr>
            <a:r>
              <a:rPr lang="en-US" altLang="zh-TW" sz="1600"/>
              <a:t>Complete Pin Sequence File (Mandatory)</a:t>
            </a:r>
          </a:p>
          <a:p>
            <a:pPr lvl="2">
              <a:lnSpc>
                <a:spcPct val="110000"/>
              </a:lnSpc>
            </a:pPr>
            <a:r>
              <a:rPr lang="en-US" altLang="zh-TW" sz="1600"/>
              <a:t>Format is defined in Chapter 5.</a:t>
            </a:r>
          </a:p>
          <a:p>
            <a:pPr lvl="1">
              <a:lnSpc>
                <a:spcPct val="110000"/>
              </a:lnSpc>
            </a:pPr>
            <a:r>
              <a:rPr lang="en-US" altLang="zh-TW" sz="1600"/>
              <a:t>Layout Constraint File (Mandatory)</a:t>
            </a:r>
          </a:p>
          <a:p>
            <a:pPr lvl="2">
              <a:lnSpc>
                <a:spcPct val="110000"/>
              </a:lnSpc>
            </a:pPr>
            <a:r>
              <a:rPr lang="en-US" altLang="zh-TW" sz="1600"/>
              <a:t>Format is defined in Chapter 3.</a:t>
            </a:r>
          </a:p>
          <a:p>
            <a:pPr lvl="2">
              <a:lnSpc>
                <a:spcPct val="110000"/>
              </a:lnSpc>
            </a:pPr>
            <a:r>
              <a:rPr lang="en-US" altLang="zh-TW" sz="1600" i="1">
                <a:solidFill>
                  <a:srgbClr val="000000"/>
                </a:solidFill>
                <a:latin typeface="Times New Roman" panose="02020603050405020304" pitchFamily="18" charset="0"/>
                <a:cs typeface="Times New Roman" panose="02020603050405020304" pitchFamily="18" charset="0"/>
              </a:rPr>
              <a:t>&lt;install_dir&gt;</a:t>
            </a:r>
            <a:r>
              <a:rPr lang="en-US" altLang="zh-TW" sz="1600">
                <a:solidFill>
                  <a:srgbClr val="000000"/>
                </a:solidFill>
                <a:latin typeface="Times New Roman" panose="02020603050405020304" pitchFamily="18" charset="0"/>
                <a:cs typeface="Times New Roman" panose="02020603050405020304" pitchFamily="18" charset="0"/>
              </a:rPr>
              <a:t>/demo/template/floorplan</a:t>
            </a:r>
            <a:r>
              <a:rPr lang="en-US" altLang="zh-TW" sz="1600"/>
              <a:t> </a:t>
            </a:r>
          </a:p>
          <a:p>
            <a:pPr lvl="2">
              <a:lnSpc>
                <a:spcPct val="110000"/>
              </a:lnSpc>
            </a:pPr>
            <a:r>
              <a:rPr lang="en-US" altLang="zh-TW" sz="1600" i="1">
                <a:solidFill>
                  <a:srgbClr val="000000"/>
                </a:solidFill>
                <a:latin typeface="Times New Roman" panose="02020603050405020304" pitchFamily="18" charset="0"/>
                <a:cs typeface="Times New Roman" panose="02020603050405020304" pitchFamily="18" charset="0"/>
              </a:rPr>
              <a:t>&lt;install_dir&gt;</a:t>
            </a:r>
            <a:r>
              <a:rPr lang="en-US" altLang="zh-TW" sz="1600">
                <a:solidFill>
                  <a:srgbClr val="000000"/>
                </a:solidFill>
                <a:latin typeface="Times New Roman" panose="02020603050405020304" pitchFamily="18" charset="0"/>
                <a:cs typeface="Times New Roman" panose="02020603050405020304" pitchFamily="18" charset="0"/>
              </a:rPr>
              <a:t>/demo/template/constraint</a:t>
            </a:r>
          </a:p>
          <a:p>
            <a:pPr lvl="1">
              <a:lnSpc>
                <a:spcPct val="110000"/>
              </a:lnSpc>
            </a:pPr>
            <a:r>
              <a:rPr lang="en-US" altLang="zh-TW" sz="1600"/>
              <a:t>Complete Timing Constraint File (Mandatory)</a:t>
            </a:r>
          </a:p>
          <a:p>
            <a:pPr lvl="2">
              <a:lnSpc>
                <a:spcPct val="110000"/>
              </a:lnSpc>
            </a:pPr>
            <a:r>
              <a:rPr lang="en-US" altLang="zh-TW" sz="1600"/>
              <a:t>In *.sdc and *.wscr format</a:t>
            </a:r>
          </a:p>
          <a:p>
            <a:pPr lvl="2">
              <a:lnSpc>
                <a:spcPct val="110000"/>
              </a:lnSpc>
            </a:pPr>
            <a:endParaRPr lang="en-US" altLang="zh-TW" sz="1600"/>
          </a:p>
          <a:p>
            <a:pPr lvl="2">
              <a:lnSpc>
                <a:spcPct val="110000"/>
              </a:lnSpc>
            </a:pPr>
            <a:endParaRPr lang="en-US" altLang="zh-TW" sz="1600"/>
          </a:p>
          <a:p>
            <a:pPr lvl="2">
              <a:lnSpc>
                <a:spcPct val="110000"/>
              </a:lnSpc>
            </a:pPr>
            <a:endParaRPr lang="en-US" altLang="zh-TW" sz="1600"/>
          </a:p>
        </p:txBody>
      </p:sp>
      <p:sp>
        <p:nvSpPr>
          <p:cNvPr id="925699" name="Oval 3">
            <a:extLst>
              <a:ext uri="{FF2B5EF4-FFF2-40B4-BE49-F238E27FC236}">
                <a16:creationId xmlns:a16="http://schemas.microsoft.com/office/drawing/2014/main" id="{1BA6B9D9-3172-B128-9DAD-E21982A38F32}"/>
              </a:ext>
            </a:extLst>
          </p:cNvPr>
          <p:cNvSpPr>
            <a:spLocks noChangeArrowheads="1"/>
          </p:cNvSpPr>
          <p:nvPr/>
        </p:nvSpPr>
        <p:spPr bwMode="auto">
          <a:xfrm>
            <a:off x="6629400" y="1219200"/>
            <a:ext cx="609600" cy="533400"/>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zh-TW" sz="2800"/>
              <a:t> 3   </a:t>
            </a:r>
            <a:r>
              <a:rPr lang="en-US" altLang="zh-TW" sz="2000"/>
              <a:t>Customer-&gt;GUC</a:t>
            </a:r>
          </a:p>
        </p:txBody>
      </p:sp>
      <p:grpSp>
        <p:nvGrpSpPr>
          <p:cNvPr id="925700" name="Group 4">
            <a:extLst>
              <a:ext uri="{FF2B5EF4-FFF2-40B4-BE49-F238E27FC236}">
                <a16:creationId xmlns:a16="http://schemas.microsoft.com/office/drawing/2014/main" id="{0CCAB50A-F146-9665-8BB2-EA68A627EE37}"/>
              </a:ext>
            </a:extLst>
          </p:cNvPr>
          <p:cNvGrpSpPr>
            <a:grpSpLocks/>
          </p:cNvGrpSpPr>
          <p:nvPr/>
        </p:nvGrpSpPr>
        <p:grpSpPr bwMode="auto">
          <a:xfrm>
            <a:off x="2432050" y="5157788"/>
            <a:ext cx="5926138" cy="533400"/>
            <a:chOff x="-2" y="-2"/>
            <a:chExt cx="3733" cy="522"/>
          </a:xfrm>
        </p:grpSpPr>
        <p:grpSp>
          <p:nvGrpSpPr>
            <p:cNvPr id="925701" name="Group 5">
              <a:extLst>
                <a:ext uri="{FF2B5EF4-FFF2-40B4-BE49-F238E27FC236}">
                  <a16:creationId xmlns:a16="http://schemas.microsoft.com/office/drawing/2014/main" id="{E97EA120-4473-BE0A-A381-64DB5A7AFEDC}"/>
                </a:ext>
              </a:extLst>
            </p:cNvPr>
            <p:cNvGrpSpPr>
              <a:grpSpLocks/>
            </p:cNvGrpSpPr>
            <p:nvPr/>
          </p:nvGrpSpPr>
          <p:grpSpPr bwMode="auto">
            <a:xfrm>
              <a:off x="0" y="0"/>
              <a:ext cx="3729" cy="518"/>
              <a:chOff x="0" y="0"/>
              <a:chExt cx="3729" cy="518"/>
            </a:xfrm>
          </p:grpSpPr>
          <p:sp>
            <p:nvSpPr>
              <p:cNvPr id="925702" name="Rectangle 6">
                <a:extLst>
                  <a:ext uri="{FF2B5EF4-FFF2-40B4-BE49-F238E27FC236}">
                    <a16:creationId xmlns:a16="http://schemas.microsoft.com/office/drawing/2014/main" id="{FF4A008E-A219-BCEE-3747-7A67C9B0C9B9}"/>
                  </a:ext>
                </a:extLst>
              </p:cNvPr>
              <p:cNvSpPr>
                <a:spLocks noChangeArrowheads="1"/>
              </p:cNvSpPr>
              <p:nvPr/>
            </p:nvSpPr>
            <p:spPr bwMode="auto">
              <a:xfrm>
                <a:off x="11" y="0"/>
                <a:ext cx="3707" cy="518"/>
              </a:xfrm>
              <a:prstGeom prst="rect">
                <a:avLst/>
              </a:prstGeom>
              <a:noFill/>
              <a:ln w="9525">
                <a:solidFill>
                  <a:srgbClr val="CC0000"/>
                </a:solidFill>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tabLst>
                    <a:tab pos="3381375" algn="l"/>
                  </a:tabLst>
                  <a:defRPr kumimoji="1" sz="2400">
                    <a:solidFill>
                      <a:schemeClr val="tx1"/>
                    </a:solidFill>
                    <a:latin typeface="Times New Roman" panose="02020603050405020304" pitchFamily="18" charset="0"/>
                    <a:ea typeface="新細明體" panose="02020500000000000000" pitchFamily="18" charset="-120"/>
                  </a:defRPr>
                </a:lvl1pPr>
                <a:lvl2pPr algn="l">
                  <a:tabLst>
                    <a:tab pos="3381375" algn="l"/>
                  </a:tabLst>
                  <a:defRPr kumimoji="1" sz="2400">
                    <a:solidFill>
                      <a:schemeClr val="tx1"/>
                    </a:solidFill>
                    <a:latin typeface="Times New Roman" panose="02020603050405020304" pitchFamily="18" charset="0"/>
                    <a:ea typeface="新細明體" panose="02020500000000000000" pitchFamily="18" charset="-120"/>
                  </a:defRPr>
                </a:lvl2pPr>
                <a:lvl3pPr algn="l">
                  <a:tabLst>
                    <a:tab pos="3381375" algn="l"/>
                  </a:tabLst>
                  <a:defRPr kumimoji="1" sz="2400">
                    <a:solidFill>
                      <a:schemeClr val="tx1"/>
                    </a:solidFill>
                    <a:latin typeface="Times New Roman" panose="02020603050405020304" pitchFamily="18" charset="0"/>
                    <a:ea typeface="新細明體" panose="02020500000000000000" pitchFamily="18" charset="-120"/>
                  </a:defRPr>
                </a:lvl3pPr>
                <a:lvl4pPr algn="l">
                  <a:tabLst>
                    <a:tab pos="3381375" algn="l"/>
                  </a:tabLst>
                  <a:defRPr kumimoji="1" sz="2400">
                    <a:solidFill>
                      <a:schemeClr val="tx1"/>
                    </a:solidFill>
                    <a:latin typeface="Times New Roman" panose="02020603050405020304" pitchFamily="18" charset="0"/>
                    <a:ea typeface="新細明體" panose="02020500000000000000" pitchFamily="18" charset="-120"/>
                  </a:defRPr>
                </a:lvl4pPr>
                <a:lvl5pPr algn="l">
                  <a:tabLst>
                    <a:tab pos="3381375" algn="l"/>
                  </a:tabLst>
                  <a:defRPr kumimoji="1" sz="2400">
                    <a:solidFill>
                      <a:schemeClr val="tx1"/>
                    </a:solidFill>
                    <a:latin typeface="Times New Roman" panose="02020603050405020304" pitchFamily="18" charset="0"/>
                    <a:ea typeface="新細明體" panose="02020500000000000000" pitchFamily="18" charset="-120"/>
                  </a:defRPr>
                </a:lvl5pPr>
                <a:lvl6pPr fontAlgn="base">
                  <a:spcBef>
                    <a:spcPct val="0"/>
                  </a:spcBef>
                  <a:spcAft>
                    <a:spcPct val="0"/>
                  </a:spcAft>
                  <a:tabLst>
                    <a:tab pos="3381375" algn="l"/>
                  </a:tabLst>
                  <a:defRPr kumimoji="1" sz="2400">
                    <a:solidFill>
                      <a:schemeClr val="tx1"/>
                    </a:solidFill>
                    <a:latin typeface="Times New Roman" panose="02020603050405020304" pitchFamily="18" charset="0"/>
                    <a:ea typeface="新細明體" panose="02020500000000000000" pitchFamily="18" charset="-120"/>
                  </a:defRPr>
                </a:lvl6pPr>
                <a:lvl7pPr fontAlgn="base">
                  <a:spcBef>
                    <a:spcPct val="0"/>
                  </a:spcBef>
                  <a:spcAft>
                    <a:spcPct val="0"/>
                  </a:spcAft>
                  <a:tabLst>
                    <a:tab pos="3381375" algn="l"/>
                  </a:tabLst>
                  <a:defRPr kumimoji="1" sz="2400">
                    <a:solidFill>
                      <a:schemeClr val="tx1"/>
                    </a:solidFill>
                    <a:latin typeface="Times New Roman" panose="02020603050405020304" pitchFamily="18" charset="0"/>
                    <a:ea typeface="新細明體" panose="02020500000000000000" pitchFamily="18" charset="-120"/>
                  </a:defRPr>
                </a:lvl7pPr>
                <a:lvl8pPr fontAlgn="base">
                  <a:spcBef>
                    <a:spcPct val="0"/>
                  </a:spcBef>
                  <a:spcAft>
                    <a:spcPct val="0"/>
                  </a:spcAft>
                  <a:tabLst>
                    <a:tab pos="3381375" algn="l"/>
                  </a:tabLst>
                  <a:defRPr kumimoji="1" sz="2400">
                    <a:solidFill>
                      <a:schemeClr val="tx1"/>
                    </a:solidFill>
                    <a:latin typeface="Times New Roman" panose="02020603050405020304" pitchFamily="18" charset="0"/>
                    <a:ea typeface="新細明體" panose="02020500000000000000" pitchFamily="18" charset="-120"/>
                  </a:defRPr>
                </a:lvl8pPr>
                <a:lvl9pPr fontAlgn="base">
                  <a:spcBef>
                    <a:spcPct val="0"/>
                  </a:spcBef>
                  <a:spcAft>
                    <a:spcPct val="0"/>
                  </a:spcAft>
                  <a:tabLst>
                    <a:tab pos="3381375" algn="l"/>
                  </a:tabLst>
                  <a:defRPr kumimoji="1" sz="2400">
                    <a:solidFill>
                      <a:schemeClr val="tx1"/>
                    </a:solidFill>
                    <a:latin typeface="Times New Roman" panose="02020603050405020304" pitchFamily="18" charset="0"/>
                    <a:ea typeface="新細明體" panose="02020500000000000000" pitchFamily="18" charset="-120"/>
                  </a:defRPr>
                </a:lvl9pPr>
              </a:lstStyle>
              <a:p>
                <a:pPr algn="just"/>
                <a:r>
                  <a:rPr lang="en-US" altLang="zh-TW" sz="1200">
                    <a:solidFill>
                      <a:srgbClr val="000000"/>
                    </a:solidFill>
                  </a:rPr>
                  <a:t>write_script –output &lt; Timing_Constraint_File.wscr &gt; </a:t>
                </a:r>
                <a:endParaRPr lang="en-US" altLang="zh-TW" sz="1200"/>
              </a:p>
              <a:p>
                <a:pPr algn="just" eaLnBrk="0" hangingPunct="0"/>
                <a:r>
                  <a:rPr lang="en-US" altLang="zh-TW" sz="1200">
                    <a:solidFill>
                      <a:srgbClr val="000000"/>
                    </a:solidFill>
                  </a:rPr>
                  <a:t>write_sdc &lt;Timing_Constraint_File.sdc&gt;</a:t>
                </a:r>
                <a:endParaRPr lang="en-US" altLang="zh-TW" sz="1200"/>
              </a:p>
              <a:p>
                <a:pPr algn="just" eaLnBrk="0" hangingPunct="0"/>
                <a:endParaRPr lang="en-US" altLang="zh-TW"/>
              </a:p>
            </p:txBody>
          </p:sp>
          <p:sp>
            <p:nvSpPr>
              <p:cNvPr id="925703" name="Rectangle 7">
                <a:extLst>
                  <a:ext uri="{FF2B5EF4-FFF2-40B4-BE49-F238E27FC236}">
                    <a16:creationId xmlns:a16="http://schemas.microsoft.com/office/drawing/2014/main" id="{DE8C50D3-AAE4-5DE1-E9A6-21AC40E28494}"/>
                  </a:ext>
                </a:extLst>
              </p:cNvPr>
              <p:cNvSpPr>
                <a:spLocks noChangeArrowheads="1"/>
              </p:cNvSpPr>
              <p:nvPr/>
            </p:nvSpPr>
            <p:spPr bwMode="auto">
              <a:xfrm>
                <a:off x="0" y="0"/>
                <a:ext cx="3729" cy="518"/>
              </a:xfrm>
              <a:prstGeom prst="rect">
                <a:avLst/>
              </a:prstGeom>
              <a:noFill/>
              <a:ln w="7">
                <a:solidFill>
                  <a:srgbClr val="CC0000"/>
                </a:solidFill>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925704" name="Rectangle 8">
              <a:extLst>
                <a:ext uri="{FF2B5EF4-FFF2-40B4-BE49-F238E27FC236}">
                  <a16:creationId xmlns:a16="http://schemas.microsoft.com/office/drawing/2014/main" id="{6DA13A18-0B52-47D0-7792-8ADEBFFF471A}"/>
                </a:ext>
              </a:extLst>
            </p:cNvPr>
            <p:cNvSpPr>
              <a:spLocks noChangeArrowheads="1"/>
            </p:cNvSpPr>
            <p:nvPr/>
          </p:nvSpPr>
          <p:spPr bwMode="auto">
            <a:xfrm>
              <a:off x="-2" y="-2"/>
              <a:ext cx="3733" cy="522"/>
            </a:xfrm>
            <a:prstGeom prst="rect">
              <a:avLst/>
            </a:prstGeom>
            <a:noFill/>
            <a:ln w="7937">
              <a:solidFill>
                <a:srgbClr val="CC0000"/>
              </a:solidFill>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925705" name="Rectangle 9">
            <a:extLst>
              <a:ext uri="{FF2B5EF4-FFF2-40B4-BE49-F238E27FC236}">
                <a16:creationId xmlns:a16="http://schemas.microsoft.com/office/drawing/2014/main" id="{A46F8320-A164-4A1C-411A-7A67D4F13FC6}"/>
              </a:ext>
            </a:extLst>
          </p:cNvPr>
          <p:cNvSpPr>
            <a:spLocks noGrp="1" noChangeArrowheads="1"/>
          </p:cNvSpPr>
          <p:nvPr>
            <p:ph type="title"/>
          </p:nvPr>
        </p:nvSpPr>
        <p:spPr>
          <a:xfrm>
            <a:off x="415925" y="260350"/>
            <a:ext cx="8610600" cy="838200"/>
          </a:xfrm>
          <a:noFill/>
          <a:ln/>
        </p:spPr>
        <p:txBody>
          <a:bodyPr/>
          <a:lstStyle/>
          <a:p>
            <a:pPr>
              <a:lnSpc>
                <a:spcPct val="80000"/>
              </a:lnSpc>
            </a:pPr>
            <a:r>
              <a:rPr lang="en-US" altLang="zh-TW" sz="2800"/>
              <a:t>Hand-off Data at Final Design Handoff</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B1D6AD62-349E-09E2-5EEC-6FB0DC26FFCB}"/>
              </a:ext>
            </a:extLst>
          </p:cNvPr>
          <p:cNvSpPr>
            <a:spLocks noGrp="1"/>
          </p:cNvSpPr>
          <p:nvPr>
            <p:ph type="sldNum" sz="quarter" idx="10"/>
          </p:nvPr>
        </p:nvSpPr>
        <p:spPr/>
        <p:txBody>
          <a:bodyPr/>
          <a:lstStyle/>
          <a:p>
            <a:fld id="{B4FE845D-4C3D-5345-9AA8-38CED526660F}" type="slidenum">
              <a:rPr lang="en-US" altLang="zh-TW"/>
              <a:pPr/>
              <a:t>11</a:t>
            </a:fld>
            <a:endParaRPr lang="en-US" altLang="zh-TW"/>
          </a:p>
        </p:txBody>
      </p:sp>
      <p:sp>
        <p:nvSpPr>
          <p:cNvPr id="926722" name="Rectangle 2">
            <a:extLst>
              <a:ext uri="{FF2B5EF4-FFF2-40B4-BE49-F238E27FC236}">
                <a16:creationId xmlns:a16="http://schemas.microsoft.com/office/drawing/2014/main" id="{4C47311D-A549-D0D5-CCD4-6C8B8BEC43D6}"/>
              </a:ext>
            </a:extLst>
          </p:cNvPr>
          <p:cNvSpPr>
            <a:spLocks noGrp="1" noChangeArrowheads="1"/>
          </p:cNvSpPr>
          <p:nvPr>
            <p:ph type="body" idx="1"/>
          </p:nvPr>
        </p:nvSpPr>
        <p:spPr>
          <a:xfrm>
            <a:off x="685800" y="1066800"/>
            <a:ext cx="8221663" cy="4648200"/>
          </a:xfrm>
        </p:spPr>
        <p:txBody>
          <a:bodyPr/>
          <a:lstStyle/>
          <a:p>
            <a:pPr>
              <a:lnSpc>
                <a:spcPct val="110000"/>
              </a:lnSpc>
            </a:pPr>
            <a:r>
              <a:rPr lang="en-US" altLang="zh-TW" sz="1600"/>
              <a:t>Customer Deliverable</a:t>
            </a:r>
          </a:p>
          <a:p>
            <a:pPr lvl="1">
              <a:lnSpc>
                <a:spcPct val="110000"/>
              </a:lnSpc>
            </a:pPr>
            <a:r>
              <a:rPr lang="en-US" altLang="zh-TW" sz="1600"/>
              <a:t>ROM Code (Mandatory)</a:t>
            </a:r>
          </a:p>
          <a:p>
            <a:pPr lvl="2">
              <a:lnSpc>
                <a:spcPct val="110000"/>
              </a:lnSpc>
            </a:pPr>
            <a:r>
              <a:rPr lang="en-US" altLang="zh-TW" sz="1600" i="1">
                <a:solidFill>
                  <a:srgbClr val="000000"/>
                </a:solidFill>
                <a:latin typeface="Times New Roman" panose="02020603050405020304" pitchFamily="18" charset="0"/>
                <a:cs typeface="Times New Roman" panose="02020603050405020304" pitchFamily="18" charset="0"/>
              </a:rPr>
              <a:t>&lt;install_dir&gt;</a:t>
            </a:r>
            <a:r>
              <a:rPr lang="en-US" altLang="zh-TW" sz="1600">
                <a:solidFill>
                  <a:srgbClr val="000000"/>
                </a:solidFill>
                <a:latin typeface="Times New Roman" panose="02020603050405020304" pitchFamily="18" charset="0"/>
                <a:cs typeface="Times New Roman" panose="02020603050405020304" pitchFamily="18" charset="0"/>
              </a:rPr>
              <a:t>/demo/template/rom</a:t>
            </a:r>
            <a:r>
              <a:rPr lang="en-US" altLang="zh-TW" sz="1600"/>
              <a:t> </a:t>
            </a:r>
          </a:p>
          <a:p>
            <a:pPr lvl="2">
              <a:lnSpc>
                <a:spcPct val="110000"/>
              </a:lnSpc>
            </a:pPr>
            <a:r>
              <a:rPr lang="en-US" altLang="zh-TW" sz="1600"/>
              <a:t>When the customer change the ROM code, it must be delivered again.</a:t>
            </a:r>
          </a:p>
          <a:p>
            <a:pPr lvl="1">
              <a:lnSpc>
                <a:spcPct val="110000"/>
              </a:lnSpc>
            </a:pPr>
            <a:r>
              <a:rPr lang="en-US" altLang="zh-TW" sz="1600"/>
              <a:t>UTPG Cycle-Based Test Vectors (Mandatory)</a:t>
            </a:r>
          </a:p>
          <a:p>
            <a:pPr lvl="2">
              <a:lnSpc>
                <a:spcPct val="110000"/>
              </a:lnSpc>
            </a:pPr>
            <a:r>
              <a:rPr lang="en-US" altLang="zh-TW" sz="1600"/>
              <a:t>Include a test bench, a test pattern file, an intermediate test pattern file, and a log file.</a:t>
            </a:r>
          </a:p>
          <a:p>
            <a:pPr lvl="2">
              <a:lnSpc>
                <a:spcPct val="110000"/>
              </a:lnSpc>
            </a:pPr>
            <a:r>
              <a:rPr lang="en-US" altLang="zh-TW" sz="1600"/>
              <a:t>Refer to Chapter 8.</a:t>
            </a:r>
          </a:p>
          <a:p>
            <a:pPr lvl="2">
              <a:lnSpc>
                <a:spcPct val="110000"/>
              </a:lnSpc>
            </a:pPr>
            <a:r>
              <a:rPr lang="en-US" altLang="zh-TW" sz="1600"/>
              <a:t>If ROM code is changed, please update the utpg pattern with new ROM code.</a:t>
            </a:r>
          </a:p>
          <a:p>
            <a:pPr lvl="2">
              <a:lnSpc>
                <a:spcPct val="110000"/>
              </a:lnSpc>
            </a:pPr>
            <a:r>
              <a:rPr lang="en-US" altLang="zh-TW" sz="1600"/>
              <a:t>At post-layout simulation phase, can only update the test bench and intermediate test pattern due to strobe time change.</a:t>
            </a:r>
          </a:p>
          <a:p>
            <a:pPr lvl="2">
              <a:lnSpc>
                <a:spcPct val="110000"/>
              </a:lnSpc>
            </a:pPr>
            <a:endParaRPr lang="en-US" altLang="zh-TW" sz="1600"/>
          </a:p>
          <a:p>
            <a:pPr lvl="2">
              <a:lnSpc>
                <a:spcPct val="110000"/>
              </a:lnSpc>
            </a:pPr>
            <a:endParaRPr lang="en-US" altLang="zh-TW" sz="1600"/>
          </a:p>
          <a:p>
            <a:pPr lvl="2">
              <a:lnSpc>
                <a:spcPct val="110000"/>
              </a:lnSpc>
            </a:pPr>
            <a:endParaRPr lang="en-US" altLang="zh-TW" sz="1600"/>
          </a:p>
        </p:txBody>
      </p:sp>
      <p:sp>
        <p:nvSpPr>
          <p:cNvPr id="926723" name="Oval 3">
            <a:extLst>
              <a:ext uri="{FF2B5EF4-FFF2-40B4-BE49-F238E27FC236}">
                <a16:creationId xmlns:a16="http://schemas.microsoft.com/office/drawing/2014/main" id="{DD3A31DA-F84B-0908-D246-3D5BB8FA10DF}"/>
              </a:ext>
            </a:extLst>
          </p:cNvPr>
          <p:cNvSpPr>
            <a:spLocks noChangeArrowheads="1"/>
          </p:cNvSpPr>
          <p:nvPr/>
        </p:nvSpPr>
        <p:spPr bwMode="auto">
          <a:xfrm>
            <a:off x="6248400" y="1143000"/>
            <a:ext cx="609600" cy="533400"/>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zh-TW" sz="2800"/>
              <a:t> 3   </a:t>
            </a:r>
            <a:r>
              <a:rPr lang="en-US" altLang="zh-TW" sz="2000"/>
              <a:t>Customer-&gt;GUC</a:t>
            </a:r>
          </a:p>
        </p:txBody>
      </p:sp>
      <p:sp>
        <p:nvSpPr>
          <p:cNvPr id="926724" name="Rectangle 4">
            <a:extLst>
              <a:ext uri="{FF2B5EF4-FFF2-40B4-BE49-F238E27FC236}">
                <a16:creationId xmlns:a16="http://schemas.microsoft.com/office/drawing/2014/main" id="{FF0F24CA-085B-6EB5-6409-2046DAE6DA82}"/>
              </a:ext>
            </a:extLst>
          </p:cNvPr>
          <p:cNvSpPr>
            <a:spLocks noGrp="1" noChangeArrowheads="1"/>
          </p:cNvSpPr>
          <p:nvPr>
            <p:ph type="title"/>
          </p:nvPr>
        </p:nvSpPr>
        <p:spPr>
          <a:xfrm>
            <a:off x="415925" y="260350"/>
            <a:ext cx="8610600" cy="838200"/>
          </a:xfrm>
          <a:noFill/>
          <a:ln/>
        </p:spPr>
        <p:txBody>
          <a:bodyPr/>
          <a:lstStyle/>
          <a:p>
            <a:pPr>
              <a:lnSpc>
                <a:spcPct val="80000"/>
              </a:lnSpc>
            </a:pPr>
            <a:r>
              <a:rPr lang="en-US" altLang="zh-TW" sz="2800"/>
              <a:t>Hand-off Data at Final Design Handoff</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6B0839AE-EB80-EF38-A407-601AE63C9AFB}"/>
              </a:ext>
            </a:extLst>
          </p:cNvPr>
          <p:cNvSpPr>
            <a:spLocks noGrp="1"/>
          </p:cNvSpPr>
          <p:nvPr>
            <p:ph type="sldNum" sz="quarter" idx="10"/>
          </p:nvPr>
        </p:nvSpPr>
        <p:spPr/>
        <p:txBody>
          <a:bodyPr/>
          <a:lstStyle/>
          <a:p>
            <a:fld id="{C1D90D7B-4F7F-F949-B6AB-8A672C155976}" type="slidenum">
              <a:rPr lang="en-US" altLang="zh-TW"/>
              <a:pPr/>
              <a:t>12</a:t>
            </a:fld>
            <a:endParaRPr lang="en-US" altLang="zh-TW"/>
          </a:p>
        </p:txBody>
      </p:sp>
      <p:sp>
        <p:nvSpPr>
          <p:cNvPr id="927746" name="Rectangle 2">
            <a:extLst>
              <a:ext uri="{FF2B5EF4-FFF2-40B4-BE49-F238E27FC236}">
                <a16:creationId xmlns:a16="http://schemas.microsoft.com/office/drawing/2014/main" id="{58800B78-AA6B-CAF3-8B46-E625175FB87B}"/>
              </a:ext>
            </a:extLst>
          </p:cNvPr>
          <p:cNvSpPr>
            <a:spLocks noGrp="1" noChangeArrowheads="1"/>
          </p:cNvSpPr>
          <p:nvPr>
            <p:ph type="body" idx="1"/>
          </p:nvPr>
        </p:nvSpPr>
        <p:spPr>
          <a:xfrm>
            <a:off x="838200" y="1066800"/>
            <a:ext cx="8221663" cy="4648200"/>
          </a:xfrm>
        </p:spPr>
        <p:txBody>
          <a:bodyPr/>
          <a:lstStyle/>
          <a:p>
            <a:pPr>
              <a:lnSpc>
                <a:spcPct val="110000"/>
              </a:lnSpc>
            </a:pPr>
            <a:r>
              <a:rPr lang="en-US" altLang="zh-TW" sz="1600"/>
              <a:t>Customer Deliverable</a:t>
            </a:r>
          </a:p>
          <a:p>
            <a:pPr lvl="1">
              <a:lnSpc>
                <a:spcPct val="110000"/>
              </a:lnSpc>
            </a:pPr>
            <a:r>
              <a:rPr lang="en-US" altLang="zh-TW" sz="1600"/>
              <a:t>SDF File for Pre-layout Simulation (Mandatory)</a:t>
            </a:r>
          </a:p>
          <a:p>
            <a:pPr lvl="2">
              <a:lnSpc>
                <a:spcPct val="110000"/>
              </a:lnSpc>
            </a:pPr>
            <a:r>
              <a:rPr lang="en-US" altLang="zh-TW" sz="1600"/>
              <a:t>Contain 3 corners timing.</a:t>
            </a:r>
          </a:p>
          <a:p>
            <a:pPr lvl="2">
              <a:lnSpc>
                <a:spcPct val="110000"/>
              </a:lnSpc>
            </a:pPr>
            <a:r>
              <a:rPr lang="en-US" altLang="zh-TW" sz="1600"/>
              <a:t>SDF must consistent with the netlist.</a:t>
            </a:r>
          </a:p>
          <a:p>
            <a:pPr lvl="2">
              <a:lnSpc>
                <a:spcPct val="110000"/>
              </a:lnSpc>
            </a:pPr>
            <a:r>
              <a:rPr lang="en-US" altLang="zh-TW" sz="1600"/>
              <a:t>Clock network: Must use set_clock_transition for a reasonable transition at the pin of flip-flops.</a:t>
            </a:r>
          </a:p>
          <a:p>
            <a:pPr lvl="2">
              <a:lnSpc>
                <a:spcPct val="110000"/>
              </a:lnSpc>
            </a:pPr>
            <a:r>
              <a:rPr lang="en-US" altLang="zh-TW" sz="1600"/>
              <a:t>High fanout net: Must use </a:t>
            </a:r>
            <a:r>
              <a:rPr lang="en-US" altLang="zh-TW" sz="1600">
                <a:latin typeface="Times New Roman" panose="02020603050405020304" pitchFamily="18" charset="0"/>
                <a:cs typeface="Times New Roman" panose="02020603050405020304" pitchFamily="18" charset="0"/>
              </a:rPr>
              <a:t>high_fanout_threshold and high_fanout_net_capacitance to estimate the transition and delay</a:t>
            </a:r>
            <a:r>
              <a:rPr lang="en-US" altLang="zh-TW" sz="1600"/>
              <a:t>.</a:t>
            </a:r>
          </a:p>
          <a:p>
            <a:pPr lvl="2">
              <a:lnSpc>
                <a:spcPct val="110000"/>
              </a:lnSpc>
            </a:pPr>
            <a:endParaRPr lang="en-US" altLang="zh-TW" sz="1600"/>
          </a:p>
          <a:p>
            <a:pPr lvl="2">
              <a:lnSpc>
                <a:spcPct val="110000"/>
              </a:lnSpc>
            </a:pPr>
            <a:endParaRPr lang="en-US" altLang="zh-TW" sz="1600"/>
          </a:p>
          <a:p>
            <a:pPr lvl="1">
              <a:lnSpc>
                <a:spcPct val="110000"/>
              </a:lnSpc>
            </a:pPr>
            <a:r>
              <a:rPr lang="en-US" altLang="zh-TW" sz="1600"/>
              <a:t>Simulation Script and Log Files (Optional)</a:t>
            </a:r>
          </a:p>
          <a:p>
            <a:pPr lvl="2">
              <a:lnSpc>
                <a:spcPct val="110000"/>
              </a:lnSpc>
            </a:pPr>
            <a:r>
              <a:rPr lang="en-US" altLang="zh-TW" sz="1600">
                <a:latin typeface="Times New Roman" panose="02020603050405020304" pitchFamily="18" charset="0"/>
                <a:cs typeface="Times New Roman" panose="02020603050405020304" pitchFamily="18" charset="0"/>
              </a:rPr>
              <a:t>This will assure the consistency of simulation between GUC and customer.</a:t>
            </a:r>
            <a:r>
              <a:rPr lang="en-US" altLang="zh-TW" sz="1600"/>
              <a:t> </a:t>
            </a:r>
          </a:p>
          <a:p>
            <a:pPr lvl="2">
              <a:lnSpc>
                <a:spcPct val="110000"/>
              </a:lnSpc>
            </a:pPr>
            <a:endParaRPr lang="en-US" altLang="zh-TW" sz="1600"/>
          </a:p>
          <a:p>
            <a:pPr lvl="2">
              <a:lnSpc>
                <a:spcPct val="110000"/>
              </a:lnSpc>
            </a:pPr>
            <a:endParaRPr lang="en-US" altLang="zh-TW" sz="1600"/>
          </a:p>
        </p:txBody>
      </p:sp>
      <p:sp>
        <p:nvSpPr>
          <p:cNvPr id="927747" name="Oval 3">
            <a:extLst>
              <a:ext uri="{FF2B5EF4-FFF2-40B4-BE49-F238E27FC236}">
                <a16:creationId xmlns:a16="http://schemas.microsoft.com/office/drawing/2014/main" id="{882F2E1F-FF1B-7562-7D69-D1CA959F05CB}"/>
              </a:ext>
            </a:extLst>
          </p:cNvPr>
          <p:cNvSpPr>
            <a:spLocks noChangeArrowheads="1"/>
          </p:cNvSpPr>
          <p:nvPr/>
        </p:nvSpPr>
        <p:spPr bwMode="auto">
          <a:xfrm>
            <a:off x="7010400" y="1143000"/>
            <a:ext cx="609600" cy="533400"/>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zh-TW" sz="2800"/>
              <a:t> 3   </a:t>
            </a:r>
            <a:r>
              <a:rPr lang="en-US" altLang="zh-TW" sz="2000"/>
              <a:t>Customer-&gt;GUC</a:t>
            </a:r>
          </a:p>
        </p:txBody>
      </p:sp>
      <p:grpSp>
        <p:nvGrpSpPr>
          <p:cNvPr id="927748" name="Group 4">
            <a:extLst>
              <a:ext uri="{FF2B5EF4-FFF2-40B4-BE49-F238E27FC236}">
                <a16:creationId xmlns:a16="http://schemas.microsoft.com/office/drawing/2014/main" id="{FA24BFBD-291D-46B0-3AA8-BE978BD1C230}"/>
              </a:ext>
            </a:extLst>
          </p:cNvPr>
          <p:cNvGrpSpPr>
            <a:grpSpLocks/>
          </p:cNvGrpSpPr>
          <p:nvPr/>
        </p:nvGrpSpPr>
        <p:grpSpPr bwMode="auto">
          <a:xfrm>
            <a:off x="2144713" y="4005263"/>
            <a:ext cx="5926137" cy="685800"/>
            <a:chOff x="-2" y="-2"/>
            <a:chExt cx="3733" cy="637"/>
          </a:xfrm>
        </p:grpSpPr>
        <p:grpSp>
          <p:nvGrpSpPr>
            <p:cNvPr id="927749" name="Group 5">
              <a:extLst>
                <a:ext uri="{FF2B5EF4-FFF2-40B4-BE49-F238E27FC236}">
                  <a16:creationId xmlns:a16="http://schemas.microsoft.com/office/drawing/2014/main" id="{5B81369C-EBC8-A743-B037-340DF69F9A13}"/>
                </a:ext>
              </a:extLst>
            </p:cNvPr>
            <p:cNvGrpSpPr>
              <a:grpSpLocks/>
            </p:cNvGrpSpPr>
            <p:nvPr/>
          </p:nvGrpSpPr>
          <p:grpSpPr bwMode="auto">
            <a:xfrm>
              <a:off x="0" y="0"/>
              <a:ext cx="3729" cy="633"/>
              <a:chOff x="0" y="0"/>
              <a:chExt cx="3729" cy="633"/>
            </a:xfrm>
          </p:grpSpPr>
          <p:sp>
            <p:nvSpPr>
              <p:cNvPr id="927750" name="Rectangle 6">
                <a:extLst>
                  <a:ext uri="{FF2B5EF4-FFF2-40B4-BE49-F238E27FC236}">
                    <a16:creationId xmlns:a16="http://schemas.microsoft.com/office/drawing/2014/main" id="{FAACA007-8DE7-E649-D551-90B04AC97B1A}"/>
                  </a:ext>
                </a:extLst>
              </p:cNvPr>
              <p:cNvSpPr>
                <a:spLocks noChangeArrowheads="1"/>
              </p:cNvSpPr>
              <p:nvPr/>
            </p:nvSpPr>
            <p:spPr bwMode="auto">
              <a:xfrm>
                <a:off x="11" y="0"/>
                <a:ext cx="3707" cy="633"/>
              </a:xfrm>
              <a:prstGeom prst="rect">
                <a:avLst/>
              </a:prstGeom>
              <a:noFill/>
              <a:ln>
                <a:noFill/>
              </a:ln>
              <a:effectLst/>
              <a:extLst>
                <a:ext uri="{909E8E84-426E-40DD-AFC4-6F175D3DCCD1}">
                  <a14:hiddenFill xmlns:a14="http://schemas.microsoft.com/office/drawing/2010/main">
                    <a:solidFill>
                      <a:srgbClr val="4EA844"/>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a:r>
                  <a:rPr lang="en-US" altLang="zh-TW" sz="1200">
                    <a:ea typeface="標楷體" pitchFamily="65" charset="-120"/>
                  </a:rPr>
                  <a:t>high_fanout_threshold 100</a:t>
                </a:r>
              </a:p>
              <a:p>
                <a:pPr algn="just" eaLnBrk="0" hangingPunct="0"/>
                <a:r>
                  <a:rPr lang="en-US" altLang="zh-TW" sz="1200"/>
                  <a:t>high_fanout_net_capacitance  0.00001</a:t>
                </a:r>
              </a:p>
              <a:p>
                <a:pPr algn="just" eaLnBrk="0" hangingPunct="0"/>
                <a:r>
                  <a:rPr lang="en-US" altLang="zh-TW" sz="1200">
                    <a:solidFill>
                      <a:srgbClr val="000000"/>
                    </a:solidFill>
                  </a:rPr>
                  <a:t>write_sdf –output &lt;SDF File &gt;</a:t>
                </a:r>
                <a:endParaRPr lang="en-US" altLang="zh-TW" sz="1200"/>
              </a:p>
              <a:p>
                <a:pPr algn="just" eaLnBrk="0" hangingPunct="0"/>
                <a:endParaRPr lang="en-US" altLang="zh-TW" sz="2400"/>
              </a:p>
            </p:txBody>
          </p:sp>
          <p:sp>
            <p:nvSpPr>
              <p:cNvPr id="927751" name="Rectangle 7">
                <a:extLst>
                  <a:ext uri="{FF2B5EF4-FFF2-40B4-BE49-F238E27FC236}">
                    <a16:creationId xmlns:a16="http://schemas.microsoft.com/office/drawing/2014/main" id="{159FF6E9-FDF4-4AF7-5C59-24625F407E93}"/>
                  </a:ext>
                </a:extLst>
              </p:cNvPr>
              <p:cNvSpPr>
                <a:spLocks noChangeArrowheads="1"/>
              </p:cNvSpPr>
              <p:nvPr/>
            </p:nvSpPr>
            <p:spPr bwMode="auto">
              <a:xfrm>
                <a:off x="0" y="0"/>
                <a:ext cx="3729" cy="63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927752" name="Rectangle 8">
              <a:extLst>
                <a:ext uri="{FF2B5EF4-FFF2-40B4-BE49-F238E27FC236}">
                  <a16:creationId xmlns:a16="http://schemas.microsoft.com/office/drawing/2014/main" id="{F94C4A14-3138-32E4-8383-F7AF958C8630}"/>
                </a:ext>
              </a:extLst>
            </p:cNvPr>
            <p:cNvSpPr>
              <a:spLocks noChangeArrowheads="1"/>
            </p:cNvSpPr>
            <p:nvPr/>
          </p:nvSpPr>
          <p:spPr bwMode="auto">
            <a:xfrm>
              <a:off x="-2" y="-2"/>
              <a:ext cx="3733" cy="637"/>
            </a:xfrm>
            <a:prstGeom prst="rect">
              <a:avLst/>
            </a:prstGeom>
            <a:noFill/>
            <a:ln w="7937">
              <a:solidFill>
                <a:srgbClr val="A0A0A0"/>
              </a:solidFill>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927753" name="Rectangle 9">
            <a:extLst>
              <a:ext uri="{FF2B5EF4-FFF2-40B4-BE49-F238E27FC236}">
                <a16:creationId xmlns:a16="http://schemas.microsoft.com/office/drawing/2014/main" id="{21F63A93-6FB9-67A7-DD45-7C27F55FF46E}"/>
              </a:ext>
            </a:extLst>
          </p:cNvPr>
          <p:cNvSpPr>
            <a:spLocks noGrp="1" noChangeArrowheads="1"/>
          </p:cNvSpPr>
          <p:nvPr>
            <p:ph type="title"/>
          </p:nvPr>
        </p:nvSpPr>
        <p:spPr>
          <a:xfrm>
            <a:off x="533400" y="228600"/>
            <a:ext cx="8610600" cy="838200"/>
          </a:xfrm>
          <a:noFill/>
          <a:ln/>
        </p:spPr>
        <p:txBody>
          <a:bodyPr/>
          <a:lstStyle/>
          <a:p>
            <a:pPr>
              <a:lnSpc>
                <a:spcPct val="80000"/>
              </a:lnSpc>
            </a:pPr>
            <a:br>
              <a:rPr lang="en-US" altLang="zh-TW" sz="2800"/>
            </a:br>
            <a:r>
              <a:rPr lang="en-US" altLang="zh-TW" sz="2800"/>
              <a:t>Hand-off Data at Final Design Handoff</a:t>
            </a:r>
            <a:br>
              <a:rPr lang="en-US" altLang="zh-TW" sz="2800"/>
            </a:br>
            <a:endParaRPr lang="en-US" altLang="zh-TW" sz="280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ADD69EBD-872A-C841-807B-E3CF751211A9}"/>
              </a:ext>
            </a:extLst>
          </p:cNvPr>
          <p:cNvSpPr>
            <a:spLocks noGrp="1"/>
          </p:cNvSpPr>
          <p:nvPr>
            <p:ph type="sldNum" sz="quarter" idx="10"/>
          </p:nvPr>
        </p:nvSpPr>
        <p:spPr/>
        <p:txBody>
          <a:bodyPr/>
          <a:lstStyle/>
          <a:p>
            <a:fld id="{ADBD283B-5D18-964B-9044-C3270A6EFF66}" type="slidenum">
              <a:rPr lang="en-US" altLang="zh-TW"/>
              <a:pPr/>
              <a:t>13</a:t>
            </a:fld>
            <a:endParaRPr lang="en-US" altLang="zh-TW"/>
          </a:p>
        </p:txBody>
      </p:sp>
      <p:sp>
        <p:nvSpPr>
          <p:cNvPr id="928770" name="Rectangle 2">
            <a:extLst>
              <a:ext uri="{FF2B5EF4-FFF2-40B4-BE49-F238E27FC236}">
                <a16:creationId xmlns:a16="http://schemas.microsoft.com/office/drawing/2014/main" id="{C91CE1F0-F2DF-3D3D-1DF5-E7D1E8C103C9}"/>
              </a:ext>
            </a:extLst>
          </p:cNvPr>
          <p:cNvSpPr>
            <a:spLocks noGrp="1" noChangeArrowheads="1"/>
          </p:cNvSpPr>
          <p:nvPr>
            <p:ph type="title"/>
          </p:nvPr>
        </p:nvSpPr>
        <p:spPr>
          <a:xfrm>
            <a:off x="457200" y="152400"/>
            <a:ext cx="8610600" cy="838200"/>
          </a:xfrm>
        </p:spPr>
        <p:txBody>
          <a:bodyPr/>
          <a:lstStyle/>
          <a:p>
            <a:pPr>
              <a:lnSpc>
                <a:spcPct val="80000"/>
              </a:lnSpc>
            </a:pPr>
            <a:r>
              <a:rPr lang="en-US" altLang="zh-TW" sz="2800"/>
              <a:t>Data Release to Customer after Physical Design Implementation</a:t>
            </a:r>
          </a:p>
        </p:txBody>
      </p:sp>
      <p:sp>
        <p:nvSpPr>
          <p:cNvPr id="928771" name="Rectangle 3">
            <a:extLst>
              <a:ext uri="{FF2B5EF4-FFF2-40B4-BE49-F238E27FC236}">
                <a16:creationId xmlns:a16="http://schemas.microsoft.com/office/drawing/2014/main" id="{3396E6EA-2CAA-2CB4-B8A8-18BB48F88652}"/>
              </a:ext>
            </a:extLst>
          </p:cNvPr>
          <p:cNvSpPr>
            <a:spLocks noGrp="1" noChangeArrowheads="1"/>
          </p:cNvSpPr>
          <p:nvPr>
            <p:ph type="body" idx="1"/>
          </p:nvPr>
        </p:nvSpPr>
        <p:spPr>
          <a:xfrm>
            <a:off x="776288" y="1268413"/>
            <a:ext cx="8221662" cy="4648200"/>
          </a:xfrm>
        </p:spPr>
        <p:txBody>
          <a:bodyPr/>
          <a:lstStyle/>
          <a:p>
            <a:pPr>
              <a:lnSpc>
                <a:spcPct val="110000"/>
              </a:lnSpc>
            </a:pPr>
            <a:r>
              <a:rPr lang="en-US" altLang="zh-TW" sz="1600"/>
              <a:t>GUC Deliverable</a:t>
            </a:r>
          </a:p>
          <a:p>
            <a:pPr lvl="1">
              <a:lnSpc>
                <a:spcPct val="110000"/>
              </a:lnSpc>
            </a:pPr>
            <a:r>
              <a:rPr lang="en-US" altLang="zh-TW" sz="1600"/>
              <a:t>Netlist File</a:t>
            </a:r>
          </a:p>
          <a:p>
            <a:pPr lvl="2">
              <a:lnSpc>
                <a:spcPct val="110000"/>
              </a:lnSpc>
            </a:pPr>
            <a:r>
              <a:rPr lang="en-US" altLang="zh-TW" sz="1600"/>
              <a:t>Include clock tree and high fanout buffer cells.</a:t>
            </a:r>
          </a:p>
          <a:p>
            <a:pPr lvl="2">
              <a:lnSpc>
                <a:spcPct val="110000"/>
              </a:lnSpc>
            </a:pPr>
            <a:r>
              <a:rPr lang="en-US" altLang="zh-TW" sz="1600"/>
              <a:t>For post-layout simulation and STA.</a:t>
            </a:r>
          </a:p>
          <a:p>
            <a:pPr lvl="1">
              <a:lnSpc>
                <a:spcPct val="110000"/>
              </a:lnSpc>
            </a:pPr>
            <a:r>
              <a:rPr lang="en-US" altLang="zh-TW" sz="1600"/>
              <a:t>SDF File</a:t>
            </a:r>
          </a:p>
          <a:p>
            <a:pPr lvl="2">
              <a:lnSpc>
                <a:spcPct val="110000"/>
              </a:lnSpc>
            </a:pPr>
            <a:r>
              <a:rPr lang="en-US" altLang="zh-TW" sz="1600"/>
              <a:t>Contain all sign-off corners timing.</a:t>
            </a:r>
          </a:p>
          <a:p>
            <a:pPr lvl="2">
              <a:lnSpc>
                <a:spcPct val="110000"/>
              </a:lnSpc>
            </a:pPr>
            <a:r>
              <a:rPr lang="en-US" altLang="zh-TW" sz="1600"/>
              <a:t>Consistent with the netlist.</a:t>
            </a:r>
          </a:p>
          <a:p>
            <a:pPr lvl="2">
              <a:lnSpc>
                <a:spcPct val="110000"/>
              </a:lnSpc>
            </a:pPr>
            <a:r>
              <a:rPr lang="en-US" altLang="zh-TW" sz="1600"/>
              <a:t>For post-layout simulation and STA.</a:t>
            </a:r>
          </a:p>
          <a:p>
            <a:pPr lvl="1">
              <a:lnSpc>
                <a:spcPct val="110000"/>
              </a:lnSpc>
            </a:pPr>
            <a:r>
              <a:rPr lang="en-US" altLang="zh-TW" sz="1600"/>
              <a:t>Set Load File</a:t>
            </a:r>
          </a:p>
          <a:p>
            <a:pPr lvl="2">
              <a:lnSpc>
                <a:spcPct val="110000"/>
              </a:lnSpc>
            </a:pPr>
            <a:r>
              <a:rPr lang="en-US" altLang="zh-TW" sz="1600"/>
              <a:t>For STA.</a:t>
            </a:r>
          </a:p>
          <a:p>
            <a:pPr lvl="2">
              <a:lnSpc>
                <a:spcPct val="110000"/>
              </a:lnSpc>
            </a:pPr>
            <a:endParaRPr lang="en-US" altLang="zh-TW" sz="1600"/>
          </a:p>
        </p:txBody>
      </p:sp>
      <p:sp>
        <p:nvSpPr>
          <p:cNvPr id="928772" name="Oval 4">
            <a:extLst>
              <a:ext uri="{FF2B5EF4-FFF2-40B4-BE49-F238E27FC236}">
                <a16:creationId xmlns:a16="http://schemas.microsoft.com/office/drawing/2014/main" id="{721A46DD-C17D-B296-C698-FB32D765E03B}"/>
              </a:ext>
            </a:extLst>
          </p:cNvPr>
          <p:cNvSpPr>
            <a:spLocks noChangeArrowheads="1"/>
          </p:cNvSpPr>
          <p:nvPr/>
        </p:nvSpPr>
        <p:spPr bwMode="auto">
          <a:xfrm>
            <a:off x="6629400" y="1219200"/>
            <a:ext cx="609600" cy="533400"/>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zh-TW" sz="2800"/>
              <a:t> 6   </a:t>
            </a:r>
            <a:r>
              <a:rPr lang="en-US" altLang="zh-TW" sz="2000"/>
              <a:t>GUC-&gt;Customer</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17" name="Rectangle 5">
            <a:extLst>
              <a:ext uri="{FF2B5EF4-FFF2-40B4-BE49-F238E27FC236}">
                <a16:creationId xmlns:a16="http://schemas.microsoft.com/office/drawing/2014/main" id="{BB296CB1-EF43-1145-FD0A-6D60E426C87D}"/>
              </a:ext>
            </a:extLst>
          </p:cNvPr>
          <p:cNvSpPr>
            <a:spLocks noGrp="1" noChangeArrowheads="1"/>
          </p:cNvSpPr>
          <p:nvPr>
            <p:ph type="ctrTitle"/>
          </p:nvPr>
        </p:nvSpPr>
        <p:spPr>
          <a:xfrm>
            <a:off x="1136650" y="2708275"/>
            <a:ext cx="7467600" cy="1470025"/>
          </a:xfrm>
          <a:noFill/>
          <a:ln/>
          <a:extLst>
            <a:ext uri="{AF507438-7753-43E0-B8FC-AC1667EBCBE1}">
              <a14:hiddenEffects xmlns:a14="http://schemas.microsoft.com/office/drawing/2010/main">
                <a:effectLst>
                  <a:outerShdw dist="35921" dir="2700000" algn="ctr" rotWithShape="0">
                    <a:srgbClr val="5CB852">
                      <a:alpha val="50000"/>
                    </a:srgbClr>
                  </a:outerShdw>
                </a:effectLst>
              </a14:hiddenEffects>
            </a:ext>
          </a:extLst>
        </p:spPr>
        <p:txBody>
          <a:bodyPr anchor="ctr"/>
          <a:lstStyle/>
          <a:p>
            <a:r>
              <a:rPr lang="en-US" altLang="zh-TW" sz="3600"/>
              <a:t>UNS</a:t>
            </a:r>
          </a:p>
        </p:txBody>
      </p:sp>
      <p:pic>
        <p:nvPicPr>
          <p:cNvPr id="934918" name="Picture 6">
            <a:extLst>
              <a:ext uri="{FF2B5EF4-FFF2-40B4-BE49-F238E27FC236}">
                <a16:creationId xmlns:a16="http://schemas.microsoft.com/office/drawing/2014/main" id="{928B0072-7A14-8DEB-BB9F-778033EDD3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200" y="457200"/>
            <a:ext cx="1519238"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4919" name="Picture 7">
            <a:extLst>
              <a:ext uri="{FF2B5EF4-FFF2-40B4-BE49-F238E27FC236}">
                <a16:creationId xmlns:a16="http://schemas.microsoft.com/office/drawing/2014/main" id="{6691557C-1250-0C16-7252-9F98171345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038" y="381000"/>
            <a:ext cx="2163762"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D6B7BAB1-3CCC-F661-85F7-C39AD95F13E7}"/>
              </a:ext>
            </a:extLst>
          </p:cNvPr>
          <p:cNvSpPr>
            <a:spLocks noGrp="1"/>
          </p:cNvSpPr>
          <p:nvPr>
            <p:ph type="sldNum" sz="quarter" idx="10"/>
          </p:nvPr>
        </p:nvSpPr>
        <p:spPr/>
        <p:txBody>
          <a:bodyPr/>
          <a:lstStyle/>
          <a:p>
            <a:fld id="{52577CC9-165F-0B41-AC78-7E168A06BC61}" type="slidenum">
              <a:rPr lang="en-US" altLang="zh-TW"/>
              <a:pPr/>
              <a:t>15</a:t>
            </a:fld>
            <a:endParaRPr lang="en-US" altLang="zh-TW"/>
          </a:p>
        </p:txBody>
      </p:sp>
      <p:sp>
        <p:nvSpPr>
          <p:cNvPr id="936962" name="Rectangle 2">
            <a:extLst>
              <a:ext uri="{FF2B5EF4-FFF2-40B4-BE49-F238E27FC236}">
                <a16:creationId xmlns:a16="http://schemas.microsoft.com/office/drawing/2014/main" id="{F802B40C-3100-C5F2-7AE1-6B8812E7F98C}"/>
              </a:ext>
            </a:extLst>
          </p:cNvPr>
          <p:cNvSpPr>
            <a:spLocks noGrp="1" noChangeArrowheads="1"/>
          </p:cNvSpPr>
          <p:nvPr>
            <p:ph type="title"/>
          </p:nvPr>
        </p:nvSpPr>
        <p:spPr/>
        <p:txBody>
          <a:bodyPr/>
          <a:lstStyle/>
          <a:p>
            <a:r>
              <a:rPr lang="en-US" altLang="zh-TW"/>
              <a:t>Overview</a:t>
            </a:r>
          </a:p>
        </p:txBody>
      </p:sp>
      <p:sp>
        <p:nvSpPr>
          <p:cNvPr id="936963" name="Rectangle 3">
            <a:extLst>
              <a:ext uri="{FF2B5EF4-FFF2-40B4-BE49-F238E27FC236}">
                <a16:creationId xmlns:a16="http://schemas.microsoft.com/office/drawing/2014/main" id="{E1A80CB7-47E6-DB96-72B1-E14F68431DBC}"/>
              </a:ext>
            </a:extLst>
          </p:cNvPr>
          <p:cNvSpPr>
            <a:spLocks noGrp="1" noChangeArrowheads="1"/>
          </p:cNvSpPr>
          <p:nvPr>
            <p:ph type="body" idx="1"/>
          </p:nvPr>
        </p:nvSpPr>
        <p:spPr/>
        <p:txBody>
          <a:bodyPr/>
          <a:lstStyle/>
          <a:p>
            <a:r>
              <a:rPr lang="en-US" altLang="zh-TW"/>
              <a:t>It is a screener in respect of design quality</a:t>
            </a:r>
          </a:p>
          <a:p>
            <a:r>
              <a:rPr lang="en-US" altLang="zh-TW"/>
              <a:t>It is used to identify the potential problems that may violate GUC’s engineering rules</a:t>
            </a:r>
          </a:p>
          <a:p>
            <a:r>
              <a:rPr lang="en-US" altLang="zh-TW"/>
              <a:t>It is used to assist the engineers to fix problems at the early design stage</a:t>
            </a:r>
          </a:p>
          <a:p>
            <a:r>
              <a:rPr lang="en-US" altLang="zh-TW"/>
              <a:t>Customer must use this utility to check gate-level netlist and fix the problems before netlist delivery</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092C29E0-FD4B-6DD9-978F-93D8AD3E056A}"/>
              </a:ext>
            </a:extLst>
          </p:cNvPr>
          <p:cNvSpPr>
            <a:spLocks noGrp="1"/>
          </p:cNvSpPr>
          <p:nvPr>
            <p:ph type="sldNum" sz="quarter" idx="10"/>
          </p:nvPr>
        </p:nvSpPr>
        <p:spPr/>
        <p:txBody>
          <a:bodyPr/>
          <a:lstStyle/>
          <a:p>
            <a:fld id="{986AEFA8-CF6A-9746-BA3A-D58497AB3D0E}" type="slidenum">
              <a:rPr lang="en-US" altLang="zh-TW"/>
              <a:pPr/>
              <a:t>16</a:t>
            </a:fld>
            <a:endParaRPr lang="en-US" altLang="zh-TW"/>
          </a:p>
        </p:txBody>
      </p:sp>
      <p:sp>
        <p:nvSpPr>
          <p:cNvPr id="937986" name="Rectangle 2">
            <a:extLst>
              <a:ext uri="{FF2B5EF4-FFF2-40B4-BE49-F238E27FC236}">
                <a16:creationId xmlns:a16="http://schemas.microsoft.com/office/drawing/2014/main" id="{A6C8CBB6-D3D7-0DA4-808C-6ABC0D17BA4C}"/>
              </a:ext>
            </a:extLst>
          </p:cNvPr>
          <p:cNvSpPr>
            <a:spLocks noGrp="1" noChangeArrowheads="1"/>
          </p:cNvSpPr>
          <p:nvPr>
            <p:ph type="title"/>
          </p:nvPr>
        </p:nvSpPr>
        <p:spPr/>
        <p:txBody>
          <a:bodyPr/>
          <a:lstStyle/>
          <a:p>
            <a:r>
              <a:rPr lang="en-US" altLang="zh-TW"/>
              <a:t>Functional Specification</a:t>
            </a:r>
          </a:p>
        </p:txBody>
      </p:sp>
      <p:sp>
        <p:nvSpPr>
          <p:cNvPr id="937987" name="Rectangle 3">
            <a:extLst>
              <a:ext uri="{FF2B5EF4-FFF2-40B4-BE49-F238E27FC236}">
                <a16:creationId xmlns:a16="http://schemas.microsoft.com/office/drawing/2014/main" id="{3278B6F0-38C8-2431-5217-FE1115E88F42}"/>
              </a:ext>
            </a:extLst>
          </p:cNvPr>
          <p:cNvSpPr>
            <a:spLocks noGrp="1" noChangeArrowheads="1"/>
          </p:cNvSpPr>
          <p:nvPr>
            <p:ph type="body" idx="1"/>
          </p:nvPr>
        </p:nvSpPr>
        <p:spPr/>
        <p:txBody>
          <a:bodyPr/>
          <a:lstStyle/>
          <a:p>
            <a:r>
              <a:rPr lang="en-US" altLang="zh-TW" sz="1600"/>
              <a:t>Design Content and Syntax Check</a:t>
            </a:r>
          </a:p>
          <a:p>
            <a:pPr lvl="1"/>
            <a:r>
              <a:rPr lang="en-US" altLang="zh-TW" sz="1600"/>
              <a:t>command, syntax, model consistency between verilog and dot library</a:t>
            </a:r>
          </a:p>
          <a:p>
            <a:r>
              <a:rPr lang="en-US" altLang="zh-TW" sz="1600"/>
              <a:t>Design Specification Report</a:t>
            </a:r>
          </a:p>
          <a:p>
            <a:pPr lvl="1"/>
            <a:r>
              <a:rPr lang="en-US" altLang="zh-TW" sz="1600"/>
              <a:t>design contents are grabbed in different views of engineers</a:t>
            </a:r>
          </a:p>
          <a:p>
            <a:r>
              <a:rPr lang="en-US" altLang="zh-TW" sz="1600"/>
              <a:t>Engineering Rule Check </a:t>
            </a:r>
          </a:p>
          <a:p>
            <a:pPr lvl="1"/>
            <a:r>
              <a:rPr lang="en-US" altLang="zh-TW" sz="1600"/>
              <a:t>it is convenient for the users to identify </a:t>
            </a:r>
            <a:r>
              <a:rPr lang="en-US" altLang="en-US" sz="1600"/>
              <a:t>potential problems and </a:t>
            </a:r>
            <a:r>
              <a:rPr lang="en-US" altLang="zh-TW" sz="1600"/>
              <a:t>avoid mistake during  service flow</a:t>
            </a:r>
          </a:p>
          <a:p>
            <a:pPr lvl="1"/>
            <a:r>
              <a:rPr lang="en-US" altLang="zh-TW" sz="1600"/>
              <a:t>such that designs can enter GUC’s design service flow fast and smoothly</a:t>
            </a:r>
          </a:p>
          <a:p>
            <a:r>
              <a:rPr lang="en-US" altLang="zh-TW" sz="1600"/>
              <a:t>Report Summary</a:t>
            </a:r>
          </a:p>
          <a:p>
            <a:pPr lvl="1"/>
            <a:r>
              <a:rPr lang="en-US" altLang="zh-TW" sz="1600"/>
              <a:t>profile of design contents, main findings of possible errors, complexity evaluation and leakage power consumption </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75A0C2D3-11CA-FD64-36D5-82AFC0857797}"/>
              </a:ext>
            </a:extLst>
          </p:cNvPr>
          <p:cNvSpPr>
            <a:spLocks noGrp="1"/>
          </p:cNvSpPr>
          <p:nvPr>
            <p:ph type="sldNum" sz="quarter" idx="10"/>
          </p:nvPr>
        </p:nvSpPr>
        <p:spPr/>
        <p:txBody>
          <a:bodyPr/>
          <a:lstStyle/>
          <a:p>
            <a:fld id="{73D5DEE6-EE10-2B46-989C-C557631F63C7}" type="slidenum">
              <a:rPr lang="en-US" altLang="zh-TW"/>
              <a:pPr/>
              <a:t>17</a:t>
            </a:fld>
            <a:endParaRPr lang="en-US" altLang="zh-TW"/>
          </a:p>
        </p:txBody>
      </p:sp>
      <p:sp>
        <p:nvSpPr>
          <p:cNvPr id="940034" name="Rectangle 2">
            <a:extLst>
              <a:ext uri="{FF2B5EF4-FFF2-40B4-BE49-F238E27FC236}">
                <a16:creationId xmlns:a16="http://schemas.microsoft.com/office/drawing/2014/main" id="{4A00915F-E3A2-0A8C-5770-4DF1E53A4387}"/>
              </a:ext>
            </a:extLst>
          </p:cNvPr>
          <p:cNvSpPr>
            <a:spLocks noGrp="1" noChangeArrowheads="1"/>
          </p:cNvSpPr>
          <p:nvPr>
            <p:ph type="title"/>
          </p:nvPr>
        </p:nvSpPr>
        <p:spPr/>
        <p:txBody>
          <a:bodyPr/>
          <a:lstStyle/>
          <a:p>
            <a:r>
              <a:rPr lang="en-US" altLang="zh-TW"/>
              <a:t>Application Flow</a:t>
            </a:r>
          </a:p>
        </p:txBody>
      </p:sp>
      <p:sp>
        <p:nvSpPr>
          <p:cNvPr id="940035" name="Rectangle 3">
            <a:extLst>
              <a:ext uri="{FF2B5EF4-FFF2-40B4-BE49-F238E27FC236}">
                <a16:creationId xmlns:a16="http://schemas.microsoft.com/office/drawing/2014/main" id="{73707C0C-18FA-F7A5-88A8-CD5AE967D465}"/>
              </a:ext>
            </a:extLst>
          </p:cNvPr>
          <p:cNvSpPr>
            <a:spLocks noChangeArrowheads="1"/>
          </p:cNvSpPr>
          <p:nvPr/>
        </p:nvSpPr>
        <p:spPr bwMode="auto">
          <a:xfrm>
            <a:off x="0" y="1766888"/>
            <a:ext cx="9906000" cy="0"/>
          </a:xfrm>
          <a:prstGeom prst="rect">
            <a:avLst/>
          </a:prstGeom>
          <a:noFill/>
          <a:ln>
            <a:noFill/>
          </a:ln>
          <a:effectLst/>
          <a:extLst>
            <a:ext uri="{909E8E84-426E-40DD-AFC4-6F175D3DCCD1}">
              <a14:hiddenFill xmlns:a14="http://schemas.microsoft.com/office/drawing/2010/main">
                <a:solidFill>
                  <a:srgbClr val="4EA844"/>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graphicFrame>
        <p:nvGraphicFramePr>
          <p:cNvPr id="940036" name="Object 4">
            <a:extLst>
              <a:ext uri="{FF2B5EF4-FFF2-40B4-BE49-F238E27FC236}">
                <a16:creationId xmlns:a16="http://schemas.microsoft.com/office/drawing/2014/main" id="{40B52EAB-7F0C-6E83-4756-55DD3A618089}"/>
              </a:ext>
            </a:extLst>
          </p:cNvPr>
          <p:cNvGraphicFramePr>
            <a:graphicFrameLocks noChangeAspect="1"/>
          </p:cNvGraphicFramePr>
          <p:nvPr/>
        </p:nvGraphicFramePr>
        <p:xfrm>
          <a:off x="1568450" y="1412875"/>
          <a:ext cx="6891338" cy="4651375"/>
        </p:xfrm>
        <a:graphic>
          <a:graphicData uri="http://schemas.openxmlformats.org/presentationml/2006/ole">
            <mc:AlternateContent xmlns:mc="http://schemas.openxmlformats.org/markup-compatibility/2006">
              <mc:Choice xmlns:v="urn:schemas-microsoft-com:vml" Requires="v">
                <p:oleObj name="Visio" r:id="rId2" imgW="5435600" imgH="3911600" progId="Visio.Drawing.11">
                  <p:embed/>
                </p:oleObj>
              </mc:Choice>
              <mc:Fallback>
                <p:oleObj name="Visio" r:id="rId2" imgW="5435600" imgH="3911600"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8450" y="1412875"/>
                        <a:ext cx="6891338" cy="4651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40037" name="AutoShape 5">
            <a:extLst>
              <a:ext uri="{FF2B5EF4-FFF2-40B4-BE49-F238E27FC236}">
                <a16:creationId xmlns:a16="http://schemas.microsoft.com/office/drawing/2014/main" id="{A9F6D99C-29FA-4DFA-2216-A60ED91F8B27}"/>
              </a:ext>
            </a:extLst>
          </p:cNvPr>
          <p:cNvSpPr>
            <a:spLocks noChangeArrowheads="1"/>
          </p:cNvSpPr>
          <p:nvPr/>
        </p:nvSpPr>
        <p:spPr bwMode="auto">
          <a:xfrm>
            <a:off x="2720975" y="4941888"/>
            <a:ext cx="2663825" cy="1223962"/>
          </a:xfrm>
          <a:prstGeom prst="wedgeRoundRectCallout">
            <a:avLst>
              <a:gd name="adj1" fmla="val 83852"/>
              <a:gd name="adj2" fmla="val -105644"/>
              <a:gd name="adj3" fmla="val 16667"/>
            </a:avLst>
          </a:prstGeom>
          <a:solidFill>
            <a:srgbClr val="FFFF99"/>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n-US" altLang="zh-TW" sz="1600" b="1">
                <a:ea typeface="細明體" panose="02020509000000000000" pitchFamily="49" charset="-120"/>
              </a:rPr>
              <a:t>If one of the following command options is given:</a:t>
            </a:r>
          </a:p>
          <a:p>
            <a:pPr algn="l"/>
            <a:r>
              <a:rPr lang="en-US" altLang="zh-TW" sz="1600" b="1">
                <a:ea typeface="細明體" panose="02020509000000000000" pitchFamily="49" charset="-120"/>
              </a:rPr>
              <a:t>-spare_spec &lt;</a:t>
            </a:r>
            <a:r>
              <a:rPr lang="en-US" altLang="zh-TW" sz="1600" b="1" i="1">
                <a:ea typeface="細明體" panose="02020509000000000000" pitchFamily="49" charset="-120"/>
              </a:rPr>
              <a:t>file</a:t>
            </a:r>
            <a:r>
              <a:rPr lang="en-US" altLang="zh-TW" sz="1600" b="1">
                <a:ea typeface="細明體" panose="02020509000000000000" pitchFamily="49" charset="-120"/>
              </a:rPr>
              <a:t>&gt;</a:t>
            </a:r>
          </a:p>
          <a:p>
            <a:pPr algn="l"/>
            <a:r>
              <a:rPr lang="en-US" altLang="zh-TW" sz="1600" b="1">
                <a:ea typeface="細明體" panose="02020509000000000000" pitchFamily="49" charset="-120"/>
              </a:rPr>
              <a:t>-analog_libpin &lt;</a:t>
            </a:r>
            <a:r>
              <a:rPr lang="en-US" altLang="zh-TW" sz="1600" b="1" i="1">
                <a:ea typeface="細明體" panose="02020509000000000000" pitchFamily="49" charset="-120"/>
              </a:rPr>
              <a:t>list</a:t>
            </a:r>
            <a:r>
              <a:rPr lang="en-US" altLang="zh-TW" sz="1600" b="1">
                <a:ea typeface="細明體" panose="02020509000000000000" pitchFamily="49" charset="-120"/>
              </a:rPr>
              <a:t>&gt;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40037"/>
                                        </p:tgtEl>
                                        <p:attrNameLst>
                                          <p:attrName>style.visibility</p:attrName>
                                        </p:attrNameLst>
                                      </p:cBhvr>
                                      <p:to>
                                        <p:strVal val="visible"/>
                                      </p:to>
                                    </p:set>
                                    <p:animEffect transition="in" filter="dissolve">
                                      <p:cBhvr>
                                        <p:cTn id="7" dur="500"/>
                                        <p:tgtEl>
                                          <p:spTgt spid="940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003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F4F736EA-5311-4B56-3483-50FF3497DDC6}"/>
              </a:ext>
            </a:extLst>
          </p:cNvPr>
          <p:cNvSpPr>
            <a:spLocks noGrp="1"/>
          </p:cNvSpPr>
          <p:nvPr>
            <p:ph type="sldNum" sz="quarter" idx="10"/>
          </p:nvPr>
        </p:nvSpPr>
        <p:spPr/>
        <p:txBody>
          <a:bodyPr/>
          <a:lstStyle/>
          <a:p>
            <a:fld id="{C5501AFD-5E11-5E4B-A457-CE4A255FB72A}" type="slidenum">
              <a:rPr lang="en-US" altLang="zh-TW"/>
              <a:pPr/>
              <a:t>18</a:t>
            </a:fld>
            <a:endParaRPr lang="en-US" altLang="zh-TW"/>
          </a:p>
        </p:txBody>
      </p:sp>
      <p:sp>
        <p:nvSpPr>
          <p:cNvPr id="941058" name="Rectangle 2">
            <a:extLst>
              <a:ext uri="{FF2B5EF4-FFF2-40B4-BE49-F238E27FC236}">
                <a16:creationId xmlns:a16="http://schemas.microsoft.com/office/drawing/2014/main" id="{1142FBD6-4061-45C6-961B-978830757520}"/>
              </a:ext>
            </a:extLst>
          </p:cNvPr>
          <p:cNvSpPr>
            <a:spLocks noGrp="1" noChangeArrowheads="1"/>
          </p:cNvSpPr>
          <p:nvPr>
            <p:ph type="title"/>
          </p:nvPr>
        </p:nvSpPr>
        <p:spPr/>
        <p:txBody>
          <a:bodyPr/>
          <a:lstStyle/>
          <a:p>
            <a:r>
              <a:rPr lang="en-US" altLang="zh-TW"/>
              <a:t>Input/Output Files</a:t>
            </a:r>
          </a:p>
        </p:txBody>
      </p:sp>
      <p:sp>
        <p:nvSpPr>
          <p:cNvPr id="941059" name="Rectangle 3">
            <a:extLst>
              <a:ext uri="{FF2B5EF4-FFF2-40B4-BE49-F238E27FC236}">
                <a16:creationId xmlns:a16="http://schemas.microsoft.com/office/drawing/2014/main" id="{7FBF0C5D-7F0B-ACFB-EB04-F4C81B1C8BE4}"/>
              </a:ext>
            </a:extLst>
          </p:cNvPr>
          <p:cNvSpPr>
            <a:spLocks noGrp="1" noChangeArrowheads="1"/>
          </p:cNvSpPr>
          <p:nvPr>
            <p:ph type="body" idx="1"/>
          </p:nvPr>
        </p:nvSpPr>
        <p:spPr/>
        <p:txBody>
          <a:bodyPr/>
          <a:lstStyle/>
          <a:p>
            <a:pPr marL="381000" indent="-381000"/>
            <a:r>
              <a:rPr lang="en-US" altLang="zh-TW"/>
              <a:t>Input Files</a:t>
            </a:r>
          </a:p>
          <a:p>
            <a:pPr marL="800100" lvl="1" indent="-342900"/>
            <a:r>
              <a:rPr lang="en-US" altLang="zh-TW"/>
              <a:t>Gate-level Netlist</a:t>
            </a:r>
          </a:p>
          <a:p>
            <a:pPr marL="800100" lvl="1" indent="-342900"/>
            <a:r>
              <a:rPr lang="en-US" altLang="zh-TW"/>
              <a:t>Synopsys Dot Library </a:t>
            </a:r>
          </a:p>
          <a:p>
            <a:pPr marL="381000" indent="-381000"/>
            <a:r>
              <a:rPr lang="en-US" altLang="zh-TW"/>
              <a:t>Output Files</a:t>
            </a:r>
          </a:p>
          <a:p>
            <a:pPr marL="800100" lvl="1" indent="-342900"/>
            <a:r>
              <a:rPr lang="en-US" altLang="zh-TW"/>
              <a:t>Execution Log</a:t>
            </a:r>
          </a:p>
          <a:p>
            <a:pPr marL="800100" lvl="1" indent="-342900"/>
            <a:r>
              <a:rPr lang="en-US" altLang="zh-TW"/>
              <a:t>Validated Netlist</a:t>
            </a:r>
          </a:p>
          <a:p>
            <a:pPr marL="800100" lvl="1" indent="-342900"/>
            <a:r>
              <a:rPr lang="en-US" altLang="zh-TW"/>
              <a:t>SDC Constraint Files (Optional)</a:t>
            </a:r>
          </a:p>
          <a:p>
            <a:pPr marL="800100" lvl="1" indent="-342900"/>
            <a:r>
              <a:rPr lang="en-US" altLang="zh-TW"/>
              <a:t>Report</a:t>
            </a:r>
          </a:p>
          <a:p>
            <a:pPr marL="381000" indent="-381000"/>
            <a:endParaRPr lang="en-US" altLang="zh-TW"/>
          </a:p>
        </p:txBody>
      </p:sp>
      <p:sp>
        <p:nvSpPr>
          <p:cNvPr id="941060" name="AutoShape 4">
            <a:extLst>
              <a:ext uri="{FF2B5EF4-FFF2-40B4-BE49-F238E27FC236}">
                <a16:creationId xmlns:a16="http://schemas.microsoft.com/office/drawing/2014/main" id="{D98A1654-C726-71D5-DF65-5E80F3F6A6F3}"/>
              </a:ext>
            </a:extLst>
          </p:cNvPr>
          <p:cNvSpPr>
            <a:spLocks noChangeArrowheads="1"/>
          </p:cNvSpPr>
          <p:nvPr/>
        </p:nvSpPr>
        <p:spPr bwMode="auto">
          <a:xfrm>
            <a:off x="4232275" y="1700213"/>
            <a:ext cx="2520950" cy="719137"/>
          </a:xfrm>
          <a:prstGeom prst="wedgeRoundRectCallout">
            <a:avLst>
              <a:gd name="adj1" fmla="val -54093"/>
              <a:gd name="adj2" fmla="val 64347"/>
              <a:gd name="adj3" fmla="val 16667"/>
            </a:avLst>
          </a:prstGeom>
          <a:solidFill>
            <a:srgbClr val="FFFF99"/>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TW" sz="1600" b="1">
                <a:ea typeface="細明體" panose="02020509000000000000" pitchFamily="49" charset="-120"/>
              </a:rPr>
              <a:t>It is quite different from the previous one</a:t>
            </a:r>
          </a:p>
        </p:txBody>
      </p:sp>
      <p:sp>
        <p:nvSpPr>
          <p:cNvPr id="941061" name="AutoShape 5">
            <a:extLst>
              <a:ext uri="{FF2B5EF4-FFF2-40B4-BE49-F238E27FC236}">
                <a16:creationId xmlns:a16="http://schemas.microsoft.com/office/drawing/2014/main" id="{749BAFEF-AE41-E3DE-F969-341BD13F01A1}"/>
              </a:ext>
            </a:extLst>
          </p:cNvPr>
          <p:cNvSpPr>
            <a:spLocks noChangeArrowheads="1"/>
          </p:cNvSpPr>
          <p:nvPr/>
        </p:nvSpPr>
        <p:spPr bwMode="auto">
          <a:xfrm>
            <a:off x="5168900" y="3141663"/>
            <a:ext cx="2663825" cy="1223962"/>
          </a:xfrm>
          <a:prstGeom prst="wedgeRoundRectCallout">
            <a:avLst>
              <a:gd name="adj1" fmla="val -53338"/>
              <a:gd name="adj2" fmla="val 62190"/>
              <a:gd name="adj3" fmla="val 16667"/>
            </a:avLst>
          </a:prstGeom>
          <a:solidFill>
            <a:srgbClr val="FFFF99"/>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en-US" altLang="zh-TW" sz="1600" b="1">
                <a:ea typeface="細明體" panose="02020509000000000000" pitchFamily="49" charset="-120"/>
              </a:rPr>
              <a:t>If one of the following command options is given:</a:t>
            </a:r>
          </a:p>
          <a:p>
            <a:pPr algn="l"/>
            <a:r>
              <a:rPr lang="en-US" altLang="zh-TW" sz="1600" b="1">
                <a:ea typeface="細明體" panose="02020509000000000000" pitchFamily="49" charset="-120"/>
              </a:rPr>
              <a:t>-spare_spec &lt;</a:t>
            </a:r>
            <a:r>
              <a:rPr lang="en-US" altLang="zh-TW" sz="1600" b="1" i="1">
                <a:ea typeface="細明體" panose="02020509000000000000" pitchFamily="49" charset="-120"/>
              </a:rPr>
              <a:t>file</a:t>
            </a:r>
            <a:r>
              <a:rPr lang="en-US" altLang="zh-TW" sz="1600" b="1">
                <a:ea typeface="細明體" panose="02020509000000000000" pitchFamily="49" charset="-120"/>
              </a:rPr>
              <a:t>&gt;</a:t>
            </a:r>
          </a:p>
          <a:p>
            <a:pPr algn="l"/>
            <a:r>
              <a:rPr lang="en-US" altLang="zh-TW" sz="1600" b="1">
                <a:ea typeface="細明體" panose="02020509000000000000" pitchFamily="49" charset="-120"/>
              </a:rPr>
              <a:t>-analog_libpin &lt;</a:t>
            </a:r>
            <a:r>
              <a:rPr lang="en-US" altLang="zh-TW" sz="1600" b="1" i="1">
                <a:ea typeface="細明體" panose="02020509000000000000" pitchFamily="49" charset="-120"/>
              </a:rPr>
              <a:t>list</a:t>
            </a:r>
            <a:r>
              <a:rPr lang="en-US" altLang="zh-TW" sz="1600" b="1">
                <a:ea typeface="細明體" panose="02020509000000000000" pitchFamily="49" charset="-120"/>
              </a:rPr>
              <a:t>&gt;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41060"/>
                                        </p:tgtEl>
                                        <p:attrNameLst>
                                          <p:attrName>style.visibility</p:attrName>
                                        </p:attrNameLst>
                                      </p:cBhvr>
                                      <p:to>
                                        <p:strVal val="visible"/>
                                      </p:to>
                                    </p:set>
                                    <p:animEffect transition="in" filter="dissolve">
                                      <p:cBhvr>
                                        <p:cTn id="7" dur="500"/>
                                        <p:tgtEl>
                                          <p:spTgt spid="9410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41061"/>
                                        </p:tgtEl>
                                        <p:attrNameLst>
                                          <p:attrName>style.visibility</p:attrName>
                                        </p:attrNameLst>
                                      </p:cBhvr>
                                      <p:to>
                                        <p:strVal val="visible"/>
                                      </p:to>
                                    </p:set>
                                    <p:animEffect transition="in" filter="dissolve">
                                      <p:cBhvr>
                                        <p:cTn id="12" dur="500"/>
                                        <p:tgtEl>
                                          <p:spTgt spid="941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1060" grpId="0" animBg="1"/>
      <p:bldP spid="94106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D643CC84-A999-F9A7-25AF-750178566E6A}"/>
              </a:ext>
            </a:extLst>
          </p:cNvPr>
          <p:cNvSpPr>
            <a:spLocks noGrp="1"/>
          </p:cNvSpPr>
          <p:nvPr>
            <p:ph type="sldNum" sz="quarter" idx="10"/>
          </p:nvPr>
        </p:nvSpPr>
        <p:spPr/>
        <p:txBody>
          <a:bodyPr/>
          <a:lstStyle/>
          <a:p>
            <a:fld id="{741D6561-B6A5-6D49-9B80-F3DD3BD0729C}" type="slidenum">
              <a:rPr lang="en-US" altLang="zh-TW"/>
              <a:pPr/>
              <a:t>19</a:t>
            </a:fld>
            <a:endParaRPr lang="en-US" altLang="zh-TW"/>
          </a:p>
        </p:txBody>
      </p:sp>
      <p:sp>
        <p:nvSpPr>
          <p:cNvPr id="944130" name="Rectangle 1026">
            <a:extLst>
              <a:ext uri="{FF2B5EF4-FFF2-40B4-BE49-F238E27FC236}">
                <a16:creationId xmlns:a16="http://schemas.microsoft.com/office/drawing/2014/main" id="{8912747D-F8DC-27AE-7F78-3B9984B2150A}"/>
              </a:ext>
            </a:extLst>
          </p:cNvPr>
          <p:cNvSpPr>
            <a:spLocks noGrp="1" noChangeArrowheads="1"/>
          </p:cNvSpPr>
          <p:nvPr>
            <p:ph type="title"/>
          </p:nvPr>
        </p:nvSpPr>
        <p:spPr/>
        <p:txBody>
          <a:bodyPr/>
          <a:lstStyle/>
          <a:p>
            <a:r>
              <a:rPr lang="en-US" altLang="zh-TW"/>
              <a:t>Command Usage (1/5)</a:t>
            </a:r>
          </a:p>
        </p:txBody>
      </p:sp>
      <p:sp>
        <p:nvSpPr>
          <p:cNvPr id="944131" name="Rectangle 1027">
            <a:extLst>
              <a:ext uri="{FF2B5EF4-FFF2-40B4-BE49-F238E27FC236}">
                <a16:creationId xmlns:a16="http://schemas.microsoft.com/office/drawing/2014/main" id="{7B7CAE75-9CC0-78FD-FA1B-7566F2E452FE}"/>
              </a:ext>
            </a:extLst>
          </p:cNvPr>
          <p:cNvSpPr>
            <a:spLocks noGrp="1" noChangeArrowheads="1"/>
          </p:cNvSpPr>
          <p:nvPr>
            <p:ph type="body" idx="1"/>
          </p:nvPr>
        </p:nvSpPr>
        <p:spPr>
          <a:xfrm>
            <a:off x="488950" y="1125538"/>
            <a:ext cx="9144000" cy="4648200"/>
          </a:xfrm>
        </p:spPr>
        <p:txBody>
          <a:bodyPr/>
          <a:lstStyle/>
          <a:p>
            <a:pPr>
              <a:lnSpc>
                <a:spcPct val="110000"/>
              </a:lnSpc>
            </a:pPr>
            <a:r>
              <a:rPr lang="en-US" altLang="zh-TW" sz="1600"/>
              <a:t>Command Usage</a:t>
            </a:r>
          </a:p>
          <a:p>
            <a:pPr lvl="1">
              <a:lnSpc>
                <a:spcPct val="110000"/>
              </a:lnSpc>
              <a:buFontTx/>
              <a:buNone/>
            </a:pPr>
            <a:r>
              <a:rPr lang="en-US" altLang="zh-TW" sz="1600"/>
              <a:t>uns [options]</a:t>
            </a:r>
          </a:p>
          <a:p>
            <a:pPr>
              <a:lnSpc>
                <a:spcPct val="110000"/>
              </a:lnSpc>
            </a:pPr>
            <a:r>
              <a:rPr lang="en-US" altLang="zh-TW" sz="1600"/>
              <a:t>Official Command Options </a:t>
            </a:r>
          </a:p>
          <a:p>
            <a:pPr lvl="1">
              <a:lnSpc>
                <a:spcPct val="110000"/>
              </a:lnSpc>
              <a:buFontTx/>
              <a:buNone/>
            </a:pPr>
            <a:r>
              <a:rPr lang="en-US" altLang="zh-TW" sz="1600"/>
              <a:t>-lib &lt;file&gt;</a:t>
            </a:r>
          </a:p>
          <a:p>
            <a:pPr lvl="2">
              <a:lnSpc>
                <a:spcPct val="90000"/>
              </a:lnSpc>
              <a:buFont typeface="Arial" panose="020B0604020202020204" pitchFamily="34" charset="0"/>
              <a:buChar char="‏"/>
            </a:pPr>
            <a:r>
              <a:rPr lang="en-US" altLang="zh-TW" sz="1600"/>
              <a:t>Read dot library (.lib) model for standard core cell. This command option can be specified multiple times with a proper file path. Multiple dot library files can also be designated within braces per this command option.</a:t>
            </a:r>
          </a:p>
          <a:p>
            <a:pPr lvl="1">
              <a:lnSpc>
                <a:spcPct val="110000"/>
              </a:lnSpc>
              <a:buFontTx/>
              <a:buNone/>
            </a:pPr>
            <a:r>
              <a:rPr lang="en-US" altLang="zh-TW" sz="1600"/>
              <a:t>-iolib &lt;file&gt;</a:t>
            </a:r>
          </a:p>
          <a:p>
            <a:pPr lvl="2">
              <a:lnSpc>
                <a:spcPct val="90000"/>
              </a:lnSpc>
              <a:buFont typeface="Arial" panose="020B0604020202020204" pitchFamily="34" charset="0"/>
              <a:buChar char="‏"/>
            </a:pPr>
            <a:r>
              <a:rPr lang="en-US" altLang="zh-TW" sz="1600"/>
              <a:t>Read dot library (.lib) model for</a:t>
            </a:r>
            <a:r>
              <a:rPr lang="en-US" altLang="zh-TW" sz="1600">
                <a:solidFill>
                  <a:srgbClr val="FF3300"/>
                </a:solidFill>
              </a:rPr>
              <a:t> I/O </a:t>
            </a:r>
            <a:r>
              <a:rPr lang="en-US" altLang="zh-TW" sz="1600"/>
              <a:t>cell. This command option can be specified multiple times with a proper file path. Multiple dot library files can also be designated within braces per this command option.</a:t>
            </a:r>
          </a:p>
          <a:p>
            <a:pPr lvl="1">
              <a:lnSpc>
                <a:spcPct val="110000"/>
              </a:lnSpc>
              <a:buFontTx/>
              <a:buNone/>
            </a:pPr>
            <a:r>
              <a:rPr lang="en-US" altLang="zh-TW" sz="1600"/>
              <a:t>-mlib &lt;file&gt;</a:t>
            </a:r>
          </a:p>
          <a:p>
            <a:pPr lvl="2">
              <a:lnSpc>
                <a:spcPct val="90000"/>
              </a:lnSpc>
              <a:buFont typeface="Arial" panose="020B0604020202020204" pitchFamily="34" charset="0"/>
              <a:buChar char="‏"/>
            </a:pPr>
            <a:r>
              <a:rPr lang="en-US" altLang="zh-TW" sz="1600"/>
              <a:t>Read dot library (.lib) model for </a:t>
            </a:r>
            <a:r>
              <a:rPr lang="en-US" altLang="zh-TW" sz="1600">
                <a:solidFill>
                  <a:srgbClr val="FF3300"/>
                </a:solidFill>
              </a:rPr>
              <a:t>memory</a:t>
            </a:r>
            <a:r>
              <a:rPr lang="en-US" altLang="zh-TW" sz="1600"/>
              <a:t> and </a:t>
            </a:r>
            <a:r>
              <a:rPr lang="en-US" altLang="zh-TW" sz="1600">
                <a:solidFill>
                  <a:srgbClr val="FF3300"/>
                </a:solidFill>
              </a:rPr>
              <a:t>hard-macro</a:t>
            </a:r>
            <a:r>
              <a:rPr lang="en-US" altLang="zh-TW" sz="1600"/>
              <a:t>. This command option can be specified multiple times with a proper file path. Multiple dot library files can also be designated within braces per this command option.</a:t>
            </a:r>
          </a:p>
        </p:txBody>
      </p:sp>
      <p:sp>
        <p:nvSpPr>
          <p:cNvPr id="944132" name="AutoShape 1028">
            <a:extLst>
              <a:ext uri="{FF2B5EF4-FFF2-40B4-BE49-F238E27FC236}">
                <a16:creationId xmlns:a16="http://schemas.microsoft.com/office/drawing/2014/main" id="{EB2787D6-EE39-1456-B673-D1BB14073281}"/>
              </a:ext>
            </a:extLst>
          </p:cNvPr>
          <p:cNvSpPr>
            <a:spLocks noChangeArrowheads="1"/>
          </p:cNvSpPr>
          <p:nvPr/>
        </p:nvSpPr>
        <p:spPr bwMode="auto">
          <a:xfrm>
            <a:off x="6248400" y="1916113"/>
            <a:ext cx="2808288" cy="719137"/>
          </a:xfrm>
          <a:prstGeom prst="wedgeRoundRectCallout">
            <a:avLst>
              <a:gd name="adj1" fmla="val -49319"/>
              <a:gd name="adj2" fmla="val 71412"/>
              <a:gd name="adj3" fmla="val 16667"/>
            </a:avLst>
          </a:prstGeom>
          <a:solidFill>
            <a:srgbClr val="FFFF99"/>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TW" sz="1600" b="1">
                <a:ea typeface="細明體" panose="02020509000000000000" pitchFamily="49" charset="-120"/>
              </a:rPr>
              <a:t>those command options will affect the calculation for cell area</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44132"/>
                                        </p:tgtEl>
                                        <p:attrNameLst>
                                          <p:attrName>style.visibility</p:attrName>
                                        </p:attrNameLst>
                                      </p:cBhvr>
                                      <p:to>
                                        <p:strVal val="visible"/>
                                      </p:to>
                                    </p:set>
                                    <p:animEffect transition="in" filter="dissolve">
                                      <p:cBhvr>
                                        <p:cTn id="7" dur="500"/>
                                        <p:tgtEl>
                                          <p:spTgt spid="944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413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DC096A8B-EBA7-E563-8F5B-68991BC2C676}"/>
              </a:ext>
            </a:extLst>
          </p:cNvPr>
          <p:cNvSpPr>
            <a:spLocks noGrp="1"/>
          </p:cNvSpPr>
          <p:nvPr>
            <p:ph type="sldNum" sz="quarter" idx="10"/>
          </p:nvPr>
        </p:nvSpPr>
        <p:spPr/>
        <p:txBody>
          <a:bodyPr/>
          <a:lstStyle/>
          <a:p>
            <a:fld id="{B4649690-DE65-F546-99CB-BD4BEEE7A037}" type="slidenum">
              <a:rPr lang="en-US" altLang="zh-TW"/>
              <a:pPr/>
              <a:t>20</a:t>
            </a:fld>
            <a:endParaRPr lang="en-US" altLang="zh-TW"/>
          </a:p>
        </p:txBody>
      </p:sp>
      <p:sp>
        <p:nvSpPr>
          <p:cNvPr id="945154" name="Rectangle 2">
            <a:extLst>
              <a:ext uri="{FF2B5EF4-FFF2-40B4-BE49-F238E27FC236}">
                <a16:creationId xmlns:a16="http://schemas.microsoft.com/office/drawing/2014/main" id="{D66B4CFB-A07D-A0C9-5CCD-961894D8414E}"/>
              </a:ext>
            </a:extLst>
          </p:cNvPr>
          <p:cNvSpPr>
            <a:spLocks noGrp="1" noChangeArrowheads="1"/>
          </p:cNvSpPr>
          <p:nvPr>
            <p:ph type="title"/>
          </p:nvPr>
        </p:nvSpPr>
        <p:spPr/>
        <p:txBody>
          <a:bodyPr/>
          <a:lstStyle/>
          <a:p>
            <a:r>
              <a:rPr lang="en-US" altLang="zh-TW"/>
              <a:t>Command Usage (2/5)</a:t>
            </a:r>
          </a:p>
        </p:txBody>
      </p:sp>
      <p:sp>
        <p:nvSpPr>
          <p:cNvPr id="945155" name="Rectangle 3">
            <a:extLst>
              <a:ext uri="{FF2B5EF4-FFF2-40B4-BE49-F238E27FC236}">
                <a16:creationId xmlns:a16="http://schemas.microsoft.com/office/drawing/2014/main" id="{2921422D-8A31-CA25-2B26-0320D7858A37}"/>
              </a:ext>
            </a:extLst>
          </p:cNvPr>
          <p:cNvSpPr>
            <a:spLocks noGrp="1" noChangeArrowheads="1"/>
          </p:cNvSpPr>
          <p:nvPr>
            <p:ph type="body" idx="1"/>
          </p:nvPr>
        </p:nvSpPr>
        <p:spPr>
          <a:xfrm>
            <a:off x="849313" y="1125538"/>
            <a:ext cx="8221662" cy="4648200"/>
          </a:xfrm>
        </p:spPr>
        <p:txBody>
          <a:bodyPr/>
          <a:lstStyle/>
          <a:p>
            <a:pPr lvl="1">
              <a:buFontTx/>
              <a:buNone/>
            </a:pPr>
            <a:r>
              <a:rPr lang="en-US" altLang="zh-TW" sz="1600"/>
              <a:t>-netlist &lt;file&gt;</a:t>
            </a:r>
          </a:p>
          <a:p>
            <a:pPr lvl="2">
              <a:buFont typeface="Arial" panose="020B0604020202020204" pitchFamily="34" charset="0"/>
              <a:buChar char="‏"/>
            </a:pPr>
            <a:r>
              <a:rPr lang="en-US" altLang="zh-TW" sz="1600"/>
              <a:t>Read gate-level verilog netlist. This command option can be specified multiple times with a proper file path. Multiple gate-level netlist files can also be designated within braces per this command option.</a:t>
            </a:r>
          </a:p>
          <a:p>
            <a:pPr lvl="1">
              <a:buFontTx/>
              <a:buNone/>
            </a:pPr>
            <a:r>
              <a:rPr lang="en-US" altLang="zh-TW" sz="1600"/>
              <a:t>-ref &lt;module&gt;</a:t>
            </a:r>
          </a:p>
          <a:p>
            <a:pPr lvl="2">
              <a:buFont typeface="Arial" panose="020B0604020202020204" pitchFamily="34" charset="0"/>
              <a:buChar char="‏"/>
            </a:pPr>
            <a:r>
              <a:rPr lang="en-US" altLang="zh-TW" sz="1600"/>
              <a:t>Specify a basis gate for computing equivalent gate count. Please specify the smallest 2-input NAND gate as the reference cell. If the reference cell is not well specified, the equivalent gate count will be wrong.</a:t>
            </a:r>
          </a:p>
          <a:p>
            <a:pPr lvl="1">
              <a:buFontTx/>
              <a:buNone/>
            </a:pPr>
            <a:r>
              <a:rPr lang="en-US" altLang="zh-TW" sz="1600"/>
              <a:t>-buf &lt;module&gt;</a:t>
            </a:r>
          </a:p>
          <a:p>
            <a:pPr lvl="2">
              <a:buFont typeface="Arial" panose="020B0604020202020204" pitchFamily="34" charset="0"/>
              <a:buChar char="‏"/>
            </a:pPr>
            <a:r>
              <a:rPr lang="en-US" altLang="zh-TW" sz="1600"/>
              <a:t>Replace the assign statement with the specified buffer. </a:t>
            </a:r>
            <a:r>
              <a:rPr lang="en-US" altLang="zh-TW" sz="1600">
                <a:solidFill>
                  <a:srgbClr val="FF3300"/>
                </a:solidFill>
              </a:rPr>
              <a:t>In GUC design service flow, “assign” statement is not allowed in the validated netlist. One should clean up the “assign” statement either through this option or refer to Chapter 2 to avoid “assign” statement during synthesis. If customer uses this option to clean up the “assign” statement, he/she should pay more attention to the gate count and timing increase due to buffer replacement.</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C83B1D6C-BFC8-98C0-C8C9-53C376AE21FA}"/>
              </a:ext>
            </a:extLst>
          </p:cNvPr>
          <p:cNvSpPr>
            <a:spLocks noGrp="1"/>
          </p:cNvSpPr>
          <p:nvPr>
            <p:ph type="sldNum" sz="quarter" idx="10"/>
          </p:nvPr>
        </p:nvSpPr>
        <p:spPr/>
        <p:txBody>
          <a:bodyPr/>
          <a:lstStyle/>
          <a:p>
            <a:fld id="{5CDD33AD-4AF7-2045-9ADA-5026A47DD406}" type="slidenum">
              <a:rPr lang="en-US" altLang="zh-TW"/>
              <a:pPr/>
              <a:t>21</a:t>
            </a:fld>
            <a:endParaRPr lang="en-US" altLang="zh-TW"/>
          </a:p>
        </p:txBody>
      </p:sp>
      <p:sp>
        <p:nvSpPr>
          <p:cNvPr id="946178" name="Rectangle 2">
            <a:extLst>
              <a:ext uri="{FF2B5EF4-FFF2-40B4-BE49-F238E27FC236}">
                <a16:creationId xmlns:a16="http://schemas.microsoft.com/office/drawing/2014/main" id="{75FCFA86-EF1C-B944-5249-49136F13905C}"/>
              </a:ext>
            </a:extLst>
          </p:cNvPr>
          <p:cNvSpPr>
            <a:spLocks noGrp="1" noChangeArrowheads="1"/>
          </p:cNvSpPr>
          <p:nvPr>
            <p:ph type="title"/>
          </p:nvPr>
        </p:nvSpPr>
        <p:spPr/>
        <p:txBody>
          <a:bodyPr/>
          <a:lstStyle/>
          <a:p>
            <a:r>
              <a:rPr lang="en-US" altLang="zh-TW"/>
              <a:t>Command Usage (3/5)</a:t>
            </a:r>
          </a:p>
        </p:txBody>
      </p:sp>
      <p:sp>
        <p:nvSpPr>
          <p:cNvPr id="946179" name="Rectangle 3">
            <a:extLst>
              <a:ext uri="{FF2B5EF4-FFF2-40B4-BE49-F238E27FC236}">
                <a16:creationId xmlns:a16="http://schemas.microsoft.com/office/drawing/2014/main" id="{0242C413-B7B6-7AAB-18C6-6D661C8288EB}"/>
              </a:ext>
            </a:extLst>
          </p:cNvPr>
          <p:cNvSpPr>
            <a:spLocks noGrp="1" noChangeArrowheads="1"/>
          </p:cNvSpPr>
          <p:nvPr>
            <p:ph type="body" idx="1"/>
          </p:nvPr>
        </p:nvSpPr>
        <p:spPr>
          <a:xfrm>
            <a:off x="920750" y="1125538"/>
            <a:ext cx="8807450" cy="4822825"/>
          </a:xfrm>
        </p:spPr>
        <p:txBody>
          <a:bodyPr/>
          <a:lstStyle/>
          <a:p>
            <a:pPr lvl="1">
              <a:buFontTx/>
              <a:buNone/>
            </a:pPr>
            <a:r>
              <a:rPr lang="en-US" altLang="zh-TW" sz="1600"/>
              <a:t>-top &lt;module&gt;</a:t>
            </a:r>
          </a:p>
          <a:p>
            <a:pPr lvl="2">
              <a:buFont typeface="Arial" panose="020B0604020202020204" pitchFamily="34" charset="0"/>
              <a:buChar char="‏"/>
            </a:pPr>
            <a:r>
              <a:rPr lang="en-US" altLang="zh-TW" sz="1600"/>
              <a:t>Specify the top module name.</a:t>
            </a:r>
          </a:p>
          <a:p>
            <a:pPr lvl="1">
              <a:buFontTx/>
              <a:buNone/>
            </a:pPr>
            <a:r>
              <a:rPr lang="en-US" altLang="zh-TW" sz="1600"/>
              <a:t>-file &lt;command_file&gt;</a:t>
            </a:r>
          </a:p>
          <a:p>
            <a:pPr lvl="2">
              <a:buFont typeface="Arial" panose="020B0604020202020204" pitchFamily="34" charset="0"/>
              <a:buChar char="‏"/>
            </a:pPr>
            <a:r>
              <a:rPr lang="en-US" altLang="zh-TW" sz="1600"/>
              <a:t>Read and perform the host command options from the specified command file.</a:t>
            </a:r>
          </a:p>
          <a:p>
            <a:pPr lvl="1">
              <a:buFontTx/>
              <a:buNone/>
            </a:pPr>
            <a:r>
              <a:rPr lang="en-US" altLang="zh-TW" sz="1600"/>
              <a:t>-skip_escape_char</a:t>
            </a:r>
          </a:p>
          <a:p>
            <a:pPr lvl="2">
              <a:buFont typeface="Arial" panose="020B0604020202020204" pitchFamily="34" charset="0"/>
              <a:buChar char="‏"/>
            </a:pPr>
            <a:r>
              <a:rPr lang="en-US" altLang="zh-TW" sz="1600"/>
              <a:t>Skip escape character '\' check (used for post-layout only). After performing P&amp;R, the post-layout netlist may have back-slash characters. Customer can use this option to skip the checking of escape character during ECO flow. </a:t>
            </a:r>
            <a:r>
              <a:rPr lang="en-US" altLang="zh-TW" sz="1600">
                <a:solidFill>
                  <a:srgbClr val="FF3300"/>
                </a:solidFill>
              </a:rPr>
              <a:t>In GUC design service flow, back-slash characters are not allowed in pre-layout netlist. Customer can refer to Chapter 2 to remove the back-slash character in pre-layout stage</a:t>
            </a:r>
            <a:r>
              <a:rPr lang="en-US" altLang="zh-TW" sz="1600"/>
              <a:t>. </a:t>
            </a:r>
          </a:p>
          <a:p>
            <a:pPr lvl="1">
              <a:buFontTx/>
              <a:buNone/>
            </a:pPr>
            <a:r>
              <a:rPr lang="en-US" altLang="zh-TW" sz="1600"/>
              <a:t>-clock &lt; list &gt;</a:t>
            </a:r>
          </a:p>
          <a:p>
            <a:pPr lvl="2">
              <a:buFont typeface="Arial" panose="020B0604020202020204" pitchFamily="34" charset="0"/>
              <a:buChar char="‏"/>
            </a:pPr>
            <a:r>
              <a:rPr lang="en-US" altLang="zh-TW" sz="1600"/>
              <a:t>Specify a list of hierarchical pin, port or net name as the clock roots for analyzing clock domain and identifying non-driven clock pins. </a:t>
            </a:r>
            <a:r>
              <a:rPr lang="en-US" altLang="zh-TW" sz="1600">
                <a:solidFill>
                  <a:srgbClr val="FF3300"/>
                </a:solidFill>
              </a:rPr>
              <a:t>A detail report ‘clock_tree_cell.rpt’ for clock tree cells will be generated automatically.</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28514C9C-A46E-191C-A329-F01152AEA400}"/>
              </a:ext>
            </a:extLst>
          </p:cNvPr>
          <p:cNvSpPr>
            <a:spLocks noGrp="1"/>
          </p:cNvSpPr>
          <p:nvPr>
            <p:ph type="sldNum" sz="quarter" idx="10"/>
          </p:nvPr>
        </p:nvSpPr>
        <p:spPr/>
        <p:txBody>
          <a:bodyPr/>
          <a:lstStyle/>
          <a:p>
            <a:fld id="{BEE956C1-D2E6-E249-A160-F72510C93230}" type="slidenum">
              <a:rPr lang="en-US" altLang="zh-TW"/>
              <a:pPr/>
              <a:t>22</a:t>
            </a:fld>
            <a:endParaRPr lang="en-US" altLang="zh-TW"/>
          </a:p>
        </p:txBody>
      </p:sp>
      <p:sp>
        <p:nvSpPr>
          <p:cNvPr id="947202" name="Rectangle 2">
            <a:extLst>
              <a:ext uri="{FF2B5EF4-FFF2-40B4-BE49-F238E27FC236}">
                <a16:creationId xmlns:a16="http://schemas.microsoft.com/office/drawing/2014/main" id="{2198758F-4F50-1774-F6CF-A0443FD23507}"/>
              </a:ext>
            </a:extLst>
          </p:cNvPr>
          <p:cNvSpPr>
            <a:spLocks noGrp="1" noChangeArrowheads="1"/>
          </p:cNvSpPr>
          <p:nvPr>
            <p:ph type="title"/>
          </p:nvPr>
        </p:nvSpPr>
        <p:spPr/>
        <p:txBody>
          <a:bodyPr/>
          <a:lstStyle/>
          <a:p>
            <a:r>
              <a:rPr lang="en-US" altLang="zh-TW"/>
              <a:t>Command Usage (4/5)</a:t>
            </a:r>
          </a:p>
        </p:txBody>
      </p:sp>
      <p:sp>
        <p:nvSpPr>
          <p:cNvPr id="947203" name="Rectangle 3">
            <a:extLst>
              <a:ext uri="{FF2B5EF4-FFF2-40B4-BE49-F238E27FC236}">
                <a16:creationId xmlns:a16="http://schemas.microsoft.com/office/drawing/2014/main" id="{561E7948-BB7A-DE0E-F647-4DAD0C9D3D09}"/>
              </a:ext>
            </a:extLst>
          </p:cNvPr>
          <p:cNvSpPr>
            <a:spLocks noGrp="1" noChangeArrowheads="1"/>
          </p:cNvSpPr>
          <p:nvPr>
            <p:ph type="body" idx="1"/>
          </p:nvPr>
        </p:nvSpPr>
        <p:spPr>
          <a:xfrm>
            <a:off x="992188" y="1125538"/>
            <a:ext cx="8221662" cy="4648200"/>
          </a:xfrm>
        </p:spPr>
        <p:txBody>
          <a:bodyPr/>
          <a:lstStyle/>
          <a:p>
            <a:pPr lvl="1">
              <a:buFontTx/>
              <a:buNone/>
            </a:pPr>
            <a:r>
              <a:rPr lang="en-US" altLang="zh-TW" sz="1600"/>
              <a:t>-max_block_size &lt;digit&gt;</a:t>
            </a:r>
          </a:p>
          <a:p>
            <a:pPr lvl="2">
              <a:buFont typeface="Arial" panose="020B0604020202020204" pitchFamily="34" charset="0"/>
              <a:buChar char="‏"/>
            </a:pPr>
            <a:r>
              <a:rPr lang="en-US" altLang="zh-TW" sz="1600"/>
              <a:t>Specify a threshold for identifying the large sub-block; the default value is 300,000 instances.</a:t>
            </a:r>
          </a:p>
          <a:p>
            <a:pPr lvl="1">
              <a:buFontTx/>
              <a:buNone/>
            </a:pPr>
            <a:r>
              <a:rPr lang="en-US" altLang="zh-TW" sz="1600"/>
              <a:t>-max_logic_level &lt;digit&gt;</a:t>
            </a:r>
          </a:p>
          <a:p>
            <a:pPr lvl="2">
              <a:buFont typeface="Arial" panose="020B0604020202020204" pitchFamily="34" charset="0"/>
              <a:buChar char="‏"/>
            </a:pPr>
            <a:r>
              <a:rPr lang="en-US" altLang="zh-TW" sz="1600"/>
              <a:t>Specify a threshold for identifying the long path whose logic level is larger than the threshold. The default value is 50.</a:t>
            </a:r>
          </a:p>
          <a:p>
            <a:pPr lvl="1">
              <a:buFontTx/>
              <a:buNone/>
            </a:pPr>
            <a:r>
              <a:rPr lang="en-US" altLang="zh-TW" sz="1600"/>
              <a:t>-max_fanout &lt;digit&gt;</a:t>
            </a:r>
          </a:p>
          <a:p>
            <a:pPr lvl="2">
              <a:buFont typeface="Arial" panose="020B0604020202020204" pitchFamily="34" charset="0"/>
              <a:buChar char="‏"/>
            </a:pPr>
            <a:r>
              <a:rPr lang="en-US" altLang="zh-TW" sz="1600"/>
              <a:t>Specify a high fan-out threshold. The default value is 100.</a:t>
            </a:r>
          </a:p>
          <a:p>
            <a:pPr lvl="1">
              <a:buFontTx/>
              <a:buNone/>
            </a:pPr>
            <a:r>
              <a:rPr lang="en-US" altLang="zh-TW" sz="1600"/>
              <a:t>-analog_libpin &lt;list&gt;</a:t>
            </a:r>
          </a:p>
          <a:p>
            <a:pPr lvl="2">
              <a:buFont typeface="Arial" panose="020B0604020202020204" pitchFamily="34" charset="0"/>
              <a:buChar char="‏"/>
            </a:pPr>
            <a:r>
              <a:rPr lang="en-US" altLang="zh-TW" sz="1600"/>
              <a:t>Specify a list of library pin of analog design for recognizing the analog instances and identifying those illegal insertions of digital cells on analog path. A don’t touch SDC constraint ‘analog_path.sdc’ for those enumerated analog designs will also be generated automatically. One can use the SDC constraint during P&amp;R to set don’t touch for the connections between analog macros.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CA072DEE-526A-A47E-80CD-C818E34B307F}"/>
              </a:ext>
            </a:extLst>
          </p:cNvPr>
          <p:cNvSpPr>
            <a:spLocks noGrp="1"/>
          </p:cNvSpPr>
          <p:nvPr>
            <p:ph type="sldNum" sz="quarter" idx="10"/>
          </p:nvPr>
        </p:nvSpPr>
        <p:spPr/>
        <p:txBody>
          <a:bodyPr/>
          <a:lstStyle/>
          <a:p>
            <a:fld id="{45FE2E57-3C34-4447-9097-4E013C98A5C8}" type="slidenum">
              <a:rPr lang="en-US" altLang="zh-TW"/>
              <a:pPr/>
              <a:t>23</a:t>
            </a:fld>
            <a:endParaRPr lang="en-US" altLang="zh-TW"/>
          </a:p>
        </p:txBody>
      </p:sp>
      <p:sp>
        <p:nvSpPr>
          <p:cNvPr id="948226" name="Rectangle 2">
            <a:extLst>
              <a:ext uri="{FF2B5EF4-FFF2-40B4-BE49-F238E27FC236}">
                <a16:creationId xmlns:a16="http://schemas.microsoft.com/office/drawing/2014/main" id="{3FFFF374-D74F-C9B8-3079-07123BEBEEEC}"/>
              </a:ext>
            </a:extLst>
          </p:cNvPr>
          <p:cNvSpPr>
            <a:spLocks noGrp="1" noChangeArrowheads="1"/>
          </p:cNvSpPr>
          <p:nvPr>
            <p:ph type="title"/>
          </p:nvPr>
        </p:nvSpPr>
        <p:spPr/>
        <p:txBody>
          <a:bodyPr/>
          <a:lstStyle/>
          <a:p>
            <a:r>
              <a:rPr lang="en-US" altLang="zh-TW"/>
              <a:t>Command Usage (5/5)</a:t>
            </a:r>
          </a:p>
        </p:txBody>
      </p:sp>
      <p:sp>
        <p:nvSpPr>
          <p:cNvPr id="948227" name="Rectangle 3">
            <a:extLst>
              <a:ext uri="{FF2B5EF4-FFF2-40B4-BE49-F238E27FC236}">
                <a16:creationId xmlns:a16="http://schemas.microsoft.com/office/drawing/2014/main" id="{489EB6D1-D3E0-7440-C448-81FEF41A77E3}"/>
              </a:ext>
            </a:extLst>
          </p:cNvPr>
          <p:cNvSpPr>
            <a:spLocks noGrp="1" noChangeArrowheads="1"/>
          </p:cNvSpPr>
          <p:nvPr>
            <p:ph type="body" idx="1"/>
          </p:nvPr>
        </p:nvSpPr>
        <p:spPr>
          <a:xfrm>
            <a:off x="849313" y="1125538"/>
            <a:ext cx="8221662" cy="4648200"/>
          </a:xfrm>
        </p:spPr>
        <p:txBody>
          <a:bodyPr/>
          <a:lstStyle/>
          <a:p>
            <a:pPr lvl="1">
              <a:buFontTx/>
              <a:buNone/>
            </a:pPr>
            <a:r>
              <a:rPr lang="en-US" altLang="zh-TW" sz="1600"/>
              <a:t>-spare_spec &lt;spare_list&gt;</a:t>
            </a:r>
          </a:p>
          <a:p>
            <a:pPr lvl="2">
              <a:buFont typeface="Arial" panose="020B0604020202020204" pitchFamily="34" charset="0"/>
              <a:buChar char="‏"/>
            </a:pPr>
            <a:r>
              <a:rPr lang="en-US" altLang="zh-TW" sz="1600"/>
              <a:t>An example of &lt;spare_list&gt; file is shown below, where the hierarchical instance name of spare cells and their corresponding referenced library cell types are specified. If this command option is specified, UNS enumerates those spare cells described in the spare_list and summarizes the checking result in check_spare_cell section of the UNS report. A don’t touch SDC constraint ‘spare_cell.sdc’ for those enumerated spare cells will also be generated automatically. </a:t>
            </a:r>
          </a:p>
          <a:p>
            <a:pPr lvl="1">
              <a:buFontTx/>
              <a:buNone/>
            </a:pPr>
            <a:r>
              <a:rPr lang="en-US" altLang="zh-TW" sz="1600"/>
              <a:t>-opath &lt;directory&gt;</a:t>
            </a:r>
          </a:p>
          <a:p>
            <a:pPr lvl="2">
              <a:buFont typeface="Arial" panose="020B0604020202020204" pitchFamily="34" charset="0"/>
              <a:buChar char="‏"/>
            </a:pPr>
            <a:r>
              <a:rPr lang="en-US" altLang="zh-TW" sz="1600"/>
              <a:t>Specify the output directory.</a:t>
            </a:r>
          </a:p>
          <a:p>
            <a:pPr lvl="1">
              <a:buFontTx/>
              <a:buNone/>
            </a:pPr>
            <a:r>
              <a:rPr lang="en-US" altLang="zh-TW" sz="1600"/>
              <a:t>-verbose</a:t>
            </a:r>
          </a:p>
          <a:p>
            <a:pPr lvl="2">
              <a:buFont typeface="Arial" panose="020B0604020202020204" pitchFamily="34" charset="0"/>
              <a:buChar char="‏"/>
            </a:pPr>
            <a:r>
              <a:rPr lang="en-US" altLang="zh-TW" sz="1600"/>
              <a:t>This option will lead the UNS to generate detail report.</a:t>
            </a:r>
          </a:p>
          <a:p>
            <a:pPr lvl="1">
              <a:buFontTx/>
              <a:buNone/>
            </a:pPr>
            <a:r>
              <a:rPr lang="en-US" altLang="zh-TW" sz="1600"/>
              <a:t>-help</a:t>
            </a:r>
          </a:p>
          <a:p>
            <a:pPr lvl="2">
              <a:buFont typeface="Arial" panose="020B0604020202020204" pitchFamily="34" charset="0"/>
              <a:buChar char="‏"/>
            </a:pPr>
            <a:r>
              <a:rPr lang="en-US" altLang="zh-TW" sz="1600"/>
              <a:t>Show command usage.</a:t>
            </a:r>
          </a:p>
        </p:txBody>
      </p:sp>
      <p:sp>
        <p:nvSpPr>
          <p:cNvPr id="948228" name="Rectangle 4">
            <a:extLst>
              <a:ext uri="{FF2B5EF4-FFF2-40B4-BE49-F238E27FC236}">
                <a16:creationId xmlns:a16="http://schemas.microsoft.com/office/drawing/2014/main" id="{89F1C646-2AFE-F1F6-C365-DBEA3154B5C2}"/>
              </a:ext>
            </a:extLst>
          </p:cNvPr>
          <p:cNvSpPr>
            <a:spLocks noChangeArrowheads="1"/>
          </p:cNvSpPr>
          <p:nvPr/>
        </p:nvSpPr>
        <p:spPr bwMode="auto">
          <a:xfrm>
            <a:off x="7258050" y="3716338"/>
            <a:ext cx="2447925" cy="1511300"/>
          </a:xfrm>
          <a:prstGeom prst="rect">
            <a:avLst/>
          </a:prstGeom>
          <a:solidFill>
            <a:srgbClr val="FFFF99"/>
          </a:solidFill>
          <a:ln w="9525">
            <a:solidFill>
              <a:srgbClr val="FF3300"/>
            </a:solidFill>
            <a:miter lim="800000"/>
            <a:headEnd/>
            <a:tailEnd/>
          </a:ln>
          <a:effectLst>
            <a:outerShdw dist="107763" dir="2700000" algn="ctr" rotWithShape="0">
              <a:schemeClr val="bg2">
                <a:alpha val="50000"/>
              </a:schemeClr>
            </a:outerShdw>
          </a:effectLst>
        </p:spPr>
        <p:txBody>
          <a:bodyPr wrap="none" anchor="ctr"/>
          <a:lstStyle/>
          <a:p>
            <a:pPr algn="l"/>
            <a:r>
              <a:rPr lang="en-US" altLang="zh-TW" sz="1200">
                <a:latin typeface="細明體" panose="02020509000000000000" pitchFamily="49" charset="-120"/>
                <a:ea typeface="細明體" panose="02020509000000000000" pitchFamily="49" charset="-120"/>
              </a:rPr>
              <a:t>u_mck/UF5_spare      (DFFX1)</a:t>
            </a:r>
          </a:p>
          <a:p>
            <a:pPr algn="l"/>
            <a:r>
              <a:rPr lang="en-US" altLang="zh-TW" sz="1200">
                <a:latin typeface="細明體" panose="02020509000000000000" pitchFamily="49" charset="-120"/>
                <a:ea typeface="細明體" panose="02020509000000000000" pitchFamily="49" charset="-120"/>
              </a:rPr>
              <a:t>u_mck/US01_spare     (AND2X1)</a:t>
            </a:r>
          </a:p>
          <a:p>
            <a:pPr algn="l"/>
            <a:r>
              <a:rPr lang="en-US" altLang="zh-TW" sz="1200">
                <a:latin typeface="細明體" panose="02020509000000000000" pitchFamily="49" charset="-120"/>
                <a:ea typeface="細明體" panose="02020509000000000000" pitchFamily="49" charset="-120"/>
              </a:rPr>
              <a:t>u_uck/m4/US01_spare  (INVX1)</a:t>
            </a:r>
          </a:p>
          <a:p>
            <a:pPr algn="l"/>
            <a:r>
              <a:rPr lang="en-US" altLang="zh-TW" sz="1200">
                <a:latin typeface="細明體" panose="02020509000000000000" pitchFamily="49" charset="-120"/>
                <a:ea typeface="細明體" panose="02020509000000000000" pitchFamily="49" charset="-120"/>
              </a:rPr>
              <a:t>u_uck/m4/US04_spare  (INVX1)</a:t>
            </a:r>
          </a:p>
          <a:p>
            <a:pPr algn="l"/>
            <a:r>
              <a:rPr lang="en-US" altLang="zh-TW" sz="1200">
                <a:latin typeface="細明體" panose="02020509000000000000" pitchFamily="49" charset="-120"/>
                <a:ea typeface="細明體" panose="02020509000000000000" pitchFamily="49" charset="-120"/>
              </a:rPr>
              <a:t>u_uck/m2/UX1         (XOR2X1)</a:t>
            </a:r>
          </a:p>
          <a:p>
            <a:pPr algn="l"/>
            <a:r>
              <a:rPr lang="en-US" altLang="zh-TW" sz="1200">
                <a:latin typeface="細明體" panose="02020509000000000000" pitchFamily="49" charset="-120"/>
                <a:ea typeface="細明體" panose="02020509000000000000" pitchFamily="49" charset="-120"/>
              </a:rPr>
              <a:t>u_uck/U1/U2          (INVX1)</a:t>
            </a:r>
          </a:p>
          <a:p>
            <a:pPr algn="l"/>
            <a:r>
              <a:rPr lang="en-US" altLang="zh-TW" sz="1200">
                <a:latin typeface="細明體" panose="02020509000000000000" pitchFamily="49" charset="-120"/>
                <a:ea typeface="細明體" panose="02020509000000000000" pitchFamily="49" charset="-120"/>
              </a:rPr>
              <a:t>u_uck/U1/U3          (INVX1)</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9DD26DF6-F7E3-9622-6A90-4C670D6BE344}"/>
              </a:ext>
            </a:extLst>
          </p:cNvPr>
          <p:cNvSpPr>
            <a:spLocks noGrp="1"/>
          </p:cNvSpPr>
          <p:nvPr>
            <p:ph type="sldNum" sz="quarter" idx="10"/>
          </p:nvPr>
        </p:nvSpPr>
        <p:spPr/>
        <p:txBody>
          <a:bodyPr/>
          <a:lstStyle/>
          <a:p>
            <a:fld id="{45842C64-8D31-3D4F-AF88-8AA29319B0E7}" type="slidenum">
              <a:rPr lang="en-US" altLang="zh-TW"/>
              <a:pPr/>
              <a:t>24</a:t>
            </a:fld>
            <a:endParaRPr lang="en-US" altLang="zh-TW"/>
          </a:p>
        </p:txBody>
      </p:sp>
      <p:sp>
        <p:nvSpPr>
          <p:cNvPr id="949250" name="Rectangle 2">
            <a:extLst>
              <a:ext uri="{FF2B5EF4-FFF2-40B4-BE49-F238E27FC236}">
                <a16:creationId xmlns:a16="http://schemas.microsoft.com/office/drawing/2014/main" id="{3D03F8C4-5F96-2E3D-28B8-C8D53FEFBC64}"/>
              </a:ext>
            </a:extLst>
          </p:cNvPr>
          <p:cNvSpPr>
            <a:spLocks noGrp="1" noChangeArrowheads="1"/>
          </p:cNvSpPr>
          <p:nvPr>
            <p:ph type="title"/>
          </p:nvPr>
        </p:nvSpPr>
        <p:spPr/>
        <p:txBody>
          <a:bodyPr/>
          <a:lstStyle/>
          <a:p>
            <a:r>
              <a:rPr lang="en-US" altLang="zh-TW"/>
              <a:t>Command File Example</a:t>
            </a:r>
          </a:p>
        </p:txBody>
      </p:sp>
      <p:sp>
        <p:nvSpPr>
          <p:cNvPr id="949251" name="Text Box 3">
            <a:extLst>
              <a:ext uri="{FF2B5EF4-FFF2-40B4-BE49-F238E27FC236}">
                <a16:creationId xmlns:a16="http://schemas.microsoft.com/office/drawing/2014/main" id="{B2125EF6-10B2-A5C5-D0CC-3C72B7BFFCD7}"/>
              </a:ext>
            </a:extLst>
          </p:cNvPr>
          <p:cNvSpPr txBox="1">
            <a:spLocks noChangeArrowheads="1"/>
          </p:cNvSpPr>
          <p:nvPr/>
        </p:nvSpPr>
        <p:spPr bwMode="auto">
          <a:xfrm>
            <a:off x="704850" y="1196975"/>
            <a:ext cx="3598863" cy="5038725"/>
          </a:xfrm>
          <a:prstGeom prst="rect">
            <a:avLst/>
          </a:prstGeom>
          <a:solidFill>
            <a:srgbClr val="FFFF99"/>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rgbClr val="FF3300"/>
                </a:solidFill>
                <a:miter lim="800000"/>
                <a:headEnd/>
                <a:tailEnd/>
              </a14:hiddenLine>
            </a:ext>
          </a:extLst>
        </p:spPr>
        <p:txBody>
          <a:bodyPr wrap="none"/>
          <a:lstStyle/>
          <a:p>
            <a:pPr algn="l"/>
            <a:r>
              <a:rPr lang="en-US" altLang="zh-TW" sz="1400">
                <a:solidFill>
                  <a:srgbClr val="009900"/>
                </a:solidFill>
              </a:rPr>
              <a:t># import dot library (standard and I/O cell)</a:t>
            </a:r>
          </a:p>
          <a:p>
            <a:pPr algn="l"/>
            <a:r>
              <a:rPr lang="en-US" altLang="zh-TW" sz="1400"/>
              <a:t>-lib {</a:t>
            </a:r>
          </a:p>
          <a:p>
            <a:pPr algn="l"/>
            <a:r>
              <a:rPr lang="en-US" altLang="zh-TW" sz="1400"/>
              <a:t>    /testcase/uck/lib/tsmc25.lib</a:t>
            </a:r>
          </a:p>
          <a:p>
            <a:pPr algn="l"/>
            <a:r>
              <a:rPr lang="en-US" altLang="zh-TW" sz="1400"/>
              <a:t>}</a:t>
            </a:r>
          </a:p>
          <a:p>
            <a:pPr algn="l"/>
            <a:r>
              <a:rPr lang="en-US" altLang="zh-TW" sz="1400"/>
              <a:t>-iolib {</a:t>
            </a:r>
          </a:p>
          <a:p>
            <a:pPr algn="l"/>
            <a:r>
              <a:rPr lang="en-US" altLang="zh-TW" sz="1400"/>
              <a:t>    /testcase/uck/lib/tpz873n.lib</a:t>
            </a:r>
          </a:p>
          <a:p>
            <a:pPr algn="l"/>
            <a:r>
              <a:rPr lang="en-US" altLang="zh-TW" sz="1400"/>
              <a:t>    /testcase/uck/lib/tpd773sn_analogwc.lib</a:t>
            </a:r>
          </a:p>
          <a:p>
            <a:pPr algn="l"/>
            <a:r>
              <a:rPr lang="en-US" altLang="zh-TW" sz="1400"/>
              <a:t>    /testcase/uck/lib/tcb013ghpwc.lib</a:t>
            </a:r>
          </a:p>
          <a:p>
            <a:pPr algn="l"/>
            <a:r>
              <a:rPr lang="en-US" altLang="zh-TW" sz="1400"/>
              <a:t>}</a:t>
            </a:r>
          </a:p>
          <a:p>
            <a:pPr algn="l"/>
            <a:r>
              <a:rPr lang="en-US" altLang="zh-TW" sz="1400">
                <a:solidFill>
                  <a:srgbClr val="009900"/>
                </a:solidFill>
              </a:rPr>
              <a:t># import dot library (memory and hard-macro)</a:t>
            </a:r>
          </a:p>
          <a:p>
            <a:pPr algn="l"/>
            <a:r>
              <a:rPr lang="en-US" altLang="zh-TW" sz="1400"/>
              <a:t>-mlib {  </a:t>
            </a:r>
          </a:p>
          <a:p>
            <a:pPr algn="l"/>
            <a:r>
              <a:rPr lang="en-US" altLang="zh-TW" sz="1400"/>
              <a:t>    /testcase/uck/lib/ta25sd8k_8.lib</a:t>
            </a:r>
          </a:p>
          <a:p>
            <a:pPr algn="l"/>
            <a:r>
              <a:rPr lang="en-US" altLang="zh-TW" sz="1400"/>
              <a:t>    /testcase/uck/lib/AVA2RAM8X2.lib</a:t>
            </a:r>
          </a:p>
          <a:p>
            <a:pPr algn="l"/>
            <a:r>
              <a:rPr lang="en-US" altLang="zh-TW" sz="1400"/>
              <a:t>    /testcase/uck/lib/ARS2REG64X16C2.lib</a:t>
            </a:r>
          </a:p>
          <a:p>
            <a:pPr algn="l"/>
            <a:r>
              <a:rPr lang="en-US" altLang="zh-TW" sz="1400"/>
              <a:t>}  </a:t>
            </a:r>
          </a:p>
          <a:p>
            <a:pPr algn="l"/>
            <a:r>
              <a:rPr lang="en-US" altLang="zh-TW" sz="1400">
                <a:solidFill>
                  <a:srgbClr val="009900"/>
                </a:solidFill>
              </a:rPr>
              <a:t># import gate-level netlist</a:t>
            </a:r>
          </a:p>
          <a:p>
            <a:pPr algn="l"/>
            <a:r>
              <a:rPr lang="en-US" altLang="zh-TW" sz="1400"/>
              <a:t>-netlist {</a:t>
            </a:r>
          </a:p>
          <a:p>
            <a:pPr algn="l"/>
            <a:r>
              <a:rPr lang="en-US" altLang="zh-TW" sz="1400"/>
              <a:t>    /testcase/uck/netlist/uck.v</a:t>
            </a:r>
          </a:p>
          <a:p>
            <a:pPr algn="l"/>
            <a:r>
              <a:rPr lang="en-US" altLang="zh-TW" sz="1400"/>
              <a:t>    /testcase/uck/netlist/module.v</a:t>
            </a:r>
          </a:p>
          <a:p>
            <a:pPr algn="l"/>
            <a:r>
              <a:rPr lang="en-US" altLang="zh-TW" sz="1400"/>
              <a:t>}</a:t>
            </a:r>
          </a:p>
          <a:p>
            <a:pPr algn="l"/>
            <a:endParaRPr lang="en-US" altLang="zh-TW" sz="1400"/>
          </a:p>
          <a:p>
            <a:pPr algn="l"/>
            <a:r>
              <a:rPr lang="en-US" altLang="zh-TW" sz="1400">
                <a:solidFill>
                  <a:srgbClr val="009900"/>
                </a:solidFill>
              </a:rPr>
              <a:t># specify top module</a:t>
            </a:r>
          </a:p>
          <a:p>
            <a:pPr algn="l"/>
            <a:r>
              <a:rPr lang="en-US" altLang="zh-TW" sz="1400"/>
              <a:t>-top top</a:t>
            </a:r>
          </a:p>
          <a:p>
            <a:pPr algn="l"/>
            <a:endParaRPr lang="en-US" altLang="zh-TW" sz="1400"/>
          </a:p>
        </p:txBody>
      </p:sp>
      <p:sp>
        <p:nvSpPr>
          <p:cNvPr id="949252" name="Text Box 4">
            <a:extLst>
              <a:ext uri="{FF2B5EF4-FFF2-40B4-BE49-F238E27FC236}">
                <a16:creationId xmlns:a16="http://schemas.microsoft.com/office/drawing/2014/main" id="{223BAA71-523E-046E-3FF7-2719230C8D62}"/>
              </a:ext>
            </a:extLst>
          </p:cNvPr>
          <p:cNvSpPr txBox="1">
            <a:spLocks noChangeArrowheads="1"/>
          </p:cNvSpPr>
          <p:nvPr/>
        </p:nvSpPr>
        <p:spPr bwMode="auto">
          <a:xfrm>
            <a:off x="4448175" y="1196975"/>
            <a:ext cx="3598863" cy="5038725"/>
          </a:xfrm>
          <a:prstGeom prst="rect">
            <a:avLst/>
          </a:prstGeom>
          <a:solidFill>
            <a:srgbClr val="FFFF99"/>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rgbClr val="FF3300"/>
                </a:solidFill>
                <a:miter lim="800000"/>
                <a:headEnd/>
                <a:tailEnd/>
              </a14:hiddenLine>
            </a:ext>
          </a:extLst>
        </p:spPr>
        <p:txBody>
          <a:bodyPr wrap="none"/>
          <a:lstStyle/>
          <a:p>
            <a:pPr algn="l"/>
            <a:r>
              <a:rPr lang="en-US" altLang="zh-TW" sz="1400">
                <a:solidFill>
                  <a:srgbClr val="009900"/>
                </a:solidFill>
              </a:rPr>
              <a:t># constraint design</a:t>
            </a:r>
          </a:p>
          <a:p>
            <a:pPr algn="l"/>
            <a:r>
              <a:rPr lang="en-US" altLang="zh-TW" sz="1400"/>
              <a:t>-max_fanout 20</a:t>
            </a:r>
          </a:p>
          <a:p>
            <a:pPr algn="l"/>
            <a:r>
              <a:rPr lang="en-US" altLang="zh-TW" sz="1400"/>
              <a:t>-max_logic_level 40</a:t>
            </a:r>
          </a:p>
          <a:p>
            <a:pPr algn="l"/>
            <a:r>
              <a:rPr lang="en-US" altLang="zh-TW" sz="1400"/>
              <a:t>-max_block_size 100000</a:t>
            </a:r>
          </a:p>
          <a:p>
            <a:pPr algn="l"/>
            <a:r>
              <a:rPr lang="en-US" altLang="zh-TW" sz="1400"/>
              <a:t>-buf BUFX1</a:t>
            </a:r>
          </a:p>
          <a:p>
            <a:pPr algn="l"/>
            <a:r>
              <a:rPr lang="en-US" altLang="zh-TW" sz="1400"/>
              <a:t>-ref NAND2X1</a:t>
            </a:r>
          </a:p>
          <a:p>
            <a:pPr algn="l"/>
            <a:r>
              <a:rPr lang="en-US" altLang="zh-TW" sz="1400"/>
              <a:t>-skip_escape_char</a:t>
            </a:r>
          </a:p>
          <a:p>
            <a:pPr algn="l"/>
            <a:endParaRPr lang="en-US" altLang="zh-TW" sz="1400">
              <a:solidFill>
                <a:srgbClr val="009900"/>
              </a:solidFill>
            </a:endParaRPr>
          </a:p>
          <a:p>
            <a:pPr algn="l"/>
            <a:r>
              <a:rPr lang="en-US" altLang="zh-TW" sz="1400">
                <a:solidFill>
                  <a:srgbClr val="009900"/>
                </a:solidFill>
              </a:rPr>
              <a:t># specify spare spec.</a:t>
            </a:r>
          </a:p>
          <a:p>
            <a:pPr algn="l"/>
            <a:r>
              <a:rPr lang="en-US" altLang="zh-TW" sz="1400"/>
              <a:t>-spare_spec /testcase/uck/spare_list</a:t>
            </a:r>
          </a:p>
          <a:p>
            <a:pPr algn="l"/>
            <a:endParaRPr lang="en-US" altLang="zh-TW" sz="1400">
              <a:solidFill>
                <a:srgbClr val="009900"/>
              </a:solidFill>
            </a:endParaRPr>
          </a:p>
          <a:p>
            <a:pPr algn="l"/>
            <a:r>
              <a:rPr lang="en-US" altLang="zh-TW" sz="1400">
                <a:solidFill>
                  <a:srgbClr val="009900"/>
                </a:solidFill>
              </a:rPr>
              <a:t># specify clock roots</a:t>
            </a:r>
          </a:p>
          <a:p>
            <a:pPr algn="l"/>
            <a:r>
              <a:rPr lang="en-US" altLang="zh-TW" sz="1400"/>
              <a:t>-clock { </a:t>
            </a:r>
          </a:p>
          <a:p>
            <a:pPr algn="l"/>
            <a:r>
              <a:rPr lang="en-US" altLang="zh-TW" sz="1400"/>
              <a:t>    UCK</a:t>
            </a:r>
          </a:p>
          <a:p>
            <a:pPr algn="l"/>
            <a:r>
              <a:rPr lang="en-US" altLang="zh-TW" sz="1400"/>
              <a:t>    MCK </a:t>
            </a:r>
          </a:p>
          <a:p>
            <a:pPr algn="l"/>
            <a:r>
              <a:rPr lang="en-US" altLang="zh-TW" sz="1400"/>
              <a:t>}</a:t>
            </a:r>
          </a:p>
          <a:p>
            <a:pPr algn="l"/>
            <a:endParaRPr lang="en-US" altLang="zh-TW" sz="1400"/>
          </a:p>
          <a:p>
            <a:pPr algn="l"/>
            <a:r>
              <a:rPr lang="en-US" altLang="zh-TW" sz="1400">
                <a:solidFill>
                  <a:srgbClr val="009900"/>
                </a:solidFill>
              </a:rPr>
              <a:t>#specify analog library pin</a:t>
            </a:r>
          </a:p>
          <a:p>
            <a:pPr algn="l"/>
            <a:r>
              <a:rPr lang="en-US" altLang="zh-TW" sz="1400"/>
              <a:t>-analog_libpin {</a:t>
            </a:r>
          </a:p>
          <a:p>
            <a:pPr algn="l"/>
            <a:r>
              <a:rPr lang="en-US" altLang="zh-TW" sz="1400"/>
              <a:t>    PDIANA2PU/C</a:t>
            </a:r>
          </a:p>
          <a:p>
            <a:pPr algn="l"/>
            <a:r>
              <a:rPr lang="en-US" altLang="zh-TW" sz="1400"/>
              <a:t>    UBGR_3311_180_FLAT/VBG</a:t>
            </a:r>
          </a:p>
          <a:p>
            <a:pPr algn="l"/>
            <a:r>
              <a:rPr lang="en-US" altLang="zh-TW" sz="1400"/>
              <a:t>    UBGR_3311_180_FLAT/BGOK</a:t>
            </a:r>
          </a:p>
          <a:p>
            <a:pPr algn="l"/>
            <a:r>
              <a:rPr lang="en-US" altLang="zh-TW" sz="1400"/>
              <a:t>} </a:t>
            </a:r>
          </a:p>
        </p:txBody>
      </p:sp>
      <p:sp>
        <p:nvSpPr>
          <p:cNvPr id="949253" name="AutoShape 5">
            <a:extLst>
              <a:ext uri="{FF2B5EF4-FFF2-40B4-BE49-F238E27FC236}">
                <a16:creationId xmlns:a16="http://schemas.microsoft.com/office/drawing/2014/main" id="{748158A2-751F-03FD-E004-88138D113861}"/>
              </a:ext>
            </a:extLst>
          </p:cNvPr>
          <p:cNvSpPr>
            <a:spLocks noChangeArrowheads="1"/>
          </p:cNvSpPr>
          <p:nvPr/>
        </p:nvSpPr>
        <p:spPr bwMode="auto">
          <a:xfrm>
            <a:off x="7329488" y="3933825"/>
            <a:ext cx="2303462" cy="1079500"/>
          </a:xfrm>
          <a:prstGeom prst="wedgeRoundRectCallout">
            <a:avLst>
              <a:gd name="adj1" fmla="val -51931"/>
              <a:gd name="adj2" fmla="val 60736"/>
              <a:gd name="adj3" fmla="val 16667"/>
            </a:avLst>
          </a:prstGeom>
          <a:solidFill>
            <a:schemeClr val="bg1"/>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nchor="ctr"/>
          <a:lstStyle/>
          <a:p>
            <a:r>
              <a:rPr lang="en-US" altLang="zh-TW" sz="1600"/>
              <a:t>One can apply this command file with ‘uns –f sample.cmd’ command</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82291B7A-A080-A05C-8190-18F155ACDC6C}"/>
              </a:ext>
            </a:extLst>
          </p:cNvPr>
          <p:cNvSpPr>
            <a:spLocks noGrp="1"/>
          </p:cNvSpPr>
          <p:nvPr>
            <p:ph type="sldNum" sz="quarter" idx="10"/>
          </p:nvPr>
        </p:nvSpPr>
        <p:spPr/>
        <p:txBody>
          <a:bodyPr/>
          <a:lstStyle/>
          <a:p>
            <a:fld id="{C1DE0AEA-3787-1742-A04D-12344D7ACD7A}" type="slidenum">
              <a:rPr lang="en-US" altLang="zh-TW"/>
              <a:pPr/>
              <a:t>25</a:t>
            </a:fld>
            <a:endParaRPr lang="en-US" altLang="zh-TW"/>
          </a:p>
        </p:txBody>
      </p:sp>
      <p:sp>
        <p:nvSpPr>
          <p:cNvPr id="950274" name="Rectangle 2">
            <a:extLst>
              <a:ext uri="{FF2B5EF4-FFF2-40B4-BE49-F238E27FC236}">
                <a16:creationId xmlns:a16="http://schemas.microsoft.com/office/drawing/2014/main" id="{496671DC-FDA1-3256-1CF1-A28C95C7B557}"/>
              </a:ext>
            </a:extLst>
          </p:cNvPr>
          <p:cNvSpPr>
            <a:spLocks noGrp="1" noChangeArrowheads="1"/>
          </p:cNvSpPr>
          <p:nvPr>
            <p:ph type="title"/>
          </p:nvPr>
        </p:nvSpPr>
        <p:spPr/>
        <p:txBody>
          <a:bodyPr/>
          <a:lstStyle/>
          <a:p>
            <a:r>
              <a:rPr lang="en-US" altLang="zh-TW"/>
              <a:t>UNS Log (1/2)</a:t>
            </a:r>
          </a:p>
        </p:txBody>
      </p:sp>
      <p:sp>
        <p:nvSpPr>
          <p:cNvPr id="950275" name="Rectangle 3">
            <a:extLst>
              <a:ext uri="{FF2B5EF4-FFF2-40B4-BE49-F238E27FC236}">
                <a16:creationId xmlns:a16="http://schemas.microsoft.com/office/drawing/2014/main" id="{F338A6A8-AD4C-F131-0DDF-0CC088963B8A}"/>
              </a:ext>
            </a:extLst>
          </p:cNvPr>
          <p:cNvSpPr>
            <a:spLocks noGrp="1" noChangeArrowheads="1"/>
          </p:cNvSpPr>
          <p:nvPr>
            <p:ph type="body" idx="1"/>
          </p:nvPr>
        </p:nvSpPr>
        <p:spPr/>
        <p:txBody>
          <a:bodyPr/>
          <a:lstStyle/>
          <a:p>
            <a:r>
              <a:rPr lang="en-US" altLang="zh-TW" sz="1600"/>
              <a:t>The default file name is </a:t>
            </a:r>
            <a:r>
              <a:rPr lang="en-US" altLang="zh-TW" sz="1600">
                <a:solidFill>
                  <a:schemeClr val="accent2"/>
                </a:solidFill>
              </a:rPr>
              <a:t>&lt;</a:t>
            </a:r>
            <a:r>
              <a:rPr lang="en-US" altLang="zh-TW" sz="1600" i="1">
                <a:solidFill>
                  <a:schemeClr val="accent2"/>
                </a:solidFill>
              </a:rPr>
              <a:t>top</a:t>
            </a:r>
            <a:r>
              <a:rPr lang="en-US" altLang="zh-TW" sz="1600">
                <a:solidFill>
                  <a:schemeClr val="accent2"/>
                </a:solidFill>
              </a:rPr>
              <a:t>&gt;_uns.log</a:t>
            </a:r>
            <a:r>
              <a:rPr lang="en-US" altLang="zh-TW" sz="1600"/>
              <a:t>, where &lt;</a:t>
            </a:r>
            <a:r>
              <a:rPr lang="en-US" altLang="zh-TW" sz="1600" i="1"/>
              <a:t>top</a:t>
            </a:r>
            <a:r>
              <a:rPr lang="en-US" altLang="zh-TW" sz="1600"/>
              <a:t>&gt; is the top module name of the specified design</a:t>
            </a:r>
          </a:p>
          <a:p>
            <a:r>
              <a:rPr lang="en-US" altLang="zh-TW" sz="1600"/>
              <a:t>This file shows the invalidated command usages, execution time, commands that are performed progressively and possible errors in design content </a:t>
            </a:r>
          </a:p>
          <a:p>
            <a:pPr lvl="1"/>
            <a:r>
              <a:rPr lang="en-US" altLang="zh-TW" sz="1600"/>
              <a:t>such as inconsistency with library, one bit signal with bus notation, inconsistency on pin connection, unmapped logic or combinational feedback loop, …</a:t>
            </a:r>
          </a:p>
          <a:p>
            <a:r>
              <a:rPr lang="en-US" altLang="zh-TW" sz="1600"/>
              <a:t>Finally, a summary of the existing problems is provided and the associated sections are designated indirectly</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FA800C98-FD79-18B2-DC62-8B5F8C27CE42}"/>
              </a:ext>
            </a:extLst>
          </p:cNvPr>
          <p:cNvSpPr>
            <a:spLocks noGrp="1"/>
          </p:cNvSpPr>
          <p:nvPr>
            <p:ph type="sldNum" sz="quarter" idx="10"/>
          </p:nvPr>
        </p:nvSpPr>
        <p:spPr/>
        <p:txBody>
          <a:bodyPr/>
          <a:lstStyle/>
          <a:p>
            <a:fld id="{E868C9FC-8B5A-BC44-9AE3-8940FDBAEC96}" type="slidenum">
              <a:rPr lang="en-US" altLang="zh-TW"/>
              <a:pPr/>
              <a:t>26</a:t>
            </a:fld>
            <a:endParaRPr lang="en-US" altLang="zh-TW"/>
          </a:p>
        </p:txBody>
      </p:sp>
      <p:sp>
        <p:nvSpPr>
          <p:cNvPr id="951298" name="Rectangle 2">
            <a:extLst>
              <a:ext uri="{FF2B5EF4-FFF2-40B4-BE49-F238E27FC236}">
                <a16:creationId xmlns:a16="http://schemas.microsoft.com/office/drawing/2014/main" id="{9AC5CD83-D26C-4113-FEEB-4BC85DADFAC1}"/>
              </a:ext>
            </a:extLst>
          </p:cNvPr>
          <p:cNvSpPr>
            <a:spLocks noGrp="1" noChangeArrowheads="1"/>
          </p:cNvSpPr>
          <p:nvPr>
            <p:ph type="title"/>
          </p:nvPr>
        </p:nvSpPr>
        <p:spPr/>
        <p:txBody>
          <a:bodyPr/>
          <a:lstStyle/>
          <a:p>
            <a:r>
              <a:rPr lang="en-US" altLang="zh-TW"/>
              <a:t>UNS Log (2/2)</a:t>
            </a:r>
          </a:p>
        </p:txBody>
      </p:sp>
      <p:sp>
        <p:nvSpPr>
          <p:cNvPr id="951299" name="Text Box 3">
            <a:extLst>
              <a:ext uri="{FF2B5EF4-FFF2-40B4-BE49-F238E27FC236}">
                <a16:creationId xmlns:a16="http://schemas.microsoft.com/office/drawing/2014/main" id="{93C3F6BA-925B-9D50-EAD3-080B9B1ACE77}"/>
              </a:ext>
            </a:extLst>
          </p:cNvPr>
          <p:cNvSpPr txBox="1">
            <a:spLocks noChangeArrowheads="1"/>
          </p:cNvSpPr>
          <p:nvPr/>
        </p:nvSpPr>
        <p:spPr bwMode="auto">
          <a:xfrm>
            <a:off x="1136650" y="1052513"/>
            <a:ext cx="7558088" cy="5689600"/>
          </a:xfrm>
          <a:prstGeom prst="rect">
            <a:avLst/>
          </a:prstGeom>
          <a:solidFill>
            <a:srgbClr val="FFFF99"/>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rgbClr val="FF3300"/>
                </a:solidFill>
                <a:miter lim="800000"/>
                <a:headEnd/>
                <a:tailEnd/>
              </a14:hiddenLine>
            </a:ext>
          </a:extLst>
        </p:spPr>
        <p:txBody>
          <a:bodyPr wrap="none"/>
          <a:lstStyle/>
          <a:p>
            <a:pPr algn="l"/>
            <a:r>
              <a:rPr lang="en-US" altLang="zh-TW" sz="1200">
                <a:latin typeface="細明體" panose="02020509000000000000" pitchFamily="49" charset="-120"/>
                <a:ea typeface="細明體" panose="02020509000000000000" pitchFamily="49" charset="-120"/>
              </a:rPr>
              <a:t>Netlist screener v3.0b6 2006/01/11</a:t>
            </a:r>
          </a:p>
          <a:p>
            <a:pPr algn="l"/>
            <a:r>
              <a:rPr lang="en-US" altLang="zh-TW" sz="1200">
                <a:latin typeface="細明體" panose="02020509000000000000" pitchFamily="49" charset="-120"/>
                <a:ea typeface="細明體" panose="02020509000000000000" pitchFamily="49" charset="-120"/>
              </a:rPr>
              <a:t>Copyright (C) 2006, Global UniChip Corp.</a:t>
            </a:r>
          </a:p>
          <a:p>
            <a:pPr algn="l"/>
            <a:r>
              <a:rPr lang="en-US" altLang="zh-TW" sz="1200">
                <a:latin typeface="細明體" panose="02020509000000000000" pitchFamily="49" charset="-120"/>
                <a:ea typeface="細明體" panose="02020509000000000000" pitchFamily="49" charset="-120"/>
              </a:rPr>
              <a:t>All Rights Reserved.</a:t>
            </a:r>
          </a:p>
          <a:p>
            <a:pPr algn="l"/>
            <a:endParaRPr lang="en-US" altLang="zh-TW" sz="1200">
              <a:latin typeface="細明體" panose="02020509000000000000" pitchFamily="49" charset="-120"/>
              <a:ea typeface="細明體" panose="02020509000000000000" pitchFamily="49" charset="-120"/>
            </a:endParaRPr>
          </a:p>
          <a:p>
            <a:pPr algn="l"/>
            <a:r>
              <a:rPr lang="en-US" altLang="zh-TW" sz="1200">
                <a:latin typeface="細明體" panose="02020509000000000000" pitchFamily="49" charset="-120"/>
                <a:ea typeface="細明體" panose="02020509000000000000" pitchFamily="49" charset="-120"/>
              </a:rPr>
              <a:t>(2006/01/11-15:55:54) import design ...</a:t>
            </a:r>
          </a:p>
          <a:p>
            <a:pPr algn="l"/>
            <a:r>
              <a:rPr lang="en-US" altLang="zh-TW" sz="1200">
                <a:latin typeface="細明體" panose="02020509000000000000" pitchFamily="49" charset="-120"/>
                <a:ea typeface="細明體" panose="02020509000000000000" pitchFamily="49" charset="-120"/>
              </a:rPr>
              <a:t>import library /testcase/uck/lib/tsmc25.lib ...</a:t>
            </a:r>
          </a:p>
          <a:p>
            <a:pPr algn="l"/>
            <a:r>
              <a:rPr lang="en-US" altLang="zh-TW" sz="1200">
                <a:latin typeface="細明體" panose="02020509000000000000" pitchFamily="49" charset="-120"/>
                <a:ea typeface="細明體" panose="02020509000000000000" pitchFamily="49" charset="-120"/>
              </a:rPr>
              <a:t>import /testcase/uck/netlist/module.v ...</a:t>
            </a:r>
          </a:p>
          <a:p>
            <a:pPr algn="l"/>
            <a:r>
              <a:rPr lang="en-US" altLang="zh-TW" sz="1200">
                <a:latin typeface="細明體" panose="02020509000000000000" pitchFamily="49" charset="-120"/>
                <a:ea typeface="細明體" panose="02020509000000000000" pitchFamily="49" charset="-120"/>
              </a:rPr>
              <a:t>import /testcase/uck/netlist/uck.v ...</a:t>
            </a:r>
          </a:p>
          <a:p>
            <a:pPr algn="l"/>
            <a:r>
              <a:rPr lang="en-US" altLang="zh-TW" sz="1200">
                <a:latin typeface="細明體" panose="02020509000000000000" pitchFamily="49" charset="-120"/>
                <a:ea typeface="細明體" panose="02020509000000000000" pitchFamily="49" charset="-120"/>
              </a:rPr>
              <a:t>…</a:t>
            </a:r>
          </a:p>
          <a:p>
            <a:pPr algn="l"/>
            <a:r>
              <a:rPr lang="en-US" altLang="zh-TW">
                <a:latin typeface="細明體" panose="02020509000000000000" pitchFamily="49" charset="-120"/>
                <a:ea typeface="細明體" panose="02020509000000000000" pitchFamily="49" charset="-120"/>
              </a:rPr>
              <a:t>warning: cell 'm1' reference to 'LOOP' multiple times (LNT-20)</a:t>
            </a:r>
          </a:p>
          <a:p>
            <a:pPr algn="l"/>
            <a:r>
              <a:rPr lang="en-US" altLang="zh-TW">
                <a:latin typeface="細明體" panose="02020509000000000000" pitchFamily="49" charset="-120"/>
                <a:ea typeface="細明體" panose="02020509000000000000" pitchFamily="49" charset="-120"/>
              </a:rPr>
              <a:t>warning: cell 'm2' reference to 'MBRANCH' multiple times (LNT-20)</a:t>
            </a:r>
          </a:p>
          <a:p>
            <a:pPr algn="l"/>
            <a:r>
              <a:rPr lang="en-US" altLang="zh-TW">
                <a:latin typeface="細明體" panose="02020509000000000000" pitchFamily="49" charset="-120"/>
                <a:ea typeface="細明體" panose="02020509000000000000" pitchFamily="49" charset="-120"/>
              </a:rPr>
              <a:t>…</a:t>
            </a:r>
          </a:p>
          <a:p>
            <a:pPr algn="l"/>
            <a:r>
              <a:rPr lang="en-US" altLang="zh-TW">
                <a:latin typeface="細明體" panose="02020509000000000000" pitchFamily="49" charset="-120"/>
                <a:ea typeface="細明體" panose="02020509000000000000" pitchFamily="49" charset="-120"/>
              </a:rPr>
              <a:t>initiate annotator ...</a:t>
            </a:r>
          </a:p>
          <a:p>
            <a:pPr algn="l"/>
            <a:r>
              <a:rPr lang="en-US" altLang="zh-TW">
                <a:latin typeface="細明體" panose="02020509000000000000" pitchFamily="49" charset="-120"/>
                <a:ea typeface="細明體" panose="02020509000000000000" pitchFamily="49" charset="-120"/>
              </a:rPr>
              <a:t>initiate case analysis ...</a:t>
            </a:r>
          </a:p>
          <a:p>
            <a:pPr algn="l"/>
            <a:r>
              <a:rPr lang="en-US" altLang="zh-TW">
                <a:latin typeface="細明體" panose="02020509000000000000" pitchFamily="49" charset="-120"/>
                <a:ea typeface="細明體" panose="02020509000000000000" pitchFamily="49" charset="-120"/>
              </a:rPr>
              <a:t>info: apply 'NAND2X1(area:17.28)' as the base gate for computing equivalent gate count</a:t>
            </a:r>
          </a:p>
          <a:p>
            <a:pPr algn="l"/>
            <a:r>
              <a:rPr lang="en-US" altLang="zh-TW">
                <a:latin typeface="細明體" panose="02020509000000000000" pitchFamily="49" charset="-120"/>
                <a:ea typeface="細明體" panose="02020509000000000000" pitchFamily="49" charset="-120"/>
              </a:rPr>
              <a:t>info: set high_fanout_threshold = 10</a:t>
            </a:r>
          </a:p>
          <a:p>
            <a:pPr algn="l"/>
            <a:r>
              <a:rPr lang="en-US" altLang="zh-TW">
                <a:latin typeface="細明體" panose="02020509000000000000" pitchFamily="49" charset="-120"/>
                <a:ea typeface="細明體" panose="02020509000000000000" pitchFamily="49" charset="-120"/>
              </a:rPr>
              <a:t>info: set high_fanout_capacitance = 0.200000</a:t>
            </a:r>
          </a:p>
          <a:p>
            <a:pPr algn="l"/>
            <a:r>
              <a:rPr lang="en-US" altLang="zh-TW">
                <a:latin typeface="細明體" panose="02020509000000000000" pitchFamily="49" charset="-120"/>
                <a:ea typeface="細明體" panose="02020509000000000000" pitchFamily="49" charset="-120"/>
              </a:rPr>
              <a:t>info: set max_logic_level = 10</a:t>
            </a:r>
          </a:p>
          <a:p>
            <a:pPr algn="l"/>
            <a:r>
              <a:rPr lang="en-US" altLang="zh-TW">
                <a:latin typeface="細明體" panose="02020509000000000000" pitchFamily="49" charset="-120"/>
                <a:ea typeface="細明體" panose="02020509000000000000" pitchFamily="49" charset="-120"/>
              </a:rPr>
              <a:t>…</a:t>
            </a:r>
          </a:p>
          <a:p>
            <a:pPr algn="l"/>
            <a:r>
              <a:rPr lang="en-US" altLang="zh-TW">
                <a:latin typeface="細明體" panose="02020509000000000000" pitchFamily="49" charset="-120"/>
                <a:ea typeface="細明體" panose="02020509000000000000" pitchFamily="49" charset="-120"/>
              </a:rPr>
              <a:t>(2006/01/11-15:55:59) check design rule ...</a:t>
            </a:r>
          </a:p>
          <a:p>
            <a:pPr algn="l"/>
            <a:r>
              <a:rPr lang="en-US" altLang="zh-TW">
                <a:latin typeface="細明體" panose="02020509000000000000" pitchFamily="49" charset="-120"/>
                <a:ea typeface="細明體" panose="02020509000000000000" pitchFamily="49" charset="-120"/>
              </a:rPr>
              <a:t>warning: detect feedback loop at 'u_mck/u_tmod/m0/U1/A' (CHK-05)</a:t>
            </a:r>
          </a:p>
          <a:p>
            <a:pPr algn="l"/>
            <a:r>
              <a:rPr lang="en-US" altLang="zh-TW">
                <a:latin typeface="細明體" panose="02020509000000000000" pitchFamily="49" charset="-120"/>
                <a:ea typeface="細明體" panose="02020509000000000000" pitchFamily="49" charset="-120"/>
              </a:rPr>
              <a:t>warning: detect feedback loop at 'u_uck/m4/m0/U1/A (CHK-04)'</a:t>
            </a:r>
          </a:p>
          <a:p>
            <a:pPr algn="l"/>
            <a:r>
              <a:rPr lang="en-US" altLang="zh-TW">
                <a:latin typeface="細明體" panose="02020509000000000000" pitchFamily="49" charset="-120"/>
                <a:ea typeface="細明體" panose="02020509000000000000" pitchFamily="49" charset="-120"/>
              </a:rPr>
              <a:t>…</a:t>
            </a:r>
            <a:endParaRPr lang="en-US" altLang="zh-TW" sz="1200">
              <a:latin typeface="細明體" panose="02020509000000000000" pitchFamily="49" charset="-120"/>
              <a:ea typeface="細明體" panose="02020509000000000000" pitchFamily="49" charset="-120"/>
            </a:endParaRPr>
          </a:p>
          <a:p>
            <a:pPr algn="l"/>
            <a:r>
              <a:rPr lang="en-US" altLang="zh-TW" sz="1200">
                <a:latin typeface="細明體" panose="02020509000000000000" pitchFamily="49" charset="-120"/>
                <a:ea typeface="細明體" panose="02020509000000000000" pitchFamily="49" charset="-120"/>
              </a:rPr>
              <a:t>(2006/01/11-15:56:00) summary ...</a:t>
            </a:r>
          </a:p>
          <a:p>
            <a:pPr algn="l"/>
            <a:r>
              <a:rPr lang="en-US" altLang="zh-TW" sz="1200">
                <a:latin typeface="細明體" panose="02020509000000000000" pitchFamily="49" charset="-120"/>
                <a:ea typeface="細明體" panose="02020509000000000000" pitchFamily="49" charset="-120"/>
              </a:rPr>
              <a:t>fatal: identify 2 instantiated pins violate library port spec., see uns log file (CHK-10)</a:t>
            </a:r>
          </a:p>
          <a:p>
            <a:pPr algn="l"/>
            <a:r>
              <a:rPr lang="en-US" altLang="zh-TW" sz="1200">
                <a:latin typeface="細明體" panose="02020509000000000000" pitchFamily="49" charset="-120"/>
                <a:ea typeface="細明體" panose="02020509000000000000" pitchFamily="49" charset="-120"/>
              </a:rPr>
              <a:t>fatal: identify 4 mismatched port connection, see uns log file (CHK-11)</a:t>
            </a:r>
          </a:p>
          <a:p>
            <a:pPr algn="l"/>
            <a:r>
              <a:rPr lang="en-US" altLang="zh-TW" sz="1200">
                <a:latin typeface="細明體" panose="02020509000000000000" pitchFamily="49" charset="-120"/>
                <a:ea typeface="細明體" panose="02020509000000000000" pitchFamily="49" charset="-120"/>
              </a:rPr>
              <a:t>error: identify 1 dot library issues, see uns log file (CHK-13)</a:t>
            </a:r>
          </a:p>
          <a:p>
            <a:pPr algn="l"/>
            <a:r>
              <a:rPr lang="en-US" altLang="zh-TW" sz="1200">
                <a:latin typeface="細明體" panose="02020509000000000000" pitchFamily="49" charset="-120"/>
                <a:ea typeface="細明體" panose="02020509000000000000" pitchFamily="49" charset="-120"/>
              </a:rPr>
              <a:t>error: identify 4 unmapped logics, see 'check_sub_design' section on uns report (CHK-15)</a:t>
            </a:r>
          </a:p>
          <a:p>
            <a:pPr algn="l"/>
            <a:r>
              <a:rPr lang="en-US" altLang="zh-TW" sz="1200">
                <a:latin typeface="細明體" panose="02020509000000000000" pitchFamily="49" charset="-120"/>
                <a:ea typeface="細明體" panose="02020509000000000000" pitchFamily="49" charset="-120"/>
              </a:rPr>
              <a:t>error: identify 12 error pad connection, see 'check_pad_cell' section on uns report (CHK-23)</a:t>
            </a:r>
          </a:p>
          <a:p>
            <a:pPr algn="l"/>
            <a:r>
              <a:rPr lang="en-US" altLang="zh-TW" sz="1200">
                <a:latin typeface="細明體" panose="02020509000000000000" pitchFamily="49" charset="-120"/>
                <a:ea typeface="細明體" panose="02020509000000000000" pitchFamily="49" charset="-120"/>
              </a:rPr>
              <a:t>error: identify 5 error spare cell, see 'check_spare_cell' section on uns report (CHK-26)</a:t>
            </a:r>
          </a:p>
          <a:p>
            <a:pPr algn="l"/>
            <a:r>
              <a:rPr lang="en-US" altLang="zh-TW" sz="1200">
                <a:latin typeface="細明體" panose="02020509000000000000" pitchFamily="49" charset="-120"/>
                <a:ea typeface="細明體" panose="02020509000000000000" pitchFamily="49" charset="-120"/>
              </a:rPr>
              <a:t>warning: identify 2 incomplete clock gating, see 'check_memory' section on uns report (CHK-27)</a:t>
            </a:r>
          </a:p>
          <a:p>
            <a:pPr algn="l"/>
            <a:r>
              <a:rPr lang="en-US" altLang="zh-TW" sz="1200">
                <a:latin typeface="細明體" panose="02020509000000000000" pitchFamily="49" charset="-120"/>
                <a:ea typeface="細明體" panose="02020509000000000000" pitchFamily="49" charset="-120"/>
              </a:rPr>
              <a:t>…</a:t>
            </a:r>
          </a:p>
          <a:p>
            <a:pPr algn="l"/>
            <a:r>
              <a:rPr lang="en-US" altLang="zh-TW" sz="1200">
                <a:latin typeface="細明體" panose="02020509000000000000" pitchFamily="49" charset="-120"/>
                <a:ea typeface="細明體" panose="02020509000000000000" pitchFamily="49" charset="-120"/>
              </a:rPr>
              <a:t>total 16 error, 31 warning statements</a:t>
            </a:r>
          </a:p>
        </p:txBody>
      </p:sp>
      <p:grpSp>
        <p:nvGrpSpPr>
          <p:cNvPr id="951300" name="Group 4">
            <a:extLst>
              <a:ext uri="{FF2B5EF4-FFF2-40B4-BE49-F238E27FC236}">
                <a16:creationId xmlns:a16="http://schemas.microsoft.com/office/drawing/2014/main" id="{FD23C830-3826-0423-93F6-4F2DA85214E3}"/>
              </a:ext>
            </a:extLst>
          </p:cNvPr>
          <p:cNvGrpSpPr>
            <a:grpSpLocks/>
          </p:cNvGrpSpPr>
          <p:nvPr/>
        </p:nvGrpSpPr>
        <p:grpSpPr bwMode="auto">
          <a:xfrm>
            <a:off x="1136650" y="3357563"/>
            <a:ext cx="8496300" cy="3167062"/>
            <a:chOff x="716" y="2115"/>
            <a:chExt cx="5352" cy="1995"/>
          </a:xfrm>
        </p:grpSpPr>
        <p:sp>
          <p:nvSpPr>
            <p:cNvPr id="951301" name="Rectangle 5">
              <a:extLst>
                <a:ext uri="{FF2B5EF4-FFF2-40B4-BE49-F238E27FC236}">
                  <a16:creationId xmlns:a16="http://schemas.microsoft.com/office/drawing/2014/main" id="{335CF204-49E7-B95E-EB56-9FB03B4ED153}"/>
                </a:ext>
              </a:extLst>
            </p:cNvPr>
            <p:cNvSpPr>
              <a:spLocks noChangeArrowheads="1"/>
            </p:cNvSpPr>
            <p:nvPr/>
          </p:nvSpPr>
          <p:spPr bwMode="auto">
            <a:xfrm>
              <a:off x="716" y="3113"/>
              <a:ext cx="4672" cy="997"/>
            </a:xfrm>
            <a:prstGeom prst="rect">
              <a:avLst/>
            </a:prstGeom>
            <a:noFill/>
            <a:ln w="9525">
              <a:solidFill>
                <a:srgbClr val="FF3300"/>
              </a:solidFill>
              <a:prstDash val="dash"/>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51302" name="AutoShape 6">
              <a:extLst>
                <a:ext uri="{FF2B5EF4-FFF2-40B4-BE49-F238E27FC236}">
                  <a16:creationId xmlns:a16="http://schemas.microsoft.com/office/drawing/2014/main" id="{2AEE9C16-4E1C-B9AC-8570-D4AF355B7F46}"/>
                </a:ext>
              </a:extLst>
            </p:cNvPr>
            <p:cNvSpPr>
              <a:spLocks noChangeArrowheads="1"/>
            </p:cNvSpPr>
            <p:nvPr/>
          </p:nvSpPr>
          <p:spPr bwMode="auto">
            <a:xfrm>
              <a:off x="4435" y="2115"/>
              <a:ext cx="1633" cy="772"/>
            </a:xfrm>
            <a:prstGeom prst="wedgeRoundRectCallout">
              <a:avLst>
                <a:gd name="adj1" fmla="val -68676"/>
                <a:gd name="adj2" fmla="val 82903"/>
                <a:gd name="adj3" fmla="val 16667"/>
              </a:avLst>
            </a:prstGeom>
            <a:solidFill>
              <a:schemeClr val="bg1"/>
            </a:solidFill>
            <a:ln w="9525">
              <a:solidFill>
                <a:srgbClr val="FF3300"/>
              </a:solidFill>
              <a:miter lim="800000"/>
              <a:headEnd/>
              <a:tailEnd/>
            </a:ln>
            <a:effectLst>
              <a:outerShdw dist="107763" dir="2700000" algn="ctr" rotWithShape="0">
                <a:schemeClr val="bg2">
                  <a:alpha val="50000"/>
                </a:schemeClr>
              </a:outerShdw>
            </a:effectLst>
          </p:spPr>
          <p:txBody>
            <a:bodyPr anchor="ctr"/>
            <a:lstStyle/>
            <a:p>
              <a:r>
                <a:rPr lang="en-US" altLang="zh-TW" sz="1600">
                  <a:solidFill>
                    <a:srgbClr val="FF3300"/>
                  </a:solidFill>
                </a:rPr>
                <a:t>You should clarify those warning and error issues first before you use the UNS report!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51300"/>
                                        </p:tgtEl>
                                        <p:attrNameLst>
                                          <p:attrName>style.visibility</p:attrName>
                                        </p:attrNameLst>
                                      </p:cBhvr>
                                      <p:to>
                                        <p:strVal val="visible"/>
                                      </p:to>
                                    </p:set>
                                    <p:animEffect transition="in" filter="dissolve">
                                      <p:cBhvr>
                                        <p:cTn id="7" dur="500"/>
                                        <p:tgtEl>
                                          <p:spTgt spid="951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92192824-83A9-6545-D222-BD928C5C9B36}"/>
              </a:ext>
            </a:extLst>
          </p:cNvPr>
          <p:cNvSpPr>
            <a:spLocks noGrp="1"/>
          </p:cNvSpPr>
          <p:nvPr>
            <p:ph type="sldNum" sz="quarter" idx="10"/>
          </p:nvPr>
        </p:nvSpPr>
        <p:spPr/>
        <p:txBody>
          <a:bodyPr/>
          <a:lstStyle/>
          <a:p>
            <a:fld id="{64D9AD6D-1C3E-B940-AF81-5C88AAD9C5CE}" type="slidenum">
              <a:rPr lang="en-US" altLang="zh-TW"/>
              <a:pPr/>
              <a:t>27</a:t>
            </a:fld>
            <a:endParaRPr lang="en-US" altLang="zh-TW"/>
          </a:p>
        </p:txBody>
      </p:sp>
      <p:sp>
        <p:nvSpPr>
          <p:cNvPr id="952322" name="Rectangle 2">
            <a:extLst>
              <a:ext uri="{FF2B5EF4-FFF2-40B4-BE49-F238E27FC236}">
                <a16:creationId xmlns:a16="http://schemas.microsoft.com/office/drawing/2014/main" id="{6E9CB15B-0F2F-9EEB-45F4-6DEF871FF009}"/>
              </a:ext>
            </a:extLst>
          </p:cNvPr>
          <p:cNvSpPr>
            <a:spLocks noGrp="1" noChangeArrowheads="1"/>
          </p:cNvSpPr>
          <p:nvPr>
            <p:ph type="title"/>
          </p:nvPr>
        </p:nvSpPr>
        <p:spPr/>
        <p:txBody>
          <a:bodyPr/>
          <a:lstStyle/>
          <a:p>
            <a:r>
              <a:rPr lang="en-US" altLang="zh-TW"/>
              <a:t>UNS Report (1/4)</a:t>
            </a:r>
          </a:p>
        </p:txBody>
      </p:sp>
      <p:sp>
        <p:nvSpPr>
          <p:cNvPr id="952323" name="Rectangle 3">
            <a:extLst>
              <a:ext uri="{FF2B5EF4-FFF2-40B4-BE49-F238E27FC236}">
                <a16:creationId xmlns:a16="http://schemas.microsoft.com/office/drawing/2014/main" id="{532F4B74-331B-14C1-134C-2F8C0B6B5611}"/>
              </a:ext>
            </a:extLst>
          </p:cNvPr>
          <p:cNvSpPr>
            <a:spLocks noGrp="1" noChangeArrowheads="1"/>
          </p:cNvSpPr>
          <p:nvPr>
            <p:ph type="body" idx="1"/>
          </p:nvPr>
        </p:nvSpPr>
        <p:spPr/>
        <p:txBody>
          <a:bodyPr/>
          <a:lstStyle/>
          <a:p>
            <a:r>
              <a:rPr lang="en-US" altLang="zh-TW" sz="1600"/>
              <a:t>Design Content</a:t>
            </a:r>
          </a:p>
          <a:p>
            <a:pPr lvl="1"/>
            <a:r>
              <a:rPr lang="en-US" altLang="zh-TW" sz="1600"/>
              <a:t>Analysis of Module Reference</a:t>
            </a:r>
          </a:p>
          <a:p>
            <a:pPr lvl="1"/>
            <a:r>
              <a:rPr lang="en-US" altLang="zh-TW" sz="1600"/>
              <a:t>Analysis of Cell Reference</a:t>
            </a:r>
          </a:p>
          <a:p>
            <a:pPr lvl="1"/>
            <a:r>
              <a:rPr lang="en-US" altLang="zh-TW" sz="1600"/>
              <a:t>Analysis of Primary Port </a:t>
            </a:r>
          </a:p>
          <a:p>
            <a:pPr lvl="1"/>
            <a:r>
              <a:rPr lang="en-US" altLang="zh-TW" sz="1600"/>
              <a:t>Analysis of Fan-out Distribution</a:t>
            </a:r>
          </a:p>
          <a:p>
            <a:pPr lvl="1"/>
            <a:r>
              <a:rPr lang="en-US" altLang="zh-TW" sz="1600"/>
              <a:t>Analysis of Design Hierarchy</a:t>
            </a:r>
          </a:p>
          <a:p>
            <a:pPr lvl="1"/>
            <a:r>
              <a:rPr lang="en-US" altLang="zh-TW" sz="1600"/>
              <a:t>Analysis of Memory (Incomplete Clock Gating on Memory Block)</a:t>
            </a:r>
          </a:p>
          <a:p>
            <a:pPr lvl="1"/>
            <a:r>
              <a:rPr lang="en-US" altLang="zh-TW" sz="1600"/>
              <a:t>Analysis Spare Cell (Enumeration of Spare Cell)</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EECDBC0F-E23F-02F3-F7B7-557F4D58353C}"/>
              </a:ext>
            </a:extLst>
          </p:cNvPr>
          <p:cNvSpPr>
            <a:spLocks noGrp="1"/>
          </p:cNvSpPr>
          <p:nvPr>
            <p:ph type="sldNum" sz="quarter" idx="10"/>
          </p:nvPr>
        </p:nvSpPr>
        <p:spPr/>
        <p:txBody>
          <a:bodyPr/>
          <a:lstStyle/>
          <a:p>
            <a:fld id="{88047CC7-1826-BB4E-BFC0-859702A4C38C}" type="slidenum">
              <a:rPr lang="en-US" altLang="zh-TW"/>
              <a:pPr/>
              <a:t>28</a:t>
            </a:fld>
            <a:endParaRPr lang="en-US" altLang="zh-TW"/>
          </a:p>
        </p:txBody>
      </p:sp>
      <p:sp>
        <p:nvSpPr>
          <p:cNvPr id="953346" name="Rectangle 2">
            <a:extLst>
              <a:ext uri="{FF2B5EF4-FFF2-40B4-BE49-F238E27FC236}">
                <a16:creationId xmlns:a16="http://schemas.microsoft.com/office/drawing/2014/main" id="{6D5F610D-E9E2-DDFD-032C-53CC198DCE77}"/>
              </a:ext>
            </a:extLst>
          </p:cNvPr>
          <p:cNvSpPr>
            <a:spLocks noGrp="1" noChangeArrowheads="1"/>
          </p:cNvSpPr>
          <p:nvPr>
            <p:ph type="title"/>
          </p:nvPr>
        </p:nvSpPr>
        <p:spPr/>
        <p:txBody>
          <a:bodyPr/>
          <a:lstStyle/>
          <a:p>
            <a:r>
              <a:rPr lang="en-US" altLang="zh-TW"/>
              <a:t>UNS Report (2/4)</a:t>
            </a:r>
          </a:p>
        </p:txBody>
      </p:sp>
      <p:sp>
        <p:nvSpPr>
          <p:cNvPr id="953347" name="Rectangle 3">
            <a:extLst>
              <a:ext uri="{FF2B5EF4-FFF2-40B4-BE49-F238E27FC236}">
                <a16:creationId xmlns:a16="http://schemas.microsoft.com/office/drawing/2014/main" id="{BF5FFED8-E060-3037-D542-8B853E34F5D3}"/>
              </a:ext>
            </a:extLst>
          </p:cNvPr>
          <p:cNvSpPr>
            <a:spLocks noGrp="1" noChangeArrowheads="1"/>
          </p:cNvSpPr>
          <p:nvPr>
            <p:ph type="body" idx="1"/>
          </p:nvPr>
        </p:nvSpPr>
        <p:spPr/>
        <p:txBody>
          <a:bodyPr/>
          <a:lstStyle/>
          <a:p>
            <a:r>
              <a:rPr lang="en-US" altLang="zh-TW" sz="1600"/>
              <a:t>Engineering Rule Check</a:t>
            </a:r>
          </a:p>
          <a:p>
            <a:pPr lvl="1"/>
            <a:r>
              <a:rPr lang="en-US" altLang="zh-TW" sz="1600"/>
              <a:t>Check Sub Block </a:t>
            </a:r>
          </a:p>
          <a:p>
            <a:pPr lvl="1"/>
            <a:r>
              <a:rPr lang="en-US" altLang="zh-TW" sz="1600"/>
              <a:t>Check High Fan-out Net</a:t>
            </a:r>
          </a:p>
          <a:p>
            <a:pPr lvl="1"/>
            <a:r>
              <a:rPr lang="en-US" altLang="zh-TW" sz="1600"/>
              <a:t>Check Timing Arc </a:t>
            </a:r>
          </a:p>
          <a:p>
            <a:pPr lvl="1"/>
            <a:r>
              <a:rPr lang="en-US" altLang="zh-TW" sz="1600"/>
              <a:t>Check Cell Connectivity</a:t>
            </a:r>
          </a:p>
          <a:p>
            <a:pPr lvl="1"/>
            <a:r>
              <a:rPr lang="en-US" altLang="zh-TW" sz="1600"/>
              <a:t>Check Sub-module Port Connectivity </a:t>
            </a:r>
          </a:p>
          <a:p>
            <a:pPr lvl="1"/>
            <a:r>
              <a:rPr lang="en-US" altLang="zh-TW" sz="1600"/>
              <a:t>Check Pad Cell </a:t>
            </a:r>
          </a:p>
          <a:p>
            <a:pPr lvl="1"/>
            <a:r>
              <a:rPr lang="en-US" altLang="zh-TW" sz="1600"/>
              <a:t>Check Constant Signal</a:t>
            </a:r>
          </a:p>
          <a:p>
            <a:pPr lvl="1"/>
            <a:r>
              <a:rPr lang="en-US" altLang="zh-TW" sz="1600"/>
              <a:t>Check Clock Domain </a:t>
            </a:r>
          </a:p>
          <a:p>
            <a:pPr lvl="1"/>
            <a:r>
              <a:rPr lang="en-US" altLang="zh-TW" sz="1600"/>
              <a:t>Check Analog Path </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4">
            <a:extLst>
              <a:ext uri="{FF2B5EF4-FFF2-40B4-BE49-F238E27FC236}">
                <a16:creationId xmlns:a16="http://schemas.microsoft.com/office/drawing/2014/main" id="{80DED969-D7A8-B4D2-C518-AF47ECE2EA69}"/>
              </a:ext>
            </a:extLst>
          </p:cNvPr>
          <p:cNvSpPr>
            <a:spLocks noGrp="1"/>
          </p:cNvSpPr>
          <p:nvPr>
            <p:ph type="sldNum" sz="quarter" idx="10"/>
          </p:nvPr>
        </p:nvSpPr>
        <p:spPr/>
        <p:txBody>
          <a:bodyPr/>
          <a:lstStyle/>
          <a:p>
            <a:fld id="{C75033FF-3CEC-A547-87BC-EE37BA24ACF5}" type="slidenum">
              <a:rPr lang="en-US" altLang="zh-TW"/>
              <a:pPr/>
              <a:t>29</a:t>
            </a:fld>
            <a:endParaRPr lang="en-US" altLang="zh-TW"/>
          </a:p>
        </p:txBody>
      </p:sp>
      <p:sp>
        <p:nvSpPr>
          <p:cNvPr id="954370" name="Rectangle 2">
            <a:extLst>
              <a:ext uri="{FF2B5EF4-FFF2-40B4-BE49-F238E27FC236}">
                <a16:creationId xmlns:a16="http://schemas.microsoft.com/office/drawing/2014/main" id="{1C944272-831D-BE58-B56B-97F41848A8FC}"/>
              </a:ext>
            </a:extLst>
          </p:cNvPr>
          <p:cNvSpPr>
            <a:spLocks noGrp="1" noChangeArrowheads="1"/>
          </p:cNvSpPr>
          <p:nvPr>
            <p:ph type="title"/>
          </p:nvPr>
        </p:nvSpPr>
        <p:spPr/>
        <p:txBody>
          <a:bodyPr/>
          <a:lstStyle/>
          <a:p>
            <a:r>
              <a:rPr lang="en-US" altLang="zh-TW"/>
              <a:t>UNS Report (3/4)</a:t>
            </a:r>
          </a:p>
        </p:txBody>
      </p:sp>
      <p:sp>
        <p:nvSpPr>
          <p:cNvPr id="954371" name="Rectangle 3">
            <a:extLst>
              <a:ext uri="{FF2B5EF4-FFF2-40B4-BE49-F238E27FC236}">
                <a16:creationId xmlns:a16="http://schemas.microsoft.com/office/drawing/2014/main" id="{7C6685F8-21C0-D93B-7502-C6B2A80DDAB3}"/>
              </a:ext>
            </a:extLst>
          </p:cNvPr>
          <p:cNvSpPr>
            <a:spLocks noGrp="1" noChangeArrowheads="1"/>
          </p:cNvSpPr>
          <p:nvPr>
            <p:ph type="body" sz="half" idx="1"/>
          </p:nvPr>
        </p:nvSpPr>
        <p:spPr>
          <a:xfrm>
            <a:off x="609600" y="1371600"/>
            <a:ext cx="8221663" cy="4648200"/>
          </a:xfrm>
        </p:spPr>
        <p:txBody>
          <a:bodyPr/>
          <a:lstStyle/>
          <a:p>
            <a:r>
              <a:rPr lang="en-US" altLang="zh-TW" sz="1600"/>
              <a:t>Report Summary</a:t>
            </a:r>
          </a:p>
          <a:p>
            <a:pPr lvl="1"/>
            <a:r>
              <a:rPr lang="en-US" altLang="zh-TW" sz="1600"/>
              <a:t>provides a guide to each section that may indicate the potential problems </a:t>
            </a:r>
          </a:p>
        </p:txBody>
      </p:sp>
      <p:graphicFrame>
        <p:nvGraphicFramePr>
          <p:cNvPr id="954372" name="Object 4">
            <a:extLst>
              <a:ext uri="{FF2B5EF4-FFF2-40B4-BE49-F238E27FC236}">
                <a16:creationId xmlns:a16="http://schemas.microsoft.com/office/drawing/2014/main" id="{0E65B5B3-0557-D3B6-1589-2C11A0A30B41}"/>
              </a:ext>
            </a:extLst>
          </p:cNvPr>
          <p:cNvGraphicFramePr>
            <a:graphicFrameLocks noChangeAspect="1"/>
          </p:cNvGraphicFramePr>
          <p:nvPr>
            <p:ph sz="half" idx="2"/>
          </p:nvPr>
        </p:nvGraphicFramePr>
        <p:xfrm>
          <a:off x="1546225" y="2273300"/>
          <a:ext cx="5918200" cy="3692525"/>
        </p:xfrm>
        <a:graphic>
          <a:graphicData uri="http://schemas.openxmlformats.org/presentationml/2006/ole">
            <mc:AlternateContent xmlns:mc="http://schemas.openxmlformats.org/markup-compatibility/2006">
              <mc:Choice xmlns:v="urn:schemas-microsoft-com:vml" Requires="v">
                <p:oleObj name="Visio" r:id="rId2" imgW="4711700" imgH="2921000" progId="Visio.Drawing.11">
                  <p:embed/>
                </p:oleObj>
              </mc:Choice>
              <mc:Fallback>
                <p:oleObj name="Visio" r:id="rId2" imgW="4711700" imgH="2921000"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6225" y="2273300"/>
                        <a:ext cx="5918200" cy="369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65FE2432-626C-E526-8FD1-8EE44CE57801}"/>
              </a:ext>
            </a:extLst>
          </p:cNvPr>
          <p:cNvSpPr>
            <a:spLocks noGrp="1"/>
          </p:cNvSpPr>
          <p:nvPr>
            <p:ph type="sldNum" sz="quarter" idx="10"/>
          </p:nvPr>
        </p:nvSpPr>
        <p:spPr/>
        <p:txBody>
          <a:bodyPr/>
          <a:lstStyle/>
          <a:p>
            <a:fld id="{7224B2FA-C983-FD4E-AC92-A70808F1906A}" type="slidenum">
              <a:rPr lang="en-US" altLang="zh-TW"/>
              <a:pPr/>
              <a:t>30</a:t>
            </a:fld>
            <a:endParaRPr lang="en-US" altLang="zh-TW"/>
          </a:p>
        </p:txBody>
      </p:sp>
      <p:sp>
        <p:nvSpPr>
          <p:cNvPr id="955394" name="Rectangle 2">
            <a:extLst>
              <a:ext uri="{FF2B5EF4-FFF2-40B4-BE49-F238E27FC236}">
                <a16:creationId xmlns:a16="http://schemas.microsoft.com/office/drawing/2014/main" id="{D17760B8-79D1-D3E6-1DCE-6530F937CC13}"/>
              </a:ext>
            </a:extLst>
          </p:cNvPr>
          <p:cNvSpPr>
            <a:spLocks noGrp="1" noChangeArrowheads="1"/>
          </p:cNvSpPr>
          <p:nvPr>
            <p:ph type="title"/>
          </p:nvPr>
        </p:nvSpPr>
        <p:spPr/>
        <p:txBody>
          <a:bodyPr/>
          <a:lstStyle/>
          <a:p>
            <a:r>
              <a:rPr lang="en-US" altLang="zh-TW"/>
              <a:t>Report File Format</a:t>
            </a:r>
          </a:p>
        </p:txBody>
      </p:sp>
      <p:sp>
        <p:nvSpPr>
          <p:cNvPr id="955395" name="Rectangle 3">
            <a:extLst>
              <a:ext uri="{FF2B5EF4-FFF2-40B4-BE49-F238E27FC236}">
                <a16:creationId xmlns:a16="http://schemas.microsoft.com/office/drawing/2014/main" id="{63D0004D-AE38-CBE1-8B09-8990FFD7A74E}"/>
              </a:ext>
            </a:extLst>
          </p:cNvPr>
          <p:cNvSpPr>
            <a:spLocks noGrp="1" noChangeArrowheads="1"/>
          </p:cNvSpPr>
          <p:nvPr>
            <p:ph type="body" idx="1"/>
          </p:nvPr>
        </p:nvSpPr>
        <p:spPr>
          <a:xfrm>
            <a:off x="560388" y="1125538"/>
            <a:ext cx="8221662" cy="4648200"/>
          </a:xfrm>
        </p:spPr>
        <p:txBody>
          <a:bodyPr/>
          <a:lstStyle/>
          <a:p>
            <a:r>
              <a:rPr lang="en-US" altLang="zh-TW" sz="1600"/>
              <a:t>File Header</a:t>
            </a:r>
          </a:p>
          <a:p>
            <a:endParaRPr lang="en-US" altLang="zh-TW" sz="1600"/>
          </a:p>
          <a:p>
            <a:endParaRPr lang="en-US" altLang="zh-TW" sz="1600"/>
          </a:p>
          <a:p>
            <a:endParaRPr lang="en-US" altLang="zh-TW" sz="1600"/>
          </a:p>
          <a:p>
            <a:endParaRPr lang="en-US" altLang="zh-TW" sz="1600"/>
          </a:p>
          <a:p>
            <a:endParaRPr lang="en-US" altLang="zh-TW" sz="1600"/>
          </a:p>
          <a:p>
            <a:endParaRPr lang="en-US" altLang="zh-TW" sz="1600"/>
          </a:p>
          <a:p>
            <a:endParaRPr lang="en-US" altLang="zh-TW" sz="1600"/>
          </a:p>
          <a:p>
            <a:r>
              <a:rPr lang="en-US" altLang="zh-TW" sz="1600"/>
              <a:t>Profiling</a:t>
            </a:r>
          </a:p>
        </p:txBody>
      </p:sp>
      <p:sp>
        <p:nvSpPr>
          <p:cNvPr id="955396" name="Text Box 4">
            <a:extLst>
              <a:ext uri="{FF2B5EF4-FFF2-40B4-BE49-F238E27FC236}">
                <a16:creationId xmlns:a16="http://schemas.microsoft.com/office/drawing/2014/main" id="{CE2991C1-E2B8-79F4-A25E-DC3EECF16A8B}"/>
              </a:ext>
            </a:extLst>
          </p:cNvPr>
          <p:cNvSpPr txBox="1">
            <a:spLocks noChangeArrowheads="1"/>
          </p:cNvSpPr>
          <p:nvPr/>
        </p:nvSpPr>
        <p:spPr bwMode="auto">
          <a:xfrm>
            <a:off x="1158875" y="1628775"/>
            <a:ext cx="4946650" cy="2682875"/>
          </a:xfrm>
          <a:prstGeom prst="rect">
            <a:avLst/>
          </a:prstGeom>
          <a:solidFill>
            <a:schemeClr val="bg1"/>
          </a:solidFill>
          <a:ln>
            <a:noFill/>
          </a:ln>
          <a:effectLst/>
          <a:extLs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TW">
                <a:latin typeface="細明體" panose="02020509000000000000" pitchFamily="49" charset="-120"/>
                <a:ea typeface="細明體" panose="02020509000000000000" pitchFamily="49" charset="-120"/>
              </a:rPr>
              <a:t>***************************************************************************</a:t>
            </a:r>
          </a:p>
          <a:p>
            <a:pPr algn="l"/>
            <a:r>
              <a:rPr lang="en-US" altLang="zh-TW">
                <a:latin typeface="細明體" panose="02020509000000000000" pitchFamily="49" charset="-120"/>
                <a:ea typeface="細明體" panose="02020509000000000000" pitchFamily="49" charset="-120"/>
              </a:rPr>
              <a:t>Report : port </a:t>
            </a:r>
          </a:p>
          <a:p>
            <a:pPr algn="l"/>
            <a:r>
              <a:rPr lang="en-US" altLang="zh-TW">
                <a:latin typeface="細明體" panose="02020509000000000000" pitchFamily="49" charset="-120"/>
                <a:ea typeface="細明體" panose="02020509000000000000" pitchFamily="49" charset="-120"/>
              </a:rPr>
              <a:t>          -flatten</a:t>
            </a:r>
          </a:p>
          <a:p>
            <a:pPr algn="l"/>
            <a:r>
              <a:rPr lang="en-US" altLang="zh-TW">
                <a:latin typeface="細明體" panose="02020509000000000000" pitchFamily="49" charset="-120"/>
                <a:ea typeface="細明體" panose="02020509000000000000" pitchFamily="49" charset="-120"/>
              </a:rPr>
              <a:t>Design : top</a:t>
            </a:r>
          </a:p>
          <a:p>
            <a:pPr algn="l"/>
            <a:r>
              <a:rPr lang="en-US" altLang="zh-TW">
                <a:latin typeface="細明體" panose="02020509000000000000" pitchFamily="49" charset="-120"/>
                <a:ea typeface="細明體" panose="02020509000000000000" pitchFamily="49" charset="-120"/>
              </a:rPr>
              <a:t>Version: Sep 13 2005</a:t>
            </a:r>
          </a:p>
          <a:p>
            <a:pPr algn="l"/>
            <a:r>
              <a:rPr lang="en-US" altLang="zh-TW">
                <a:latin typeface="細明體" panose="02020509000000000000" pitchFamily="49" charset="-120"/>
                <a:ea typeface="細明體" panose="02020509000000000000" pitchFamily="49" charset="-120"/>
              </a:rPr>
              <a:t>Date   : Tue Sep 13 13:35:50 2005</a:t>
            </a:r>
          </a:p>
          <a:p>
            <a:pPr algn="l"/>
            <a:r>
              <a:rPr lang="en-US" altLang="zh-TW">
                <a:latin typeface="細明體" panose="02020509000000000000" pitchFamily="49" charset="-120"/>
                <a:ea typeface="細明體" panose="02020509000000000000" pitchFamily="49" charset="-120"/>
              </a:rPr>
              <a:t>Comment:</a:t>
            </a:r>
          </a:p>
          <a:p>
            <a:pPr algn="l"/>
            <a:r>
              <a:rPr lang="en-US" altLang="zh-TW">
                <a:latin typeface="細明體" panose="02020509000000000000" pitchFamily="49" charset="-120"/>
                <a:ea typeface="細明體" panose="02020509000000000000" pitchFamily="49" charset="-120"/>
              </a:rPr>
              <a:t>    port - primary port name</a:t>
            </a:r>
          </a:p>
          <a:p>
            <a:pPr algn="l"/>
            <a:r>
              <a:rPr lang="en-US" altLang="zh-TW">
                <a:latin typeface="細明體" panose="02020509000000000000" pitchFamily="49" charset="-120"/>
                <a:ea typeface="細明體" panose="02020509000000000000" pitchFamily="49" charset="-120"/>
              </a:rPr>
              <a:t>    dir  - port direction</a:t>
            </a:r>
          </a:p>
          <a:p>
            <a:pPr algn="l"/>
            <a:r>
              <a:rPr lang="en-US" altLang="zh-TW">
                <a:latin typeface="細明體" panose="02020509000000000000" pitchFamily="49" charset="-120"/>
                <a:ea typeface="細明體" panose="02020509000000000000" pitchFamily="49" charset="-120"/>
              </a:rPr>
              <a:t>    num  - number of connection</a:t>
            </a:r>
          </a:p>
          <a:p>
            <a:pPr algn="l"/>
            <a:r>
              <a:rPr lang="en-US" altLang="zh-TW">
                <a:latin typeface="細明體" panose="02020509000000000000" pitchFamily="49" charset="-120"/>
                <a:ea typeface="細明體" panose="02020509000000000000" pitchFamily="49" charset="-120"/>
              </a:rPr>
              <a:t>    attr - attribute</a:t>
            </a:r>
          </a:p>
          <a:p>
            <a:pPr algn="l"/>
            <a:r>
              <a:rPr lang="en-US" altLang="zh-TW">
                <a:latin typeface="細明體" panose="02020509000000000000" pitchFamily="49" charset="-120"/>
                <a:ea typeface="細明體" panose="02020509000000000000" pitchFamily="49" charset="-120"/>
              </a:rPr>
              <a:t>             b block level</a:t>
            </a:r>
          </a:p>
          <a:p>
            <a:pPr algn="l"/>
            <a:r>
              <a:rPr lang="en-US" altLang="zh-TW">
                <a:latin typeface="細明體" panose="02020509000000000000" pitchFamily="49" charset="-120"/>
                <a:ea typeface="細明體" panose="02020509000000000000" pitchFamily="49" charset="-120"/>
              </a:rPr>
              <a:t>             n non pad cell</a:t>
            </a:r>
          </a:p>
          <a:p>
            <a:pPr algn="l"/>
            <a:r>
              <a:rPr lang="en-US" altLang="zh-TW">
                <a:latin typeface="細明體" panose="02020509000000000000" pitchFamily="49" charset="-120"/>
                <a:ea typeface="細明體" panose="02020509000000000000" pitchFamily="49" charset="-120"/>
              </a:rPr>
              <a:t>             m multi-bond port</a:t>
            </a:r>
          </a:p>
          <a:p>
            <a:pPr algn="l"/>
            <a:r>
              <a:rPr lang="en-US" altLang="zh-TW">
                <a:latin typeface="細明體" panose="02020509000000000000" pitchFamily="49" charset="-120"/>
                <a:ea typeface="細明體" panose="02020509000000000000" pitchFamily="49" charset="-120"/>
              </a:rPr>
              <a:t>             f floating</a:t>
            </a:r>
          </a:p>
          <a:p>
            <a:pPr algn="l"/>
            <a:r>
              <a:rPr lang="en-US" altLang="zh-TW">
                <a:latin typeface="細明體" panose="02020509000000000000" pitchFamily="49" charset="-120"/>
                <a:ea typeface="細明體" panose="02020509000000000000" pitchFamily="49" charset="-120"/>
              </a:rPr>
              <a:t>    conn - connected pin</a:t>
            </a:r>
          </a:p>
          <a:p>
            <a:pPr algn="l"/>
            <a:r>
              <a:rPr lang="en-US" altLang="zh-TW">
                <a:latin typeface="細明體" panose="02020509000000000000" pitchFamily="49" charset="-120"/>
                <a:ea typeface="細明體" panose="02020509000000000000" pitchFamily="49" charset="-120"/>
              </a:rPr>
              <a:t>***************************************************************************</a:t>
            </a:r>
          </a:p>
        </p:txBody>
      </p:sp>
      <p:sp>
        <p:nvSpPr>
          <p:cNvPr id="955397" name="Text Box 5">
            <a:extLst>
              <a:ext uri="{FF2B5EF4-FFF2-40B4-BE49-F238E27FC236}">
                <a16:creationId xmlns:a16="http://schemas.microsoft.com/office/drawing/2014/main" id="{D9EE382F-1C7F-CF27-1355-4A3E41AB818B}"/>
              </a:ext>
            </a:extLst>
          </p:cNvPr>
          <p:cNvSpPr txBox="1">
            <a:spLocks noChangeArrowheads="1"/>
          </p:cNvSpPr>
          <p:nvPr/>
        </p:nvSpPr>
        <p:spPr bwMode="auto">
          <a:xfrm>
            <a:off x="1158875" y="4797425"/>
            <a:ext cx="4819650" cy="1616075"/>
          </a:xfrm>
          <a:prstGeom prst="rect">
            <a:avLst/>
          </a:prstGeom>
          <a:solidFill>
            <a:schemeClr val="bg1"/>
          </a:solidFill>
          <a:ln>
            <a:noFill/>
          </a:ln>
          <a:effectLst/>
          <a:extLs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TW">
                <a:latin typeface="細明體" panose="02020509000000000000" pitchFamily="49" charset="-120"/>
                <a:ea typeface="細明體" panose="02020509000000000000" pitchFamily="49" charset="-120"/>
              </a:rPr>
              <a:t>port                        dir   num attr  conn</a:t>
            </a:r>
          </a:p>
          <a:p>
            <a:pPr algn="l"/>
            <a:r>
              <a:rPr lang="en-US" altLang="zh-TW">
                <a:latin typeface="細明體" panose="02020509000000000000" pitchFamily="49" charset="-120"/>
                <a:ea typeface="細明體" panose="02020509000000000000" pitchFamily="49" charset="-120"/>
              </a:rPr>
              <a:t>-------------------------------------------------------------------------</a:t>
            </a:r>
          </a:p>
          <a:p>
            <a:pPr algn="l"/>
            <a:r>
              <a:rPr lang="en-US" altLang="zh-TW">
                <a:latin typeface="細明體" panose="02020509000000000000" pitchFamily="49" charset="-120"/>
                <a:ea typeface="細明體" panose="02020509000000000000" pitchFamily="49" charset="-120"/>
              </a:rPr>
              <a:t>EMPTY                        in     1 f      (floating)</a:t>
            </a:r>
          </a:p>
          <a:p>
            <a:pPr algn="l"/>
            <a:r>
              <a:rPr lang="en-US" altLang="zh-TW">
                <a:latin typeface="細明體" panose="02020509000000000000" pitchFamily="49" charset="-120"/>
                <a:ea typeface="細明體" panose="02020509000000000000" pitchFamily="49" charset="-120"/>
              </a:rPr>
              <a:t>MCK                          in     2       pin_MCK/XIN (PDXOE3DG)</a:t>
            </a:r>
          </a:p>
          <a:p>
            <a:pPr algn="l"/>
            <a:r>
              <a:rPr lang="en-US" altLang="zh-TW">
                <a:latin typeface="細明體" panose="02020509000000000000" pitchFamily="49" charset="-120"/>
                <a:ea typeface="細明體" panose="02020509000000000000" pitchFamily="49" charset="-120"/>
              </a:rPr>
              <a:t>UCK                          in     2       pin_UCK/PAD (PDUDGZ)</a:t>
            </a:r>
            <a:endParaRPr lang="it-IT" altLang="zh-TW">
              <a:latin typeface="細明體" panose="02020509000000000000" pitchFamily="49" charset="-120"/>
              <a:ea typeface="細明體" panose="02020509000000000000" pitchFamily="49" charset="-120"/>
            </a:endParaRPr>
          </a:p>
          <a:p>
            <a:pPr algn="l"/>
            <a:r>
              <a:rPr lang="it-IT" altLang="zh-TW">
                <a:latin typeface="細明體" panose="02020509000000000000" pitchFamily="49" charset="-120"/>
                <a:ea typeface="細明體" panose="02020509000000000000" pitchFamily="49" charset="-120"/>
              </a:rPr>
              <a:t>MSI                          in     2       pin_MSI/PAD (PDUDGZ)</a:t>
            </a:r>
            <a:endParaRPr lang="sv-SE" altLang="zh-TW">
              <a:latin typeface="細明體" panose="02020509000000000000" pitchFamily="49" charset="-120"/>
              <a:ea typeface="細明體" panose="02020509000000000000" pitchFamily="49" charset="-120"/>
            </a:endParaRPr>
          </a:p>
          <a:p>
            <a:pPr algn="l"/>
            <a:r>
              <a:rPr lang="en-US" altLang="zh-TW">
                <a:latin typeface="細明體" panose="02020509000000000000" pitchFamily="49" charset="-120"/>
                <a:ea typeface="細明體" panose="02020509000000000000" pitchFamily="49" charset="-120"/>
              </a:rPr>
              <a:t>MBOND1                       in     3 mn    u_assign_1/Y (BUFX1)</a:t>
            </a:r>
          </a:p>
          <a:p>
            <a:pPr algn="l"/>
            <a:r>
              <a:rPr lang="en-US" altLang="zh-TW">
                <a:latin typeface="細明體" panose="02020509000000000000" pitchFamily="49" charset="-120"/>
                <a:ea typeface="細明體" panose="02020509000000000000" pitchFamily="49" charset="-120"/>
              </a:rPr>
              <a:t>MBOND2                       in     2 n     u_assign_1/A (BUFX1)...</a:t>
            </a:r>
          </a:p>
          <a:p>
            <a:pPr algn="l"/>
            <a:r>
              <a:rPr lang="en-US" altLang="zh-TW">
                <a:latin typeface="細明體" panose="02020509000000000000" pitchFamily="49" charset="-120"/>
                <a:ea typeface="細明體" panose="02020509000000000000" pitchFamily="49" charset="-120"/>
              </a:rPr>
              <a:t>-------------------------------------------------------------------------</a:t>
            </a:r>
          </a:p>
          <a:p>
            <a:pPr algn="l"/>
            <a:r>
              <a:rPr lang="en-US" altLang="zh-TW">
                <a:latin typeface="細明體" panose="02020509000000000000" pitchFamily="49" charset="-120"/>
                <a:ea typeface="細明體" panose="02020509000000000000" pitchFamily="49" charset="-120"/>
              </a:rPr>
              <a:t>total 22 ports</a:t>
            </a:r>
          </a:p>
        </p:txBody>
      </p:sp>
      <p:sp>
        <p:nvSpPr>
          <p:cNvPr id="955398" name="AutoShape 6">
            <a:extLst>
              <a:ext uri="{FF2B5EF4-FFF2-40B4-BE49-F238E27FC236}">
                <a16:creationId xmlns:a16="http://schemas.microsoft.com/office/drawing/2014/main" id="{909DAC96-62EE-B1AF-CFCB-C06A3E29D475}"/>
              </a:ext>
            </a:extLst>
          </p:cNvPr>
          <p:cNvSpPr>
            <a:spLocks noChangeArrowheads="1"/>
          </p:cNvSpPr>
          <p:nvPr/>
        </p:nvSpPr>
        <p:spPr bwMode="auto">
          <a:xfrm>
            <a:off x="4543425" y="1628775"/>
            <a:ext cx="1633538" cy="215900"/>
          </a:xfrm>
          <a:prstGeom prst="wedgeRectCallout">
            <a:avLst>
              <a:gd name="adj1" fmla="val -115972"/>
              <a:gd name="adj2" fmla="val 36028"/>
            </a:avLst>
          </a:prstGeom>
          <a:solidFill>
            <a:schemeClr val="bg1"/>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TW" sz="1400"/>
              <a:t>report type</a:t>
            </a:r>
          </a:p>
        </p:txBody>
      </p:sp>
      <p:sp>
        <p:nvSpPr>
          <p:cNvPr id="955399" name="AutoShape 7">
            <a:extLst>
              <a:ext uri="{FF2B5EF4-FFF2-40B4-BE49-F238E27FC236}">
                <a16:creationId xmlns:a16="http://schemas.microsoft.com/office/drawing/2014/main" id="{8B59BC4C-6141-FCDA-54D5-0416337FE48D}"/>
              </a:ext>
            </a:extLst>
          </p:cNvPr>
          <p:cNvSpPr>
            <a:spLocks noChangeArrowheads="1"/>
          </p:cNvSpPr>
          <p:nvPr/>
        </p:nvSpPr>
        <p:spPr bwMode="auto">
          <a:xfrm>
            <a:off x="4543425" y="1916113"/>
            <a:ext cx="1633538" cy="215900"/>
          </a:xfrm>
          <a:prstGeom prst="wedgeRectCallout">
            <a:avLst>
              <a:gd name="adj1" fmla="val -115972"/>
              <a:gd name="adj2" fmla="val 36028"/>
            </a:avLst>
          </a:prstGeom>
          <a:solidFill>
            <a:schemeClr val="bg1"/>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TW" sz="1400"/>
              <a:t>top design</a:t>
            </a:r>
          </a:p>
        </p:txBody>
      </p:sp>
      <p:sp>
        <p:nvSpPr>
          <p:cNvPr id="955400" name="AutoShape 8">
            <a:extLst>
              <a:ext uri="{FF2B5EF4-FFF2-40B4-BE49-F238E27FC236}">
                <a16:creationId xmlns:a16="http://schemas.microsoft.com/office/drawing/2014/main" id="{743004D4-58C1-C10C-2E03-F5AE0DF55F2A}"/>
              </a:ext>
            </a:extLst>
          </p:cNvPr>
          <p:cNvSpPr>
            <a:spLocks noChangeArrowheads="1"/>
          </p:cNvSpPr>
          <p:nvPr/>
        </p:nvSpPr>
        <p:spPr bwMode="auto">
          <a:xfrm>
            <a:off x="4543425" y="2349500"/>
            <a:ext cx="1633538" cy="215900"/>
          </a:xfrm>
          <a:prstGeom prst="wedgeRectCallout">
            <a:avLst>
              <a:gd name="adj1" fmla="val -115972"/>
              <a:gd name="adj2" fmla="val 36028"/>
            </a:avLst>
          </a:prstGeom>
          <a:solidFill>
            <a:schemeClr val="bg1"/>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TW" sz="1400"/>
              <a:t>execution time</a:t>
            </a:r>
          </a:p>
        </p:txBody>
      </p:sp>
      <p:sp>
        <p:nvSpPr>
          <p:cNvPr id="955401" name="AutoShape 9">
            <a:extLst>
              <a:ext uri="{FF2B5EF4-FFF2-40B4-BE49-F238E27FC236}">
                <a16:creationId xmlns:a16="http://schemas.microsoft.com/office/drawing/2014/main" id="{B3F62C63-995B-2515-4797-DA1DE7A8F6A7}"/>
              </a:ext>
            </a:extLst>
          </p:cNvPr>
          <p:cNvSpPr>
            <a:spLocks noChangeArrowheads="1"/>
          </p:cNvSpPr>
          <p:nvPr/>
        </p:nvSpPr>
        <p:spPr bwMode="auto">
          <a:xfrm>
            <a:off x="4543425" y="2997200"/>
            <a:ext cx="1633538" cy="395288"/>
          </a:xfrm>
          <a:prstGeom prst="wedgeRectCallout">
            <a:avLst>
              <a:gd name="adj1" fmla="val -115972"/>
              <a:gd name="adj2" fmla="val 36028"/>
            </a:avLst>
          </a:prstGeom>
          <a:solidFill>
            <a:schemeClr val="bg1"/>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TW" sz="1400"/>
              <a:t>description of profiling</a:t>
            </a:r>
          </a:p>
        </p:txBody>
      </p:sp>
      <p:sp>
        <p:nvSpPr>
          <p:cNvPr id="955402" name="AutoShape 10">
            <a:extLst>
              <a:ext uri="{FF2B5EF4-FFF2-40B4-BE49-F238E27FC236}">
                <a16:creationId xmlns:a16="http://schemas.microsoft.com/office/drawing/2014/main" id="{BB9996D1-75B0-1334-EBE5-34E2DF1A3653}"/>
              </a:ext>
            </a:extLst>
          </p:cNvPr>
          <p:cNvSpPr>
            <a:spLocks noChangeArrowheads="1"/>
          </p:cNvSpPr>
          <p:nvPr/>
        </p:nvSpPr>
        <p:spPr bwMode="auto">
          <a:xfrm>
            <a:off x="6608763" y="4868863"/>
            <a:ext cx="1166812" cy="215900"/>
          </a:xfrm>
          <a:prstGeom prst="wedgeRectCallout">
            <a:avLst>
              <a:gd name="adj1" fmla="val -149727"/>
              <a:gd name="adj2" fmla="val 88972"/>
            </a:avLst>
          </a:prstGeom>
          <a:solidFill>
            <a:schemeClr val="bg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TW" sz="1400"/>
              <a:t>floating</a:t>
            </a:r>
          </a:p>
        </p:txBody>
      </p:sp>
      <p:grpSp>
        <p:nvGrpSpPr>
          <p:cNvPr id="955403" name="Group 11">
            <a:extLst>
              <a:ext uri="{FF2B5EF4-FFF2-40B4-BE49-F238E27FC236}">
                <a16:creationId xmlns:a16="http://schemas.microsoft.com/office/drawing/2014/main" id="{7F1FBF5F-D51C-AAD1-692F-FCA7CC9F8BD0}"/>
              </a:ext>
            </a:extLst>
          </p:cNvPr>
          <p:cNvGrpSpPr>
            <a:grpSpLocks/>
          </p:cNvGrpSpPr>
          <p:nvPr/>
        </p:nvGrpSpPr>
        <p:grpSpPr bwMode="auto">
          <a:xfrm>
            <a:off x="1136650" y="2781300"/>
            <a:ext cx="4032250" cy="2232025"/>
            <a:chOff x="716" y="1752"/>
            <a:chExt cx="2540" cy="1406"/>
          </a:xfrm>
        </p:grpSpPr>
        <p:sp>
          <p:nvSpPr>
            <p:cNvPr id="955404" name="Rectangle 12">
              <a:extLst>
                <a:ext uri="{FF2B5EF4-FFF2-40B4-BE49-F238E27FC236}">
                  <a16:creationId xmlns:a16="http://schemas.microsoft.com/office/drawing/2014/main" id="{5B85D27D-FD5B-476E-1E22-B7B1458ACA0F}"/>
                </a:ext>
              </a:extLst>
            </p:cNvPr>
            <p:cNvSpPr>
              <a:spLocks noChangeArrowheads="1"/>
            </p:cNvSpPr>
            <p:nvPr/>
          </p:nvSpPr>
          <p:spPr bwMode="auto">
            <a:xfrm>
              <a:off x="761" y="3022"/>
              <a:ext cx="2495" cy="136"/>
            </a:xfrm>
            <a:prstGeom prst="rect">
              <a:avLst/>
            </a:prstGeom>
            <a:noFill/>
            <a:ln w="9525">
              <a:solidFill>
                <a:srgbClr val="FF3300"/>
              </a:solidFill>
              <a:prstDash val="dash"/>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nvGrpSpPr>
            <p:cNvPr id="955405" name="Group 13">
              <a:extLst>
                <a:ext uri="{FF2B5EF4-FFF2-40B4-BE49-F238E27FC236}">
                  <a16:creationId xmlns:a16="http://schemas.microsoft.com/office/drawing/2014/main" id="{B116AFF7-2ED0-C67F-8957-E3E5630854D4}"/>
                </a:ext>
              </a:extLst>
            </p:cNvPr>
            <p:cNvGrpSpPr>
              <a:grpSpLocks/>
            </p:cNvGrpSpPr>
            <p:nvPr/>
          </p:nvGrpSpPr>
          <p:grpSpPr bwMode="auto">
            <a:xfrm>
              <a:off x="716" y="1752"/>
              <a:ext cx="90" cy="1338"/>
              <a:chOff x="716" y="1752"/>
              <a:chExt cx="90" cy="1338"/>
            </a:xfrm>
          </p:grpSpPr>
          <p:cxnSp>
            <p:nvCxnSpPr>
              <p:cNvPr id="955406" name="AutoShape 14">
                <a:extLst>
                  <a:ext uri="{FF2B5EF4-FFF2-40B4-BE49-F238E27FC236}">
                    <a16:creationId xmlns:a16="http://schemas.microsoft.com/office/drawing/2014/main" id="{D1401C9B-B680-07C9-40A4-E7CB75A6FC9E}"/>
                  </a:ext>
                </a:extLst>
              </p:cNvPr>
              <p:cNvCxnSpPr>
                <a:cxnSpLocks noChangeShapeType="1"/>
                <a:stCxn id="955407" idx="1"/>
                <a:endCxn id="955404" idx="1"/>
              </p:cNvCxnSpPr>
              <p:nvPr/>
            </p:nvCxnSpPr>
            <p:spPr bwMode="auto">
              <a:xfrm rot="10800000" flipH="1" flipV="1">
                <a:off x="716" y="2160"/>
                <a:ext cx="45" cy="930"/>
              </a:xfrm>
              <a:prstGeom prst="curvedConnector3">
                <a:avLst>
                  <a:gd name="adj1" fmla="val -320000"/>
                </a:avLst>
              </a:prstGeom>
              <a:noFill/>
              <a:ln w="9525">
                <a:solidFill>
                  <a:srgbClr val="FF33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5407" name="AutoShape 15">
                <a:extLst>
                  <a:ext uri="{FF2B5EF4-FFF2-40B4-BE49-F238E27FC236}">
                    <a16:creationId xmlns:a16="http://schemas.microsoft.com/office/drawing/2014/main" id="{748346F4-EC46-5B26-DF77-587DB7887E4E}"/>
                  </a:ext>
                </a:extLst>
              </p:cNvPr>
              <p:cNvSpPr>
                <a:spLocks/>
              </p:cNvSpPr>
              <p:nvPr/>
            </p:nvSpPr>
            <p:spPr bwMode="auto">
              <a:xfrm flipH="1">
                <a:off x="716" y="1752"/>
                <a:ext cx="90" cy="816"/>
              </a:xfrm>
              <a:prstGeom prst="rightBrace">
                <a:avLst>
                  <a:gd name="adj1" fmla="val 75556"/>
                  <a:gd name="adj2" fmla="val 50000"/>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grpSp>
        <p:nvGrpSpPr>
          <p:cNvPr id="955408" name="Group 16">
            <a:extLst>
              <a:ext uri="{FF2B5EF4-FFF2-40B4-BE49-F238E27FC236}">
                <a16:creationId xmlns:a16="http://schemas.microsoft.com/office/drawing/2014/main" id="{212735A6-625D-D9F2-3E2C-1475B0087334}"/>
              </a:ext>
            </a:extLst>
          </p:cNvPr>
          <p:cNvGrpSpPr>
            <a:grpSpLocks/>
          </p:cNvGrpSpPr>
          <p:nvPr/>
        </p:nvGrpSpPr>
        <p:grpSpPr bwMode="auto">
          <a:xfrm>
            <a:off x="3297238" y="3357563"/>
            <a:ext cx="2447925" cy="1727200"/>
            <a:chOff x="2077" y="2115"/>
            <a:chExt cx="1542" cy="1088"/>
          </a:xfrm>
        </p:grpSpPr>
        <p:grpSp>
          <p:nvGrpSpPr>
            <p:cNvPr id="955409" name="Group 17">
              <a:extLst>
                <a:ext uri="{FF2B5EF4-FFF2-40B4-BE49-F238E27FC236}">
                  <a16:creationId xmlns:a16="http://schemas.microsoft.com/office/drawing/2014/main" id="{6EE0295A-43F9-C6FB-C0DF-0BCA3A0BA1B8}"/>
                </a:ext>
              </a:extLst>
            </p:cNvPr>
            <p:cNvGrpSpPr>
              <a:grpSpLocks/>
            </p:cNvGrpSpPr>
            <p:nvPr/>
          </p:nvGrpSpPr>
          <p:grpSpPr bwMode="auto">
            <a:xfrm>
              <a:off x="2077" y="2115"/>
              <a:ext cx="453" cy="1088"/>
              <a:chOff x="2077" y="2115"/>
              <a:chExt cx="453" cy="1088"/>
            </a:xfrm>
          </p:grpSpPr>
          <p:sp>
            <p:nvSpPr>
              <p:cNvPr id="955410" name="AutoShape 18">
                <a:extLst>
                  <a:ext uri="{FF2B5EF4-FFF2-40B4-BE49-F238E27FC236}">
                    <a16:creationId xmlns:a16="http://schemas.microsoft.com/office/drawing/2014/main" id="{F1BB1059-9788-67C0-B62D-7D5524F52DD6}"/>
                  </a:ext>
                </a:extLst>
              </p:cNvPr>
              <p:cNvSpPr>
                <a:spLocks/>
              </p:cNvSpPr>
              <p:nvPr/>
            </p:nvSpPr>
            <p:spPr bwMode="auto">
              <a:xfrm>
                <a:off x="2077" y="2115"/>
                <a:ext cx="45" cy="363"/>
              </a:xfrm>
              <a:prstGeom prst="rightBrace">
                <a:avLst>
                  <a:gd name="adj1" fmla="val 67222"/>
                  <a:gd name="adj2" fmla="val 50000"/>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55411" name="Oval 19">
                <a:extLst>
                  <a:ext uri="{FF2B5EF4-FFF2-40B4-BE49-F238E27FC236}">
                    <a16:creationId xmlns:a16="http://schemas.microsoft.com/office/drawing/2014/main" id="{7DD85452-8CBD-76BA-9763-AD830CD24F2D}"/>
                  </a:ext>
                </a:extLst>
              </p:cNvPr>
              <p:cNvSpPr>
                <a:spLocks noChangeArrowheads="1"/>
              </p:cNvSpPr>
              <p:nvPr/>
            </p:nvSpPr>
            <p:spPr bwMode="auto">
              <a:xfrm>
                <a:off x="2258" y="3022"/>
                <a:ext cx="272" cy="181"/>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cxnSp>
            <p:nvCxnSpPr>
              <p:cNvPr id="955412" name="AutoShape 20">
                <a:extLst>
                  <a:ext uri="{FF2B5EF4-FFF2-40B4-BE49-F238E27FC236}">
                    <a16:creationId xmlns:a16="http://schemas.microsoft.com/office/drawing/2014/main" id="{A7584877-65CA-E17B-50A1-E56AD44DCD91}"/>
                  </a:ext>
                </a:extLst>
              </p:cNvPr>
              <p:cNvCxnSpPr>
                <a:cxnSpLocks noChangeShapeType="1"/>
                <a:stCxn id="955410" idx="1"/>
                <a:endCxn id="955411" idx="0"/>
              </p:cNvCxnSpPr>
              <p:nvPr/>
            </p:nvCxnSpPr>
            <p:spPr bwMode="auto">
              <a:xfrm>
                <a:off x="2122" y="2297"/>
                <a:ext cx="272" cy="725"/>
              </a:xfrm>
              <a:prstGeom prst="curvedConnector2">
                <a:avLst/>
              </a:prstGeom>
              <a:noFill/>
              <a:ln w="9525">
                <a:solidFill>
                  <a:srgbClr val="FF33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55413" name="AutoShape 21">
              <a:extLst>
                <a:ext uri="{FF2B5EF4-FFF2-40B4-BE49-F238E27FC236}">
                  <a16:creationId xmlns:a16="http://schemas.microsoft.com/office/drawing/2014/main" id="{39C985BF-5723-3E35-0EB8-95ACE78B53E0}"/>
                </a:ext>
              </a:extLst>
            </p:cNvPr>
            <p:cNvSpPr>
              <a:spLocks noChangeArrowheads="1"/>
            </p:cNvSpPr>
            <p:nvPr/>
          </p:nvSpPr>
          <p:spPr bwMode="auto">
            <a:xfrm>
              <a:off x="2839" y="2341"/>
              <a:ext cx="780" cy="249"/>
            </a:xfrm>
            <a:prstGeom prst="wedgeRectCallout">
              <a:avLst>
                <a:gd name="adj1" fmla="val -115986"/>
                <a:gd name="adj2" fmla="val 36028"/>
              </a:avLst>
            </a:prstGeom>
            <a:solidFill>
              <a:schemeClr val="bg1"/>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TW" sz="1400"/>
                <a:t>description of attribute</a:t>
              </a:r>
            </a:p>
          </p:txBody>
        </p:sp>
      </p:grpSp>
      <p:sp>
        <p:nvSpPr>
          <p:cNvPr id="955414" name="AutoShape 22">
            <a:extLst>
              <a:ext uri="{FF2B5EF4-FFF2-40B4-BE49-F238E27FC236}">
                <a16:creationId xmlns:a16="http://schemas.microsoft.com/office/drawing/2014/main" id="{11186194-82DA-CFEF-A8EF-3DE0891E6902}"/>
              </a:ext>
            </a:extLst>
          </p:cNvPr>
          <p:cNvSpPr>
            <a:spLocks noChangeArrowheads="1"/>
          </p:cNvSpPr>
          <p:nvPr/>
        </p:nvSpPr>
        <p:spPr bwMode="auto">
          <a:xfrm>
            <a:off x="6594475" y="5516563"/>
            <a:ext cx="1814513" cy="431800"/>
          </a:xfrm>
          <a:prstGeom prst="wedgeRectCallout">
            <a:avLst>
              <a:gd name="adj1" fmla="val -113167"/>
              <a:gd name="adj2" fmla="val 25366"/>
            </a:avLst>
          </a:prstGeom>
          <a:solidFill>
            <a:schemeClr val="bg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TW" sz="1400"/>
              <a:t>multi-bound port &amp; non-pad cell</a:t>
            </a:r>
          </a:p>
        </p:txBody>
      </p:sp>
      <p:sp>
        <p:nvSpPr>
          <p:cNvPr id="955415" name="AutoShape 23">
            <a:extLst>
              <a:ext uri="{FF2B5EF4-FFF2-40B4-BE49-F238E27FC236}">
                <a16:creationId xmlns:a16="http://schemas.microsoft.com/office/drawing/2014/main" id="{F966A9C7-BA07-10AC-B6A9-9E4C14436C34}"/>
              </a:ext>
            </a:extLst>
          </p:cNvPr>
          <p:cNvSpPr>
            <a:spLocks noChangeArrowheads="1"/>
          </p:cNvSpPr>
          <p:nvPr/>
        </p:nvSpPr>
        <p:spPr bwMode="auto">
          <a:xfrm>
            <a:off x="6608763" y="6165850"/>
            <a:ext cx="1166812" cy="215900"/>
          </a:xfrm>
          <a:prstGeom prst="wedgeRectCallout">
            <a:avLst>
              <a:gd name="adj1" fmla="val -150815"/>
              <a:gd name="adj2" fmla="val -93384"/>
            </a:avLst>
          </a:prstGeom>
          <a:solidFill>
            <a:schemeClr val="bg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TW" sz="1400"/>
              <a:t>non-pad cell</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55398"/>
                                        </p:tgtEl>
                                        <p:attrNameLst>
                                          <p:attrName>style.visibility</p:attrName>
                                        </p:attrNameLst>
                                      </p:cBhvr>
                                      <p:to>
                                        <p:strVal val="visible"/>
                                      </p:to>
                                    </p:set>
                                    <p:animEffect transition="in" filter="dissolve">
                                      <p:cBhvr>
                                        <p:cTn id="7" dur="500"/>
                                        <p:tgtEl>
                                          <p:spTgt spid="955398"/>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55399"/>
                                        </p:tgtEl>
                                        <p:attrNameLst>
                                          <p:attrName>style.visibility</p:attrName>
                                        </p:attrNameLst>
                                      </p:cBhvr>
                                      <p:to>
                                        <p:strVal val="visible"/>
                                      </p:to>
                                    </p:set>
                                    <p:animEffect transition="in" filter="dissolve">
                                      <p:cBhvr>
                                        <p:cTn id="11" dur="500"/>
                                        <p:tgtEl>
                                          <p:spTgt spid="955399"/>
                                        </p:tgtEl>
                                      </p:cBhvr>
                                    </p:animEffect>
                                  </p:childTnLst>
                                </p:cTn>
                              </p:par>
                            </p:childTnLst>
                          </p:cTn>
                        </p:par>
                        <p:par>
                          <p:cTn id="12" fill="hold" nodeType="afterGroup">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955400"/>
                                        </p:tgtEl>
                                        <p:attrNameLst>
                                          <p:attrName>style.visibility</p:attrName>
                                        </p:attrNameLst>
                                      </p:cBhvr>
                                      <p:to>
                                        <p:strVal val="visible"/>
                                      </p:to>
                                    </p:set>
                                    <p:animEffect transition="in" filter="dissolve">
                                      <p:cBhvr>
                                        <p:cTn id="15" dur="500"/>
                                        <p:tgtEl>
                                          <p:spTgt spid="955400"/>
                                        </p:tgtEl>
                                      </p:cBhvr>
                                    </p:animEffect>
                                  </p:childTnLst>
                                </p:cTn>
                              </p:par>
                            </p:childTnLst>
                          </p:cTn>
                        </p:par>
                        <p:par>
                          <p:cTn id="16" fill="hold" nodeType="afterGroup">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955401"/>
                                        </p:tgtEl>
                                        <p:attrNameLst>
                                          <p:attrName>style.visibility</p:attrName>
                                        </p:attrNameLst>
                                      </p:cBhvr>
                                      <p:to>
                                        <p:strVal val="visible"/>
                                      </p:to>
                                    </p:set>
                                    <p:animEffect transition="in" filter="dissolve">
                                      <p:cBhvr>
                                        <p:cTn id="19" dur="500"/>
                                        <p:tgtEl>
                                          <p:spTgt spid="95540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955403"/>
                                        </p:tgtEl>
                                        <p:attrNameLst>
                                          <p:attrName>style.visibility</p:attrName>
                                        </p:attrNameLst>
                                      </p:cBhvr>
                                      <p:to>
                                        <p:strVal val="visible"/>
                                      </p:to>
                                    </p:set>
                                    <p:animEffect transition="in" filter="dissolve">
                                      <p:cBhvr>
                                        <p:cTn id="24" dur="500"/>
                                        <p:tgtEl>
                                          <p:spTgt spid="95540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nodeType="clickEffect">
                                  <p:stCondLst>
                                    <p:cond delay="0"/>
                                  </p:stCondLst>
                                  <p:childTnLst>
                                    <p:set>
                                      <p:cBhvr>
                                        <p:cTn id="28" dur="1" fill="hold">
                                          <p:stCondLst>
                                            <p:cond delay="0"/>
                                          </p:stCondLst>
                                        </p:cTn>
                                        <p:tgtEl>
                                          <p:spTgt spid="955408"/>
                                        </p:tgtEl>
                                        <p:attrNameLst>
                                          <p:attrName>style.visibility</p:attrName>
                                        </p:attrNameLst>
                                      </p:cBhvr>
                                      <p:to>
                                        <p:strVal val="visible"/>
                                      </p:to>
                                    </p:set>
                                    <p:animEffect transition="in" filter="dissolve">
                                      <p:cBhvr>
                                        <p:cTn id="29" dur="500"/>
                                        <p:tgtEl>
                                          <p:spTgt spid="95540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955402"/>
                                        </p:tgtEl>
                                        <p:attrNameLst>
                                          <p:attrName>style.visibility</p:attrName>
                                        </p:attrNameLst>
                                      </p:cBhvr>
                                      <p:to>
                                        <p:strVal val="visible"/>
                                      </p:to>
                                    </p:set>
                                    <p:animEffect transition="in" filter="dissolve">
                                      <p:cBhvr>
                                        <p:cTn id="34" dur="500"/>
                                        <p:tgtEl>
                                          <p:spTgt spid="955402"/>
                                        </p:tgtEl>
                                      </p:cBhvr>
                                    </p:animEffect>
                                  </p:childTnLst>
                                </p:cTn>
                              </p:par>
                            </p:childTnLst>
                          </p:cTn>
                        </p:par>
                        <p:par>
                          <p:cTn id="35" fill="hold" nodeType="afterGroup">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955414"/>
                                        </p:tgtEl>
                                        <p:attrNameLst>
                                          <p:attrName>style.visibility</p:attrName>
                                        </p:attrNameLst>
                                      </p:cBhvr>
                                      <p:to>
                                        <p:strVal val="visible"/>
                                      </p:to>
                                    </p:set>
                                    <p:animEffect transition="in" filter="dissolve">
                                      <p:cBhvr>
                                        <p:cTn id="38" dur="500"/>
                                        <p:tgtEl>
                                          <p:spTgt spid="955414"/>
                                        </p:tgtEl>
                                      </p:cBhvr>
                                    </p:animEffect>
                                  </p:childTnLst>
                                </p:cTn>
                              </p:par>
                            </p:childTnLst>
                          </p:cTn>
                        </p:par>
                        <p:par>
                          <p:cTn id="39" fill="hold" nodeType="afterGroup">
                            <p:stCondLst>
                              <p:cond delay="1000"/>
                            </p:stCondLst>
                            <p:childTnLst>
                              <p:par>
                                <p:cTn id="40" presetID="9" presetClass="entr" presetSubtype="0" fill="hold" grpId="0" nodeType="afterEffect">
                                  <p:stCondLst>
                                    <p:cond delay="0"/>
                                  </p:stCondLst>
                                  <p:childTnLst>
                                    <p:set>
                                      <p:cBhvr>
                                        <p:cTn id="41" dur="1" fill="hold">
                                          <p:stCondLst>
                                            <p:cond delay="0"/>
                                          </p:stCondLst>
                                        </p:cTn>
                                        <p:tgtEl>
                                          <p:spTgt spid="955415"/>
                                        </p:tgtEl>
                                        <p:attrNameLst>
                                          <p:attrName>style.visibility</p:attrName>
                                        </p:attrNameLst>
                                      </p:cBhvr>
                                      <p:to>
                                        <p:strVal val="visible"/>
                                      </p:to>
                                    </p:set>
                                    <p:animEffect transition="in" filter="dissolve">
                                      <p:cBhvr>
                                        <p:cTn id="42" dur="500"/>
                                        <p:tgtEl>
                                          <p:spTgt spid="955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5398" grpId="0" animBg="1"/>
      <p:bldP spid="955399" grpId="0" animBg="1"/>
      <p:bldP spid="955400" grpId="0" animBg="1"/>
      <p:bldP spid="955401" grpId="0" animBg="1"/>
      <p:bldP spid="955402" grpId="0" animBg="1"/>
      <p:bldP spid="955414" grpId="0" animBg="1"/>
      <p:bldP spid="95541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F17F9067-1187-E311-950E-46E496F96223}"/>
              </a:ext>
            </a:extLst>
          </p:cNvPr>
          <p:cNvSpPr>
            <a:spLocks noGrp="1"/>
          </p:cNvSpPr>
          <p:nvPr>
            <p:ph type="sldNum" sz="quarter" idx="10"/>
          </p:nvPr>
        </p:nvSpPr>
        <p:spPr/>
        <p:txBody>
          <a:bodyPr/>
          <a:lstStyle/>
          <a:p>
            <a:fld id="{B843D6B4-3443-724C-B4AD-C57A9B8606C6}" type="slidenum">
              <a:rPr lang="en-US" altLang="zh-TW"/>
              <a:pPr/>
              <a:t>31</a:t>
            </a:fld>
            <a:endParaRPr lang="en-US" altLang="zh-TW"/>
          </a:p>
        </p:txBody>
      </p:sp>
      <p:sp>
        <p:nvSpPr>
          <p:cNvPr id="956418" name="Rectangle 2">
            <a:extLst>
              <a:ext uri="{FF2B5EF4-FFF2-40B4-BE49-F238E27FC236}">
                <a16:creationId xmlns:a16="http://schemas.microsoft.com/office/drawing/2014/main" id="{31F5EFA9-1317-4C69-3DB2-2C159252B835}"/>
              </a:ext>
            </a:extLst>
          </p:cNvPr>
          <p:cNvSpPr>
            <a:spLocks noGrp="1" noChangeArrowheads="1"/>
          </p:cNvSpPr>
          <p:nvPr>
            <p:ph type="title"/>
          </p:nvPr>
        </p:nvSpPr>
        <p:spPr/>
        <p:txBody>
          <a:bodyPr/>
          <a:lstStyle/>
          <a:p>
            <a:r>
              <a:rPr lang="en-US" altLang="zh-TW"/>
              <a:t>Design Summary (1/3)</a:t>
            </a:r>
          </a:p>
        </p:txBody>
      </p:sp>
      <p:sp>
        <p:nvSpPr>
          <p:cNvPr id="956419" name="Text Box 3">
            <a:extLst>
              <a:ext uri="{FF2B5EF4-FFF2-40B4-BE49-F238E27FC236}">
                <a16:creationId xmlns:a16="http://schemas.microsoft.com/office/drawing/2014/main" id="{EC515EB3-59E8-4A31-00BF-B65C3D0C8DF9}"/>
              </a:ext>
            </a:extLst>
          </p:cNvPr>
          <p:cNvSpPr txBox="1">
            <a:spLocks noChangeArrowheads="1"/>
          </p:cNvSpPr>
          <p:nvPr/>
        </p:nvSpPr>
        <p:spPr bwMode="auto">
          <a:xfrm>
            <a:off x="1136650" y="3573463"/>
            <a:ext cx="7558088" cy="2592387"/>
          </a:xfrm>
          <a:prstGeom prst="rect">
            <a:avLst/>
          </a:prstGeom>
          <a:solidFill>
            <a:srgbClr val="FFFF99"/>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rgbClr val="FF3300"/>
                </a:solidFill>
                <a:miter lim="800000"/>
                <a:headEnd/>
                <a:tailEnd/>
              </a14:hiddenLine>
            </a:ext>
          </a:extLst>
        </p:spPr>
        <p:txBody>
          <a:bodyPr wrap="none"/>
          <a:lstStyle/>
          <a:p>
            <a:pPr algn="l"/>
            <a:r>
              <a:rPr lang="en-US" altLang="zh-TW" sz="1200">
                <a:latin typeface="細明體" panose="02020509000000000000" pitchFamily="49" charset="-120"/>
                <a:ea typeface="細明體" panose="02020509000000000000" pitchFamily="49" charset="-120"/>
              </a:rPr>
              <a:t>base gate for computing equivalent gate: NAND2X1 </a:t>
            </a:r>
          </a:p>
          <a:p>
            <a:pPr algn="l"/>
            <a:endParaRPr lang="en-US" altLang="zh-TW" sz="1200">
              <a:latin typeface="細明體" panose="02020509000000000000" pitchFamily="49" charset="-120"/>
              <a:ea typeface="細明體" panose="02020509000000000000" pitchFamily="49" charset="-120"/>
            </a:endParaRPr>
          </a:p>
          <a:p>
            <a:pPr algn="l"/>
            <a:r>
              <a:rPr lang="en-US" altLang="zh-TW" sz="1200">
                <a:latin typeface="細明體" panose="02020509000000000000" pitchFamily="49" charset="-120"/>
                <a:ea typeface="細明體" panose="02020509000000000000" pitchFamily="49" charset="-120"/>
              </a:rPr>
              <a:t>Description                          Value           Section</a:t>
            </a:r>
          </a:p>
          <a:p>
            <a:pPr algn="l"/>
            <a:r>
              <a:rPr lang="en-US" altLang="zh-TW" sz="1200">
                <a:latin typeface="細明體" panose="02020509000000000000" pitchFamily="49" charset="-120"/>
                <a:ea typeface="細明體" panose="02020509000000000000" pitchFamily="49" charset="-120"/>
              </a:rPr>
              <a:t>----------------------------------------------------------------------</a:t>
            </a:r>
          </a:p>
          <a:p>
            <a:pPr algn="l"/>
            <a:r>
              <a:rPr lang="en-US" altLang="zh-TW" sz="1200">
                <a:latin typeface="細明體" panose="02020509000000000000" pitchFamily="49" charset="-120"/>
                <a:ea typeface="細明體" panose="02020509000000000000" pitchFamily="49" charset="-120"/>
              </a:rPr>
              <a:t>eq. gates of macro cells:            198116.05       [reference,cell]</a:t>
            </a:r>
          </a:p>
          <a:p>
            <a:pPr algn="l"/>
            <a:r>
              <a:rPr lang="en-US" altLang="zh-TW" sz="1200">
                <a:latin typeface="細明體" panose="02020509000000000000" pitchFamily="49" charset="-120"/>
                <a:ea typeface="細明體" panose="02020509000000000000" pitchFamily="49" charset="-120"/>
              </a:rPr>
              <a:t>eq. gates of pad cells:              47513.55        [reference]</a:t>
            </a:r>
          </a:p>
          <a:p>
            <a:pPr algn="l"/>
            <a:r>
              <a:rPr lang="en-US" altLang="zh-TW" sz="1200">
                <a:latin typeface="細明體" panose="02020509000000000000" pitchFamily="49" charset="-120"/>
                <a:ea typeface="細明體" panose="02020509000000000000" pitchFamily="49" charset="-120"/>
              </a:rPr>
              <a:t>eq. gates of standard cells:         868.26          [reference]</a:t>
            </a:r>
          </a:p>
          <a:p>
            <a:pPr algn="l"/>
            <a:r>
              <a:rPr lang="en-US" altLang="zh-TW" sz="1200">
                <a:latin typeface="細明體" panose="02020509000000000000" pitchFamily="49" charset="-120"/>
                <a:ea typeface="細明體" panose="02020509000000000000" pitchFamily="49" charset="-120"/>
              </a:rPr>
              <a:t>eq. gates of sequential cells:       455.68          [reference]</a:t>
            </a:r>
          </a:p>
          <a:p>
            <a:pPr algn="l"/>
            <a:r>
              <a:rPr lang="en-US" altLang="zh-TW" sz="1200">
                <a:latin typeface="細明體" panose="02020509000000000000" pitchFamily="49" charset="-120"/>
                <a:ea typeface="細明體" panose="02020509000000000000" pitchFamily="49" charset="-120"/>
              </a:rPr>
              <a:t>eq. gates of combinational cells:    412.58          [reference]</a:t>
            </a:r>
          </a:p>
        </p:txBody>
      </p:sp>
      <p:sp>
        <p:nvSpPr>
          <p:cNvPr id="956420" name="Rectangle 4">
            <a:extLst>
              <a:ext uri="{FF2B5EF4-FFF2-40B4-BE49-F238E27FC236}">
                <a16:creationId xmlns:a16="http://schemas.microsoft.com/office/drawing/2014/main" id="{1D5E2B17-6F5F-C835-DC50-20A4DBF93C6F}"/>
              </a:ext>
            </a:extLst>
          </p:cNvPr>
          <p:cNvSpPr>
            <a:spLocks noGrp="1" noChangeArrowheads="1"/>
          </p:cNvSpPr>
          <p:nvPr>
            <p:ph type="body" idx="1"/>
          </p:nvPr>
        </p:nvSpPr>
        <p:spPr>
          <a:noFill/>
          <a:ln/>
        </p:spPr>
        <p:txBody>
          <a:bodyPr/>
          <a:lstStyle/>
          <a:p>
            <a:r>
              <a:rPr lang="en-US" altLang="zh-TW" sz="1600"/>
              <a:t>UNS first summarizes design content info, engineering rule check and clock domain analysis, then classifies them into several groups associated with proper section labels respectively. </a:t>
            </a:r>
          </a:p>
          <a:p>
            <a:r>
              <a:rPr lang="en-US" altLang="zh-TW" sz="1600"/>
              <a:t>Finally it designates the analyzed coverage, the interconnected congestion and leakage power consumption</a:t>
            </a:r>
          </a:p>
        </p:txBody>
      </p:sp>
      <p:grpSp>
        <p:nvGrpSpPr>
          <p:cNvPr id="956421" name="Group 5">
            <a:extLst>
              <a:ext uri="{FF2B5EF4-FFF2-40B4-BE49-F238E27FC236}">
                <a16:creationId xmlns:a16="http://schemas.microsoft.com/office/drawing/2014/main" id="{3C2FC002-8904-E8AA-4269-64B27733DD18}"/>
              </a:ext>
            </a:extLst>
          </p:cNvPr>
          <p:cNvGrpSpPr>
            <a:grpSpLocks/>
          </p:cNvGrpSpPr>
          <p:nvPr/>
        </p:nvGrpSpPr>
        <p:grpSpPr bwMode="auto">
          <a:xfrm>
            <a:off x="5168900" y="4292600"/>
            <a:ext cx="3960813" cy="1690688"/>
            <a:chOff x="3256" y="2704"/>
            <a:chExt cx="2495" cy="1065"/>
          </a:xfrm>
        </p:grpSpPr>
        <p:sp>
          <p:nvSpPr>
            <p:cNvPr id="956422" name="Rectangle 6">
              <a:extLst>
                <a:ext uri="{FF2B5EF4-FFF2-40B4-BE49-F238E27FC236}">
                  <a16:creationId xmlns:a16="http://schemas.microsoft.com/office/drawing/2014/main" id="{6E7437C8-5082-61AC-D74A-F8D793271BF1}"/>
                </a:ext>
              </a:extLst>
            </p:cNvPr>
            <p:cNvSpPr>
              <a:spLocks noChangeArrowheads="1"/>
            </p:cNvSpPr>
            <p:nvPr/>
          </p:nvSpPr>
          <p:spPr bwMode="auto">
            <a:xfrm>
              <a:off x="3256" y="2704"/>
              <a:ext cx="1179" cy="681"/>
            </a:xfrm>
            <a:prstGeom prst="rect">
              <a:avLst/>
            </a:prstGeom>
            <a:noFill/>
            <a:ln w="9525">
              <a:solidFill>
                <a:schemeClr val="accent2"/>
              </a:solidFill>
              <a:prstDash val="dash"/>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56423" name="AutoShape 7">
              <a:extLst>
                <a:ext uri="{FF2B5EF4-FFF2-40B4-BE49-F238E27FC236}">
                  <a16:creationId xmlns:a16="http://schemas.microsoft.com/office/drawing/2014/main" id="{9B052C66-E912-1175-8133-2D3ED6034A80}"/>
                </a:ext>
              </a:extLst>
            </p:cNvPr>
            <p:cNvSpPr>
              <a:spLocks noChangeArrowheads="1"/>
            </p:cNvSpPr>
            <p:nvPr/>
          </p:nvSpPr>
          <p:spPr bwMode="auto">
            <a:xfrm>
              <a:off x="4209" y="3385"/>
              <a:ext cx="1542" cy="384"/>
            </a:xfrm>
            <a:prstGeom prst="wedgeRoundRectCallout">
              <a:avLst>
                <a:gd name="adj1" fmla="val -48380"/>
                <a:gd name="adj2" fmla="val -73440"/>
                <a:gd name="adj3" fmla="val 16667"/>
              </a:avLst>
            </a:prstGeom>
            <a:solidFill>
              <a:schemeClr val="bg1"/>
            </a:solidFill>
            <a:ln w="9525">
              <a:solidFill>
                <a:schemeClr val="accent2"/>
              </a:solidFill>
              <a:miter lim="800000"/>
              <a:headEnd/>
              <a:tailEnd/>
            </a:ln>
            <a:effectLst>
              <a:outerShdw dist="107763" dir="2700000" algn="ctr" rotWithShape="0">
                <a:schemeClr val="bg2">
                  <a:alpha val="50000"/>
                </a:schemeClr>
              </a:outerShdw>
            </a:effectLst>
          </p:spPr>
          <p:txBody>
            <a:bodyPr anchor="ctr"/>
            <a:lstStyle/>
            <a:p>
              <a:r>
                <a:rPr lang="en-US" altLang="zh-TW" sz="1600"/>
                <a:t>You may lookup to those sections for more detail</a:t>
              </a:r>
            </a:p>
          </p:txBody>
        </p:sp>
      </p:grpSp>
      <p:sp>
        <p:nvSpPr>
          <p:cNvPr id="956424" name="AutoShape 8">
            <a:extLst>
              <a:ext uri="{FF2B5EF4-FFF2-40B4-BE49-F238E27FC236}">
                <a16:creationId xmlns:a16="http://schemas.microsoft.com/office/drawing/2014/main" id="{CCA20876-BC8D-9221-0EE8-1A3606135B07}"/>
              </a:ext>
            </a:extLst>
          </p:cNvPr>
          <p:cNvSpPr>
            <a:spLocks noChangeArrowheads="1"/>
          </p:cNvSpPr>
          <p:nvPr/>
        </p:nvSpPr>
        <p:spPr bwMode="auto">
          <a:xfrm>
            <a:off x="1928813" y="5516563"/>
            <a:ext cx="3168650" cy="936625"/>
          </a:xfrm>
          <a:prstGeom prst="wedgeRoundRectCallout">
            <a:avLst>
              <a:gd name="adj1" fmla="val -43940"/>
              <a:gd name="adj2" fmla="val -65083"/>
              <a:gd name="adj3" fmla="val 16667"/>
            </a:avLst>
          </a:prstGeom>
          <a:solidFill>
            <a:schemeClr val="bg1"/>
          </a:solidFill>
          <a:ln w="9525">
            <a:solidFill>
              <a:schemeClr val="accent2"/>
            </a:solidFill>
            <a:miter lim="800000"/>
            <a:headEnd/>
            <a:tailEnd/>
          </a:ln>
          <a:effectLst>
            <a:outerShdw dist="107763" dir="2700000" algn="ctr" rotWithShape="0">
              <a:schemeClr val="bg2">
                <a:alpha val="50000"/>
              </a:schemeClr>
            </a:outerShdw>
          </a:effectLst>
        </p:spPr>
        <p:txBody>
          <a:bodyPr anchor="ctr"/>
          <a:lstStyle/>
          <a:p>
            <a:pPr algn="l"/>
            <a:r>
              <a:rPr lang="en-US" altLang="zh-TW" sz="1600"/>
              <a:t>Command option ‘</a:t>
            </a:r>
            <a:r>
              <a:rPr lang="en-US" altLang="zh-TW" sz="1600">
                <a:solidFill>
                  <a:schemeClr val="accent2"/>
                </a:solidFill>
              </a:rPr>
              <a:t>-lib</a:t>
            </a:r>
            <a:r>
              <a:rPr lang="en-US" altLang="zh-TW" sz="1600"/>
              <a:t>’, ‘</a:t>
            </a:r>
            <a:r>
              <a:rPr lang="en-US" altLang="zh-TW" sz="1600">
                <a:solidFill>
                  <a:schemeClr val="accent2"/>
                </a:solidFill>
              </a:rPr>
              <a:t>-iolib</a:t>
            </a:r>
            <a:r>
              <a:rPr lang="en-US" altLang="zh-TW" sz="1600"/>
              <a:t>’ and ‘</a:t>
            </a:r>
            <a:r>
              <a:rPr lang="en-US" altLang="zh-TW" sz="1600">
                <a:solidFill>
                  <a:schemeClr val="accent2"/>
                </a:solidFill>
              </a:rPr>
              <a:t>-mlib</a:t>
            </a:r>
            <a:r>
              <a:rPr lang="en-US" altLang="zh-TW" sz="1600"/>
              <a:t>’ will affect the computing of area and gate count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56424"/>
                                        </p:tgtEl>
                                        <p:attrNameLst>
                                          <p:attrName>style.visibility</p:attrName>
                                        </p:attrNameLst>
                                      </p:cBhvr>
                                      <p:to>
                                        <p:strVal val="visible"/>
                                      </p:to>
                                    </p:set>
                                    <p:animEffect transition="in" filter="dissolve">
                                      <p:cBhvr>
                                        <p:cTn id="7" dur="500"/>
                                        <p:tgtEl>
                                          <p:spTgt spid="9564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956421"/>
                                        </p:tgtEl>
                                        <p:attrNameLst>
                                          <p:attrName>style.visibility</p:attrName>
                                        </p:attrNameLst>
                                      </p:cBhvr>
                                      <p:to>
                                        <p:strVal val="visible"/>
                                      </p:to>
                                    </p:set>
                                    <p:animEffect transition="in" filter="dissolve">
                                      <p:cBhvr>
                                        <p:cTn id="12" dur="500"/>
                                        <p:tgtEl>
                                          <p:spTgt spid="956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642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232DF120-873D-2EA0-D931-D692901A0393}"/>
              </a:ext>
            </a:extLst>
          </p:cNvPr>
          <p:cNvSpPr>
            <a:spLocks noGrp="1"/>
          </p:cNvSpPr>
          <p:nvPr>
            <p:ph type="sldNum" sz="quarter" idx="10"/>
          </p:nvPr>
        </p:nvSpPr>
        <p:spPr/>
        <p:txBody>
          <a:bodyPr/>
          <a:lstStyle/>
          <a:p>
            <a:fld id="{45713D80-C267-8B4B-A518-B73622F9159C}" type="slidenum">
              <a:rPr lang="en-US" altLang="zh-TW"/>
              <a:pPr/>
              <a:t>32</a:t>
            </a:fld>
            <a:endParaRPr lang="en-US" altLang="zh-TW"/>
          </a:p>
        </p:txBody>
      </p:sp>
      <p:sp>
        <p:nvSpPr>
          <p:cNvPr id="957442" name="Rectangle 2">
            <a:extLst>
              <a:ext uri="{FF2B5EF4-FFF2-40B4-BE49-F238E27FC236}">
                <a16:creationId xmlns:a16="http://schemas.microsoft.com/office/drawing/2014/main" id="{C50BCEB9-B460-3823-B225-CD31649090BA}"/>
              </a:ext>
            </a:extLst>
          </p:cNvPr>
          <p:cNvSpPr>
            <a:spLocks noGrp="1" noChangeArrowheads="1"/>
          </p:cNvSpPr>
          <p:nvPr>
            <p:ph type="title"/>
          </p:nvPr>
        </p:nvSpPr>
        <p:spPr/>
        <p:txBody>
          <a:bodyPr/>
          <a:lstStyle/>
          <a:p>
            <a:r>
              <a:rPr lang="en-US" altLang="zh-TW"/>
              <a:t>Design Summary (2/3)</a:t>
            </a:r>
          </a:p>
        </p:txBody>
      </p:sp>
      <p:sp>
        <p:nvSpPr>
          <p:cNvPr id="957443" name="Text Box 3">
            <a:extLst>
              <a:ext uri="{FF2B5EF4-FFF2-40B4-BE49-F238E27FC236}">
                <a16:creationId xmlns:a16="http://schemas.microsoft.com/office/drawing/2014/main" id="{C04E0F91-D453-9D39-CB2A-62292659911B}"/>
              </a:ext>
            </a:extLst>
          </p:cNvPr>
          <p:cNvSpPr txBox="1">
            <a:spLocks noChangeArrowheads="1"/>
          </p:cNvSpPr>
          <p:nvPr/>
        </p:nvSpPr>
        <p:spPr bwMode="auto">
          <a:xfrm>
            <a:off x="1136650" y="1196975"/>
            <a:ext cx="7558088" cy="4968875"/>
          </a:xfrm>
          <a:prstGeom prst="rect">
            <a:avLst/>
          </a:prstGeom>
          <a:solidFill>
            <a:srgbClr val="FFFF99"/>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rgbClr val="FF3300"/>
                </a:solidFill>
                <a:miter lim="800000"/>
                <a:headEnd/>
                <a:tailEnd/>
              </a14:hiddenLine>
            </a:ext>
          </a:extLst>
        </p:spPr>
        <p:txBody>
          <a:bodyPr wrap="none"/>
          <a:lstStyle/>
          <a:p>
            <a:pPr algn="l"/>
            <a:r>
              <a:rPr lang="en-US" altLang="zh-TW" sz="1200">
                <a:latin typeface="細明體" panose="02020509000000000000" pitchFamily="49" charset="-120"/>
                <a:ea typeface="細明體" panose="02020509000000000000" pitchFamily="49" charset="-120"/>
              </a:rPr>
              <a:t>number of macro cells:               10              [reference,cell]</a:t>
            </a:r>
          </a:p>
          <a:p>
            <a:pPr algn="l"/>
            <a:r>
              <a:rPr lang="en-US" altLang="zh-TW" sz="1200">
                <a:latin typeface="細明體" panose="02020509000000000000" pitchFamily="49" charset="-120"/>
                <a:ea typeface="細明體" panose="02020509000000000000" pitchFamily="49" charset="-120"/>
              </a:rPr>
              <a:t>number of pad cells:                 24              [reference]</a:t>
            </a:r>
          </a:p>
          <a:p>
            <a:pPr algn="l"/>
            <a:r>
              <a:rPr lang="en-US" altLang="zh-TW" sz="1200">
                <a:latin typeface="細明體" panose="02020509000000000000" pitchFamily="49" charset="-120"/>
                <a:ea typeface="細明體" panose="02020509000000000000" pitchFamily="49" charset="-120"/>
              </a:rPr>
              <a:t>number of standard cells:            420             [reference]</a:t>
            </a:r>
          </a:p>
          <a:p>
            <a:pPr algn="l"/>
            <a:r>
              <a:rPr lang="en-US" altLang="zh-TW" sz="1200">
                <a:latin typeface="細明體" panose="02020509000000000000" pitchFamily="49" charset="-120"/>
                <a:ea typeface="細明體" panose="02020509000000000000" pitchFamily="49" charset="-120"/>
              </a:rPr>
              <a:t>number of sequential cells:          80              [reference]</a:t>
            </a:r>
          </a:p>
          <a:p>
            <a:pPr algn="l"/>
            <a:r>
              <a:rPr lang="en-US" altLang="zh-TW" sz="1200">
                <a:latin typeface="細明體" panose="02020509000000000000" pitchFamily="49" charset="-120"/>
                <a:ea typeface="細明體" panose="02020509000000000000" pitchFamily="49" charset="-120"/>
              </a:rPr>
              <a:t>number of combinational cells:       340             [reference]</a:t>
            </a:r>
          </a:p>
          <a:p>
            <a:pPr algn="l"/>
            <a:r>
              <a:rPr lang="en-US" altLang="zh-TW" sz="1200">
                <a:latin typeface="細明體" panose="02020509000000000000" pitchFamily="49" charset="-120"/>
                <a:ea typeface="細明體" panose="02020509000000000000" pitchFamily="49" charset="-120"/>
              </a:rPr>
              <a:t>number of bufs for assign statement: 5               [reference]</a:t>
            </a:r>
          </a:p>
          <a:p>
            <a:pPr algn="l"/>
            <a:r>
              <a:rPr lang="en-US" altLang="zh-TW" sz="1200">
                <a:latin typeface="細明體" panose="02020509000000000000" pitchFamily="49" charset="-120"/>
                <a:ea typeface="細明體" panose="02020509000000000000" pitchFamily="49" charset="-120"/>
              </a:rPr>
              <a:t>number of sub designs:               21              [hierarchy,check_sub_design]</a:t>
            </a:r>
          </a:p>
          <a:p>
            <a:pPr algn="l"/>
            <a:r>
              <a:rPr lang="en-US" altLang="zh-TW" sz="1200">
                <a:latin typeface="細明體" panose="02020509000000000000" pitchFamily="49" charset="-120"/>
                <a:ea typeface="細明體" panose="02020509000000000000" pitchFamily="49" charset="-120"/>
              </a:rPr>
              <a:t>number of large sub designs:         2 (&gt;=100)       [hierarchy,check_sub_design]</a:t>
            </a:r>
          </a:p>
          <a:p>
            <a:pPr algn="l"/>
            <a:r>
              <a:rPr lang="en-US" altLang="zh-TW" sz="1200">
                <a:latin typeface="細明體" panose="02020509000000000000" pitchFamily="49" charset="-120"/>
                <a:ea typeface="細明體" panose="02020509000000000000" pitchFamily="49" charset="-120"/>
              </a:rPr>
              <a:t>number of empty sub designs:         4               [hierarchy,check_sub_design]</a:t>
            </a:r>
          </a:p>
          <a:p>
            <a:pPr algn="l"/>
            <a:r>
              <a:rPr lang="en-US" altLang="zh-TW" sz="1200">
                <a:latin typeface="細明體" panose="02020509000000000000" pitchFamily="49" charset="-120"/>
                <a:ea typeface="細明體" panose="02020509000000000000" pitchFamily="49" charset="-120"/>
              </a:rPr>
              <a:t>number of internal nets:             361             [fanout_distribution]</a:t>
            </a:r>
          </a:p>
          <a:p>
            <a:pPr algn="l"/>
            <a:r>
              <a:rPr lang="en-US" altLang="zh-TW" sz="1200">
                <a:latin typeface="細明體" panose="02020509000000000000" pitchFamily="49" charset="-120"/>
                <a:ea typeface="細明體" panose="02020509000000000000" pitchFamily="49" charset="-120"/>
              </a:rPr>
              <a:t>number of flattened primary ports:   22              [port,check_port_connection]</a:t>
            </a:r>
          </a:p>
          <a:p>
            <a:pPr algn="l"/>
            <a:r>
              <a:rPr lang="en-US" altLang="zh-TW" sz="1200">
                <a:latin typeface="細明體" panose="02020509000000000000" pitchFamily="49" charset="-120"/>
                <a:ea typeface="細明體" panose="02020509000000000000" pitchFamily="49" charset="-120"/>
              </a:rPr>
              <a:t>number of signals driven by tie-hi:  6               [check_constant]</a:t>
            </a:r>
          </a:p>
          <a:p>
            <a:pPr algn="l"/>
            <a:r>
              <a:rPr lang="en-US" altLang="zh-TW" sz="1200">
                <a:latin typeface="細明體" panose="02020509000000000000" pitchFamily="49" charset="-120"/>
                <a:ea typeface="細明體" panose="02020509000000000000" pitchFamily="49" charset="-120"/>
              </a:rPr>
              <a:t>number of signals driven by tie-lo:  13              [check_constant]</a:t>
            </a:r>
          </a:p>
          <a:p>
            <a:pPr algn="l"/>
            <a:r>
              <a:rPr lang="en-US" altLang="zh-TW" sz="1200">
                <a:latin typeface="細明體" panose="02020509000000000000" pitchFamily="49" charset="-120"/>
                <a:ea typeface="細明體" panose="02020509000000000000" pitchFamily="49" charset="-120"/>
              </a:rPr>
              <a:t>number of signals tied to 1'b1:      59              [check_constant]</a:t>
            </a:r>
          </a:p>
          <a:p>
            <a:pPr algn="l"/>
            <a:r>
              <a:rPr lang="en-US" altLang="zh-TW" sz="1200">
                <a:latin typeface="細明體" panose="02020509000000000000" pitchFamily="49" charset="-120"/>
                <a:ea typeface="細明體" panose="02020509000000000000" pitchFamily="49" charset="-120"/>
              </a:rPr>
              <a:t>number of signals tied to 1'b0:      134             [check_constant]</a:t>
            </a:r>
          </a:p>
          <a:p>
            <a:pPr algn="l"/>
            <a:r>
              <a:rPr lang="en-US" altLang="zh-TW" sz="1200">
                <a:latin typeface="細明體" panose="02020509000000000000" pitchFamily="49" charset="-120"/>
                <a:ea typeface="細明體" panose="02020509000000000000" pitchFamily="49" charset="-120"/>
              </a:rPr>
              <a:t>number of combinational feedbacks:   4               [check_timing_arcs]</a:t>
            </a:r>
          </a:p>
          <a:p>
            <a:pPr algn="l"/>
            <a:r>
              <a:rPr lang="en-US" altLang="zh-TW" sz="1200">
                <a:latin typeface="細明體" panose="02020509000000000000" pitchFamily="49" charset="-120"/>
                <a:ea typeface="細明體" panose="02020509000000000000" pitchFamily="49" charset="-120"/>
              </a:rPr>
              <a:t>number of high fanout exclude CKT:   15 (&gt;=5)        [check_high_fanout_net]</a:t>
            </a:r>
          </a:p>
          <a:p>
            <a:pPr algn="l"/>
            <a:r>
              <a:rPr lang="en-US" altLang="zh-TW" sz="1200">
                <a:latin typeface="細明體" panose="02020509000000000000" pitchFamily="49" charset="-120"/>
                <a:ea typeface="細明體" panose="02020509000000000000" pitchFamily="49" charset="-120"/>
              </a:rPr>
              <a:t>number of high fanout on CKT:        5 (&gt;=5)         [check_high_fanout_net]</a:t>
            </a:r>
          </a:p>
          <a:p>
            <a:pPr algn="l"/>
            <a:r>
              <a:rPr lang="en-US" altLang="zh-TW" sz="1200">
                <a:latin typeface="細明體" panose="02020509000000000000" pitchFamily="49" charset="-120"/>
                <a:ea typeface="細明體" panose="02020509000000000000" pitchFamily="49" charset="-120"/>
              </a:rPr>
              <a:t>number of high logic level:          23 (&gt;=10)       [check_timing_arcs]</a:t>
            </a:r>
          </a:p>
          <a:p>
            <a:pPr algn="l"/>
            <a:r>
              <a:rPr lang="en-US" altLang="zh-TW" sz="1200">
                <a:latin typeface="細明體" panose="02020509000000000000" pitchFamily="49" charset="-120"/>
                <a:ea typeface="細明體" panose="02020509000000000000" pitchFamily="49" charset="-120"/>
              </a:rPr>
              <a:t>number of possible generated clocks: 15              [check_timing_arcs]</a:t>
            </a:r>
          </a:p>
          <a:p>
            <a:pPr algn="l"/>
            <a:r>
              <a:rPr lang="en-US" altLang="zh-TW" sz="1200">
                <a:latin typeface="細明體" panose="02020509000000000000" pitchFamily="49" charset="-120"/>
                <a:ea typeface="細明體" panose="02020509000000000000" pitchFamily="49" charset="-120"/>
              </a:rPr>
              <a:t>number of clock tree cells:          177             [check_clock_domain]</a:t>
            </a:r>
          </a:p>
          <a:p>
            <a:pPr algn="l"/>
            <a:r>
              <a:rPr lang="en-US" altLang="zh-TW" sz="1200">
                <a:latin typeface="細明體" panose="02020509000000000000" pitchFamily="49" charset="-120"/>
                <a:ea typeface="細明體" panose="02020509000000000000" pitchFamily="49" charset="-120"/>
              </a:rPr>
              <a:t>number of spare cells:               5               [check_spare_cell]</a:t>
            </a:r>
          </a:p>
          <a:p>
            <a:pPr algn="l"/>
            <a:r>
              <a:rPr lang="en-US" altLang="zh-TW" sz="1200">
                <a:latin typeface="細明體" panose="02020509000000000000" pitchFamily="49" charset="-120"/>
                <a:ea typeface="細明體" panose="02020509000000000000" pitchFamily="49" charset="-120"/>
              </a:rPr>
              <a:t>number of tri-state buses:           4               [check_cell_connection]</a:t>
            </a:r>
          </a:p>
          <a:p>
            <a:pPr algn="l"/>
            <a:r>
              <a:rPr lang="en-US" altLang="zh-TW" sz="1200">
                <a:latin typeface="細明體" panose="02020509000000000000" pitchFamily="49" charset="-120"/>
                <a:ea typeface="細明體" panose="02020509000000000000" pitchFamily="49" charset="-120"/>
              </a:rPr>
              <a:t>number of incomplete clock gating:   2               [check_memory]</a:t>
            </a:r>
          </a:p>
        </p:txBody>
      </p:sp>
      <p:grpSp>
        <p:nvGrpSpPr>
          <p:cNvPr id="957444" name="Group 4">
            <a:extLst>
              <a:ext uri="{FF2B5EF4-FFF2-40B4-BE49-F238E27FC236}">
                <a16:creationId xmlns:a16="http://schemas.microsoft.com/office/drawing/2014/main" id="{8FF81762-F339-C4B7-DFCB-06DD65B60769}"/>
              </a:ext>
            </a:extLst>
          </p:cNvPr>
          <p:cNvGrpSpPr>
            <a:grpSpLocks/>
          </p:cNvGrpSpPr>
          <p:nvPr/>
        </p:nvGrpSpPr>
        <p:grpSpPr bwMode="auto">
          <a:xfrm>
            <a:off x="5168900" y="1195388"/>
            <a:ext cx="4464050" cy="4787900"/>
            <a:chOff x="3256" y="753"/>
            <a:chExt cx="2812" cy="3016"/>
          </a:xfrm>
        </p:grpSpPr>
        <p:sp>
          <p:nvSpPr>
            <p:cNvPr id="957445" name="Rectangle 5">
              <a:extLst>
                <a:ext uri="{FF2B5EF4-FFF2-40B4-BE49-F238E27FC236}">
                  <a16:creationId xmlns:a16="http://schemas.microsoft.com/office/drawing/2014/main" id="{97FDAF65-45EF-ADEA-1D8A-0D287A5CC979}"/>
                </a:ext>
              </a:extLst>
            </p:cNvPr>
            <p:cNvSpPr>
              <a:spLocks noChangeArrowheads="1"/>
            </p:cNvSpPr>
            <p:nvPr/>
          </p:nvSpPr>
          <p:spPr bwMode="auto">
            <a:xfrm>
              <a:off x="3256" y="753"/>
              <a:ext cx="1814" cy="2904"/>
            </a:xfrm>
            <a:prstGeom prst="rect">
              <a:avLst/>
            </a:prstGeom>
            <a:noFill/>
            <a:ln w="9525">
              <a:solidFill>
                <a:schemeClr val="accent2"/>
              </a:solidFill>
              <a:prstDash val="dash"/>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57446" name="AutoShape 6">
              <a:extLst>
                <a:ext uri="{FF2B5EF4-FFF2-40B4-BE49-F238E27FC236}">
                  <a16:creationId xmlns:a16="http://schemas.microsoft.com/office/drawing/2014/main" id="{54B24415-6405-6F92-5395-5F700D852AD9}"/>
                </a:ext>
              </a:extLst>
            </p:cNvPr>
            <p:cNvSpPr>
              <a:spLocks noChangeArrowheads="1"/>
            </p:cNvSpPr>
            <p:nvPr/>
          </p:nvSpPr>
          <p:spPr bwMode="auto">
            <a:xfrm>
              <a:off x="4526" y="3385"/>
              <a:ext cx="1542" cy="384"/>
            </a:xfrm>
            <a:prstGeom prst="wedgeRoundRectCallout">
              <a:avLst>
                <a:gd name="adj1" fmla="val -48380"/>
                <a:gd name="adj2" fmla="val -73440"/>
                <a:gd name="adj3" fmla="val 16667"/>
              </a:avLst>
            </a:prstGeom>
            <a:solidFill>
              <a:schemeClr val="bg1"/>
            </a:solidFill>
            <a:ln w="9525">
              <a:solidFill>
                <a:schemeClr val="accent2"/>
              </a:solidFill>
              <a:miter lim="800000"/>
              <a:headEnd/>
              <a:tailEnd/>
            </a:ln>
            <a:effectLst>
              <a:outerShdw dist="107763" dir="2700000" algn="ctr" rotWithShape="0">
                <a:schemeClr val="bg2">
                  <a:alpha val="50000"/>
                </a:schemeClr>
              </a:outerShdw>
            </a:effectLst>
          </p:spPr>
          <p:txBody>
            <a:bodyPr anchor="ctr"/>
            <a:lstStyle/>
            <a:p>
              <a:r>
                <a:rPr lang="en-US" altLang="zh-TW" sz="1600"/>
                <a:t>You may lookup to those sections for more detail</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57444"/>
                                        </p:tgtEl>
                                        <p:attrNameLst>
                                          <p:attrName>style.visibility</p:attrName>
                                        </p:attrNameLst>
                                      </p:cBhvr>
                                      <p:to>
                                        <p:strVal val="visible"/>
                                      </p:to>
                                    </p:set>
                                    <p:animEffect transition="in" filter="dissolve">
                                      <p:cBhvr>
                                        <p:cTn id="7" dur="500"/>
                                        <p:tgtEl>
                                          <p:spTgt spid="957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BE7E23E7-9C0C-D1E5-737B-56876E010DBA}"/>
              </a:ext>
            </a:extLst>
          </p:cNvPr>
          <p:cNvSpPr>
            <a:spLocks noGrp="1"/>
          </p:cNvSpPr>
          <p:nvPr>
            <p:ph type="sldNum" sz="quarter" idx="10"/>
          </p:nvPr>
        </p:nvSpPr>
        <p:spPr/>
        <p:txBody>
          <a:bodyPr/>
          <a:lstStyle/>
          <a:p>
            <a:fld id="{42814481-1536-1841-835C-02A91ED36B87}" type="slidenum">
              <a:rPr lang="en-US" altLang="zh-TW"/>
              <a:pPr/>
              <a:t>33</a:t>
            </a:fld>
            <a:endParaRPr lang="en-US" altLang="zh-TW"/>
          </a:p>
        </p:txBody>
      </p:sp>
      <p:sp>
        <p:nvSpPr>
          <p:cNvPr id="958466" name="Rectangle 2">
            <a:extLst>
              <a:ext uri="{FF2B5EF4-FFF2-40B4-BE49-F238E27FC236}">
                <a16:creationId xmlns:a16="http://schemas.microsoft.com/office/drawing/2014/main" id="{71B091E2-4A0E-47F3-B5D0-3C0F7C22DAEB}"/>
              </a:ext>
            </a:extLst>
          </p:cNvPr>
          <p:cNvSpPr>
            <a:spLocks noGrp="1" noChangeArrowheads="1"/>
          </p:cNvSpPr>
          <p:nvPr>
            <p:ph type="title"/>
          </p:nvPr>
        </p:nvSpPr>
        <p:spPr/>
        <p:txBody>
          <a:bodyPr/>
          <a:lstStyle/>
          <a:p>
            <a:r>
              <a:rPr lang="en-US" altLang="zh-TW"/>
              <a:t>Design Summary (3/3)</a:t>
            </a:r>
          </a:p>
        </p:txBody>
      </p:sp>
      <p:sp>
        <p:nvSpPr>
          <p:cNvPr id="958467" name="Text Box 3">
            <a:extLst>
              <a:ext uri="{FF2B5EF4-FFF2-40B4-BE49-F238E27FC236}">
                <a16:creationId xmlns:a16="http://schemas.microsoft.com/office/drawing/2014/main" id="{3F8BA11F-7E93-59BA-E9FE-0723D62FF0B2}"/>
              </a:ext>
            </a:extLst>
          </p:cNvPr>
          <p:cNvSpPr txBox="1">
            <a:spLocks noChangeArrowheads="1"/>
          </p:cNvSpPr>
          <p:nvPr/>
        </p:nvSpPr>
        <p:spPr bwMode="auto">
          <a:xfrm>
            <a:off x="1136650" y="1195388"/>
            <a:ext cx="7558088" cy="4681537"/>
          </a:xfrm>
          <a:prstGeom prst="rect">
            <a:avLst/>
          </a:prstGeom>
          <a:solidFill>
            <a:srgbClr val="FFFF99"/>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rgbClr val="FF3300"/>
                </a:solidFill>
                <a:miter lim="800000"/>
                <a:headEnd/>
                <a:tailEnd/>
              </a14:hiddenLine>
            </a:ext>
          </a:extLst>
        </p:spPr>
        <p:txBody>
          <a:bodyPr wrap="none"/>
          <a:lstStyle/>
          <a:p>
            <a:pPr algn="l"/>
            <a:r>
              <a:rPr lang="en-US" altLang="zh-TW" sz="1200">
                <a:latin typeface="細明體" panose="02020509000000000000" pitchFamily="49" charset="-120"/>
                <a:ea typeface="細明體" panose="02020509000000000000" pitchFamily="49" charset="-120"/>
              </a:rPr>
              <a:t>error floating input pins:           210             [check_cell_connection]</a:t>
            </a:r>
          </a:p>
          <a:p>
            <a:pPr algn="l"/>
            <a:r>
              <a:rPr lang="en-US" altLang="zh-TW" sz="1200">
                <a:latin typeface="細明體" panose="02020509000000000000" pitchFamily="49" charset="-120"/>
                <a:ea typeface="細明體" panose="02020509000000000000" pitchFamily="49" charset="-120"/>
              </a:rPr>
              <a:t>error floating inout pins:           4               [check_cell_connection]</a:t>
            </a:r>
          </a:p>
          <a:p>
            <a:pPr algn="l"/>
            <a:r>
              <a:rPr lang="en-US" altLang="zh-TW" sz="1200">
                <a:latin typeface="細明體" panose="02020509000000000000" pitchFamily="49" charset="-120"/>
                <a:ea typeface="細明體" panose="02020509000000000000" pitchFamily="49" charset="-120"/>
              </a:rPr>
              <a:t>error output tie to constant:        11              [check_cell_connection]</a:t>
            </a:r>
          </a:p>
          <a:p>
            <a:pPr algn="l"/>
            <a:r>
              <a:rPr lang="en-US" altLang="zh-TW" sz="1200">
                <a:latin typeface="細明體" panose="02020509000000000000" pitchFamily="49" charset="-120"/>
                <a:ea typeface="細明體" panose="02020509000000000000" pitchFamily="49" charset="-120"/>
              </a:rPr>
              <a:t>error unmapped logics:               4               [check_sub_design]</a:t>
            </a:r>
          </a:p>
          <a:p>
            <a:pPr algn="l"/>
            <a:r>
              <a:rPr lang="en-US" altLang="zh-TW" sz="1200">
                <a:latin typeface="細明體" panose="02020509000000000000" pitchFamily="49" charset="-120"/>
                <a:ea typeface="細明體" panose="02020509000000000000" pitchFamily="49" charset="-120"/>
              </a:rPr>
              <a:t>error inference in assign statement: 0               [reference]</a:t>
            </a:r>
          </a:p>
          <a:p>
            <a:pPr algn="l"/>
            <a:r>
              <a:rPr lang="en-US" altLang="zh-TW" sz="1200">
                <a:latin typeface="細明體" panose="02020509000000000000" pitchFamily="49" charset="-120"/>
                <a:ea typeface="細明體" panose="02020509000000000000" pitchFamily="49" charset="-120"/>
              </a:rPr>
              <a:t>error non tri-state buses:           16              [check_cell_connection]</a:t>
            </a:r>
          </a:p>
          <a:p>
            <a:pPr algn="l"/>
            <a:r>
              <a:rPr lang="en-US" altLang="zh-TW" sz="1200">
                <a:latin typeface="細明體" panose="02020509000000000000" pitchFamily="49" charset="-120"/>
                <a:ea typeface="細明體" panose="02020509000000000000" pitchFamily="49" charset="-120"/>
              </a:rPr>
              <a:t>error tri-state bus:                 1               [check_cell_connection]</a:t>
            </a:r>
          </a:p>
          <a:p>
            <a:pPr algn="l"/>
            <a:r>
              <a:rPr lang="en-US" altLang="zh-TW" sz="1200">
                <a:latin typeface="細明體" panose="02020509000000000000" pitchFamily="49" charset="-120"/>
                <a:ea typeface="細明體" panose="02020509000000000000" pitchFamily="49" charset="-120"/>
              </a:rPr>
              <a:t>error port connection:               14              [port,check_port_connection]</a:t>
            </a:r>
          </a:p>
          <a:p>
            <a:pPr algn="l"/>
            <a:r>
              <a:rPr lang="en-US" altLang="zh-TW" sz="1200">
                <a:latin typeface="細明體" panose="02020509000000000000" pitchFamily="49" charset="-120"/>
                <a:ea typeface="細明體" panose="02020509000000000000" pitchFamily="49" charset="-120"/>
              </a:rPr>
              <a:t>error pad connection:                12              [check_pad_cell]</a:t>
            </a:r>
          </a:p>
          <a:p>
            <a:pPr algn="l"/>
            <a:r>
              <a:rPr lang="en-US" altLang="zh-TW" sz="1200">
                <a:latin typeface="細明體" panose="02020509000000000000" pitchFamily="49" charset="-120"/>
                <a:ea typeface="細明體" panose="02020509000000000000" pitchFamily="49" charset="-120"/>
              </a:rPr>
              <a:t>error spare cell:                    5               [check_spare_cell]</a:t>
            </a:r>
          </a:p>
          <a:p>
            <a:pPr algn="l"/>
            <a:r>
              <a:rPr lang="en-US" altLang="zh-TW" sz="1200">
                <a:latin typeface="細明體" panose="02020509000000000000" pitchFamily="49" charset="-120"/>
                <a:ea typeface="細明體" panose="02020509000000000000" pitchFamily="49" charset="-120"/>
              </a:rPr>
              <a:t>error non-driven clock pins:         45              [check_clock_domain]</a:t>
            </a:r>
          </a:p>
          <a:p>
            <a:pPr algn="l"/>
            <a:r>
              <a:rPr lang="en-US" altLang="zh-TW" sz="1200">
                <a:latin typeface="細明體" panose="02020509000000000000" pitchFamily="49" charset="-120"/>
                <a:ea typeface="細明體" panose="02020509000000000000" pitchFamily="49" charset="-120"/>
              </a:rPr>
              <a:t>error digital/analog connection:     1               [check_analog_path]</a:t>
            </a:r>
          </a:p>
          <a:p>
            <a:pPr algn="l"/>
            <a:r>
              <a:rPr lang="en-US" altLang="zh-TW" sz="1200">
                <a:latin typeface="細明體" panose="02020509000000000000" pitchFamily="49" charset="-120"/>
                <a:ea typeface="細明體" panose="02020509000000000000" pitchFamily="49" charset="-120"/>
              </a:rPr>
              <a:t>ratio of reached_cells/leaf_cells:   83.46%          [check_timing_arcs,check_cell_connection]</a:t>
            </a:r>
          </a:p>
          <a:p>
            <a:pPr algn="l"/>
            <a:r>
              <a:rPr lang="en-US" altLang="zh-TW" sz="1200">
                <a:latin typeface="細明體" panose="02020509000000000000" pitchFamily="49" charset="-120"/>
                <a:ea typeface="細明體" panose="02020509000000000000" pitchFamily="49" charset="-120"/>
              </a:rPr>
              <a:t>ratio of internal_nets/leaf_cells:   0.80            [fanout_distribution,check_cell_connection]</a:t>
            </a:r>
          </a:p>
          <a:p>
            <a:pPr algn="l"/>
            <a:r>
              <a:rPr lang="en-US" altLang="zh-TW" sz="1200">
                <a:latin typeface="細明體" panose="02020509000000000000" pitchFamily="49" charset="-120"/>
                <a:ea typeface="細明體" panose="02020509000000000000" pitchFamily="49" charset="-120"/>
              </a:rPr>
              <a:t>ratio of connections/internal_nets:  3.41            [fanout_distribution]</a:t>
            </a:r>
          </a:p>
          <a:p>
            <a:pPr algn="l"/>
            <a:r>
              <a:rPr lang="en-US" altLang="zh-TW" sz="1200">
                <a:latin typeface="細明體" panose="02020509000000000000" pitchFamily="49" charset="-120"/>
                <a:ea typeface="細明體" panose="02020509000000000000" pitchFamily="49" charset="-120"/>
              </a:rPr>
              <a:t>leakage power consumption:     480.44(nW)/437.46(nW) [leakage_power]</a:t>
            </a:r>
          </a:p>
        </p:txBody>
      </p:sp>
      <p:sp>
        <p:nvSpPr>
          <p:cNvPr id="958468" name="AutoShape 4">
            <a:extLst>
              <a:ext uri="{FF2B5EF4-FFF2-40B4-BE49-F238E27FC236}">
                <a16:creationId xmlns:a16="http://schemas.microsoft.com/office/drawing/2014/main" id="{15B281FA-9482-B1DA-6D5E-746EC0C65578}"/>
              </a:ext>
            </a:extLst>
          </p:cNvPr>
          <p:cNvSpPr>
            <a:spLocks noChangeArrowheads="1"/>
          </p:cNvSpPr>
          <p:nvPr/>
        </p:nvSpPr>
        <p:spPr bwMode="auto">
          <a:xfrm>
            <a:off x="2360613" y="4508500"/>
            <a:ext cx="1223962" cy="360363"/>
          </a:xfrm>
          <a:prstGeom prst="wedgeRoundRectCallout">
            <a:avLst>
              <a:gd name="adj1" fmla="val 65046"/>
              <a:gd name="adj2" fmla="val -149560"/>
              <a:gd name="adj3" fmla="val 16667"/>
            </a:avLst>
          </a:prstGeom>
          <a:solidFill>
            <a:schemeClr val="bg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TW" sz="1600">
                <a:solidFill>
                  <a:schemeClr val="accent2"/>
                </a:solidFill>
              </a:rPr>
              <a:t>worst case</a:t>
            </a:r>
          </a:p>
        </p:txBody>
      </p:sp>
      <p:sp>
        <p:nvSpPr>
          <p:cNvPr id="958469" name="AutoShape 5">
            <a:extLst>
              <a:ext uri="{FF2B5EF4-FFF2-40B4-BE49-F238E27FC236}">
                <a16:creationId xmlns:a16="http://schemas.microsoft.com/office/drawing/2014/main" id="{1D8183F5-3E76-8FC8-B1F1-D392FB43CD87}"/>
              </a:ext>
            </a:extLst>
          </p:cNvPr>
          <p:cNvSpPr>
            <a:spLocks noChangeArrowheads="1"/>
          </p:cNvSpPr>
          <p:nvPr/>
        </p:nvSpPr>
        <p:spPr bwMode="auto">
          <a:xfrm>
            <a:off x="3729038" y="4508500"/>
            <a:ext cx="2808287" cy="1225550"/>
          </a:xfrm>
          <a:prstGeom prst="wedgeRoundRectCallout">
            <a:avLst>
              <a:gd name="adj1" fmla="val -11843"/>
              <a:gd name="adj2" fmla="val -77593"/>
              <a:gd name="adj3" fmla="val 16667"/>
            </a:avLst>
          </a:prstGeom>
          <a:solidFill>
            <a:schemeClr val="bg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TW" sz="1600">
                <a:solidFill>
                  <a:schemeClr val="accent2"/>
                </a:solidFill>
              </a:rPr>
              <a:t>consider native constant propagation that will affect those timing/power libraries with conditional leakage table (e.g. TSMC .13um)</a:t>
            </a:r>
          </a:p>
        </p:txBody>
      </p:sp>
      <p:grpSp>
        <p:nvGrpSpPr>
          <p:cNvPr id="958470" name="Group 6">
            <a:extLst>
              <a:ext uri="{FF2B5EF4-FFF2-40B4-BE49-F238E27FC236}">
                <a16:creationId xmlns:a16="http://schemas.microsoft.com/office/drawing/2014/main" id="{7E8E4176-A2D9-0174-7E8C-667711E45E3C}"/>
              </a:ext>
            </a:extLst>
          </p:cNvPr>
          <p:cNvGrpSpPr>
            <a:grpSpLocks/>
          </p:cNvGrpSpPr>
          <p:nvPr/>
        </p:nvGrpSpPr>
        <p:grpSpPr bwMode="auto">
          <a:xfrm>
            <a:off x="1136650" y="3429000"/>
            <a:ext cx="8769350" cy="1512888"/>
            <a:chOff x="716" y="2160"/>
            <a:chExt cx="5524" cy="953"/>
          </a:xfrm>
        </p:grpSpPr>
        <p:sp>
          <p:nvSpPr>
            <p:cNvPr id="958471" name="Rectangle 7">
              <a:extLst>
                <a:ext uri="{FF2B5EF4-FFF2-40B4-BE49-F238E27FC236}">
                  <a16:creationId xmlns:a16="http://schemas.microsoft.com/office/drawing/2014/main" id="{65FEDBE3-AC73-AF9F-B4C7-AC8942AA65E8}"/>
                </a:ext>
              </a:extLst>
            </p:cNvPr>
            <p:cNvSpPr>
              <a:spLocks noChangeArrowheads="1"/>
            </p:cNvSpPr>
            <p:nvPr/>
          </p:nvSpPr>
          <p:spPr bwMode="auto">
            <a:xfrm>
              <a:off x="716" y="2160"/>
              <a:ext cx="4808" cy="363"/>
            </a:xfrm>
            <a:prstGeom prst="rect">
              <a:avLst/>
            </a:prstGeom>
            <a:noFill/>
            <a:ln w="9525">
              <a:solidFill>
                <a:schemeClr val="accent2"/>
              </a:solidFill>
              <a:prstDash val="dash"/>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58472" name="AutoShape 8">
              <a:extLst>
                <a:ext uri="{FF2B5EF4-FFF2-40B4-BE49-F238E27FC236}">
                  <a16:creationId xmlns:a16="http://schemas.microsoft.com/office/drawing/2014/main" id="{98689940-0C40-ECC8-37AA-CA396164E76A}"/>
                </a:ext>
              </a:extLst>
            </p:cNvPr>
            <p:cNvSpPr>
              <a:spLocks noChangeArrowheads="1"/>
            </p:cNvSpPr>
            <p:nvPr/>
          </p:nvSpPr>
          <p:spPr bwMode="auto">
            <a:xfrm>
              <a:off x="4708" y="2704"/>
              <a:ext cx="1532" cy="409"/>
            </a:xfrm>
            <a:prstGeom prst="wedgeRoundRectCallout">
              <a:avLst>
                <a:gd name="adj1" fmla="val -50588"/>
                <a:gd name="adj2" fmla="val -103301"/>
                <a:gd name="adj3" fmla="val 16667"/>
              </a:avLst>
            </a:prstGeom>
            <a:solidFill>
              <a:schemeClr val="bg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TW" sz="1600"/>
                <a:t>imply the testability and design complexity</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58470"/>
                                        </p:tgtEl>
                                        <p:attrNameLst>
                                          <p:attrName>style.visibility</p:attrName>
                                        </p:attrNameLst>
                                      </p:cBhvr>
                                      <p:to>
                                        <p:strVal val="visible"/>
                                      </p:to>
                                    </p:set>
                                    <p:animEffect transition="in" filter="dissolve">
                                      <p:cBhvr>
                                        <p:cTn id="7" dur="500"/>
                                        <p:tgtEl>
                                          <p:spTgt spid="9584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58468"/>
                                        </p:tgtEl>
                                        <p:attrNameLst>
                                          <p:attrName>style.visibility</p:attrName>
                                        </p:attrNameLst>
                                      </p:cBhvr>
                                      <p:to>
                                        <p:strVal val="visible"/>
                                      </p:to>
                                    </p:set>
                                    <p:animEffect transition="in" filter="dissolve">
                                      <p:cBhvr>
                                        <p:cTn id="12" dur="500"/>
                                        <p:tgtEl>
                                          <p:spTgt spid="958468"/>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958469"/>
                                        </p:tgtEl>
                                        <p:attrNameLst>
                                          <p:attrName>style.visibility</p:attrName>
                                        </p:attrNameLst>
                                      </p:cBhvr>
                                      <p:to>
                                        <p:strVal val="visible"/>
                                      </p:to>
                                    </p:set>
                                    <p:animEffect transition="in" filter="dissolve">
                                      <p:cBhvr>
                                        <p:cTn id="15" dur="500"/>
                                        <p:tgtEl>
                                          <p:spTgt spid="958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468" grpId="0" animBg="1"/>
      <p:bldP spid="95846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517" name="Rectangle 5">
            <a:extLst>
              <a:ext uri="{FF2B5EF4-FFF2-40B4-BE49-F238E27FC236}">
                <a16:creationId xmlns:a16="http://schemas.microsoft.com/office/drawing/2014/main" id="{1336798F-6334-ED1D-A8C0-A86FD347763B}"/>
              </a:ext>
            </a:extLst>
          </p:cNvPr>
          <p:cNvSpPr>
            <a:spLocks noGrp="1" noChangeArrowheads="1"/>
          </p:cNvSpPr>
          <p:nvPr>
            <p:ph type="ctrTitle"/>
          </p:nvPr>
        </p:nvSpPr>
        <p:spPr>
          <a:xfrm>
            <a:off x="1281113" y="2492375"/>
            <a:ext cx="7467600" cy="1470025"/>
          </a:xfrm>
          <a:noFill/>
          <a:ln/>
          <a:extLst>
            <a:ext uri="{AF507438-7753-43E0-B8FC-AC1667EBCBE1}">
              <a14:hiddenEffects xmlns:a14="http://schemas.microsoft.com/office/drawing/2010/main">
                <a:effectLst>
                  <a:outerShdw dist="35921" dir="2700000" algn="ctr" rotWithShape="0">
                    <a:srgbClr val="5CB852">
                      <a:alpha val="50000"/>
                    </a:srgbClr>
                  </a:outerShdw>
                </a:effectLst>
              </a14:hiddenEffects>
            </a:ext>
          </a:extLst>
        </p:spPr>
        <p:txBody>
          <a:bodyPr anchor="ctr"/>
          <a:lstStyle/>
          <a:p>
            <a:r>
              <a:rPr lang="en-US" altLang="zh-TW" sz="3600"/>
              <a:t>UPAD_ASSIGN</a:t>
            </a:r>
          </a:p>
        </p:txBody>
      </p:sp>
      <p:pic>
        <p:nvPicPr>
          <p:cNvPr id="960518" name="Picture 6">
            <a:extLst>
              <a:ext uri="{FF2B5EF4-FFF2-40B4-BE49-F238E27FC236}">
                <a16:creationId xmlns:a16="http://schemas.microsoft.com/office/drawing/2014/main" id="{AE21DF7F-2D19-010F-B362-BC33C09BCB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7188" y="188913"/>
            <a:ext cx="1519237"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0519" name="Picture 7">
            <a:extLst>
              <a:ext uri="{FF2B5EF4-FFF2-40B4-BE49-F238E27FC236}">
                <a16:creationId xmlns:a16="http://schemas.microsoft.com/office/drawing/2014/main" id="{D58E468A-5D13-7E4A-B4E4-1323696088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038" y="381000"/>
            <a:ext cx="2163762"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64E22C1C-A9FB-51BB-69CB-C6150854A226}"/>
              </a:ext>
            </a:extLst>
          </p:cNvPr>
          <p:cNvSpPr>
            <a:spLocks noGrp="1"/>
          </p:cNvSpPr>
          <p:nvPr>
            <p:ph type="sldNum" sz="quarter" idx="10"/>
          </p:nvPr>
        </p:nvSpPr>
        <p:spPr/>
        <p:txBody>
          <a:bodyPr/>
          <a:lstStyle/>
          <a:p>
            <a:fld id="{A9CFE304-D366-2C44-8451-AC145517B7E8}" type="slidenum">
              <a:rPr lang="en-US" altLang="zh-TW"/>
              <a:pPr/>
              <a:t>35</a:t>
            </a:fld>
            <a:endParaRPr lang="en-US" altLang="zh-TW"/>
          </a:p>
        </p:txBody>
      </p:sp>
      <p:sp>
        <p:nvSpPr>
          <p:cNvPr id="963586" name="Rectangle 2">
            <a:extLst>
              <a:ext uri="{FF2B5EF4-FFF2-40B4-BE49-F238E27FC236}">
                <a16:creationId xmlns:a16="http://schemas.microsoft.com/office/drawing/2014/main" id="{2AA3A3B6-9829-C395-8F57-0E4DEA9EBC28}"/>
              </a:ext>
            </a:extLst>
          </p:cNvPr>
          <p:cNvSpPr>
            <a:spLocks noGrp="1" noChangeArrowheads="1"/>
          </p:cNvSpPr>
          <p:nvPr>
            <p:ph type="body" idx="1"/>
          </p:nvPr>
        </p:nvSpPr>
        <p:spPr>
          <a:xfrm>
            <a:off x="560388" y="1196975"/>
            <a:ext cx="8221662" cy="4648200"/>
          </a:xfrm>
        </p:spPr>
        <p:txBody>
          <a:bodyPr/>
          <a:lstStyle/>
          <a:p>
            <a:r>
              <a:rPr lang="en-US" altLang="zh-TW"/>
              <a:t>Check the format of pin sequence file </a:t>
            </a:r>
          </a:p>
          <a:p>
            <a:r>
              <a:rPr lang="en-US" altLang="zh-TW"/>
              <a:t>Check the consistency of IO cells between pin sequence file and verilog netlist</a:t>
            </a:r>
          </a:p>
          <a:p>
            <a:r>
              <a:rPr lang="en-US" altLang="zh-TW"/>
              <a:t>Generate APR/PACKAGE diagram</a:t>
            </a:r>
          </a:p>
          <a:p>
            <a:r>
              <a:rPr lang="en-US" altLang="zh-TW"/>
              <a:t>Generate IO constraint file for APR tools</a:t>
            </a:r>
          </a:p>
          <a:p>
            <a:r>
              <a:rPr lang="en-US" altLang="zh-TW"/>
              <a:t>Generate Block constraint file for APR tools</a:t>
            </a:r>
          </a:p>
          <a:p>
            <a:pPr>
              <a:buFont typeface="Wingdings" pitchFamily="2" charset="2"/>
              <a:buNone/>
            </a:pPr>
            <a:endParaRPr lang="en-US" altLang="zh-TW"/>
          </a:p>
          <a:p>
            <a:endParaRPr lang="en-US" altLang="zh-TW"/>
          </a:p>
        </p:txBody>
      </p:sp>
      <p:sp>
        <p:nvSpPr>
          <p:cNvPr id="963587" name="Rectangle 3">
            <a:extLst>
              <a:ext uri="{FF2B5EF4-FFF2-40B4-BE49-F238E27FC236}">
                <a16:creationId xmlns:a16="http://schemas.microsoft.com/office/drawing/2014/main" id="{201529C7-1C45-8836-7100-2D69C5060A4D}"/>
              </a:ext>
            </a:extLst>
          </p:cNvPr>
          <p:cNvSpPr>
            <a:spLocks noGrp="1" noChangeArrowheads="1"/>
          </p:cNvSpPr>
          <p:nvPr>
            <p:ph type="title"/>
          </p:nvPr>
        </p:nvSpPr>
        <p:spPr/>
        <p:txBody>
          <a:bodyPr/>
          <a:lstStyle/>
          <a:p>
            <a:r>
              <a:rPr lang="en-US" altLang="zh-TW"/>
              <a:t>Overview</a:t>
            </a:r>
          </a:p>
        </p:txBody>
      </p:sp>
      <p:sp>
        <p:nvSpPr>
          <p:cNvPr id="963588" name="AutoShape 4">
            <a:extLst>
              <a:ext uri="{FF2B5EF4-FFF2-40B4-BE49-F238E27FC236}">
                <a16:creationId xmlns:a16="http://schemas.microsoft.com/office/drawing/2014/main" id="{91789D7C-CCC5-9318-D1A9-512544702BC3}"/>
              </a:ext>
            </a:extLst>
          </p:cNvPr>
          <p:cNvSpPr>
            <a:spLocks/>
          </p:cNvSpPr>
          <p:nvPr/>
        </p:nvSpPr>
        <p:spPr bwMode="auto">
          <a:xfrm>
            <a:off x="7400925" y="3068638"/>
            <a:ext cx="360363" cy="792162"/>
          </a:xfrm>
          <a:prstGeom prst="rightBrace">
            <a:avLst>
              <a:gd name="adj1" fmla="val 18319"/>
              <a:gd name="adj2" fmla="val 50000"/>
            </a:avLst>
          </a:prstGeom>
          <a:noFill/>
          <a:ln w="9525">
            <a:solidFill>
              <a:schemeClr val="tx1"/>
            </a:solidFill>
            <a:round/>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63590" name="Text Box 6">
            <a:extLst>
              <a:ext uri="{FF2B5EF4-FFF2-40B4-BE49-F238E27FC236}">
                <a16:creationId xmlns:a16="http://schemas.microsoft.com/office/drawing/2014/main" id="{EB4B0717-55C6-3F24-B515-9D2D97B2E73A}"/>
              </a:ext>
            </a:extLst>
          </p:cNvPr>
          <p:cNvSpPr txBox="1">
            <a:spLocks noChangeArrowheads="1"/>
          </p:cNvSpPr>
          <p:nvPr/>
        </p:nvSpPr>
        <p:spPr bwMode="auto">
          <a:xfrm>
            <a:off x="7400925" y="3933825"/>
            <a:ext cx="2132013" cy="336550"/>
          </a:xfrm>
          <a:prstGeom prst="rect">
            <a:avLst/>
          </a:prstGeom>
          <a:noFill/>
          <a:ln>
            <a:noFill/>
          </a:ln>
          <a:effectLst/>
          <a:extLst>
            <a:ext uri="{909E8E84-426E-40DD-AFC4-6F175D3DCCD1}">
              <a14:hiddenFill xmlns:a14="http://schemas.microsoft.com/office/drawing/2010/main">
                <a:gradFill rotWithShape="0">
                  <a:gsLst>
                    <a:gs pos="0">
                      <a:srgbClr val="4EA844"/>
                    </a:gs>
                    <a:gs pos="100000">
                      <a:srgbClr val="D2E69E"/>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1600" b="1">
                <a:solidFill>
                  <a:schemeClr val="accent2"/>
                </a:solidFill>
              </a:rPr>
              <a:t>For GUC Internal Use</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88BBB96F-B9B6-CCBB-D053-ADB4A16AA41C}"/>
              </a:ext>
            </a:extLst>
          </p:cNvPr>
          <p:cNvSpPr>
            <a:spLocks noGrp="1"/>
          </p:cNvSpPr>
          <p:nvPr>
            <p:ph type="sldNum" sz="quarter" idx="10"/>
          </p:nvPr>
        </p:nvSpPr>
        <p:spPr/>
        <p:txBody>
          <a:bodyPr/>
          <a:lstStyle/>
          <a:p>
            <a:fld id="{19BC3D66-FDD1-C247-93A9-31A8C2936AC0}" type="slidenum">
              <a:rPr lang="en-US" altLang="zh-TW"/>
              <a:pPr/>
              <a:t>36</a:t>
            </a:fld>
            <a:endParaRPr lang="en-US" altLang="zh-TW"/>
          </a:p>
        </p:txBody>
      </p:sp>
      <p:sp>
        <p:nvSpPr>
          <p:cNvPr id="964610" name="Rectangle 2">
            <a:extLst>
              <a:ext uri="{FF2B5EF4-FFF2-40B4-BE49-F238E27FC236}">
                <a16:creationId xmlns:a16="http://schemas.microsoft.com/office/drawing/2014/main" id="{9676D164-09CC-6CAD-21E5-EA4D8AFEB08A}"/>
              </a:ext>
            </a:extLst>
          </p:cNvPr>
          <p:cNvSpPr>
            <a:spLocks noGrp="1" noChangeArrowheads="1"/>
          </p:cNvSpPr>
          <p:nvPr>
            <p:ph type="title"/>
          </p:nvPr>
        </p:nvSpPr>
        <p:spPr/>
        <p:txBody>
          <a:bodyPr/>
          <a:lstStyle/>
          <a:p>
            <a:r>
              <a:rPr lang="en-US" altLang="zh-TW"/>
              <a:t>Flow Diagram</a:t>
            </a:r>
          </a:p>
        </p:txBody>
      </p:sp>
      <p:sp>
        <p:nvSpPr>
          <p:cNvPr id="964611" name="Rectangle 3">
            <a:extLst>
              <a:ext uri="{FF2B5EF4-FFF2-40B4-BE49-F238E27FC236}">
                <a16:creationId xmlns:a16="http://schemas.microsoft.com/office/drawing/2014/main" id="{951FBBED-11EA-3CDC-7E46-10242389FF9A}"/>
              </a:ext>
            </a:extLst>
          </p:cNvPr>
          <p:cNvSpPr>
            <a:spLocks noGrp="1" noChangeArrowheads="1"/>
          </p:cNvSpPr>
          <p:nvPr>
            <p:ph type="body" idx="1"/>
          </p:nvPr>
        </p:nvSpPr>
        <p:spPr/>
        <p:txBody>
          <a:bodyPr/>
          <a:lstStyle/>
          <a:p>
            <a:endParaRPr lang="en-US" altLang="zh-TW"/>
          </a:p>
          <a:p>
            <a:pPr>
              <a:buFont typeface="Wingdings" pitchFamily="2" charset="2"/>
              <a:buNone/>
            </a:pPr>
            <a:endParaRPr lang="en-US" altLang="zh-TW"/>
          </a:p>
        </p:txBody>
      </p:sp>
      <p:grpSp>
        <p:nvGrpSpPr>
          <p:cNvPr id="964612" name="Group 4">
            <a:extLst>
              <a:ext uri="{FF2B5EF4-FFF2-40B4-BE49-F238E27FC236}">
                <a16:creationId xmlns:a16="http://schemas.microsoft.com/office/drawing/2014/main" id="{92DDE376-49E4-A96E-57D2-18C595A1F14A}"/>
              </a:ext>
            </a:extLst>
          </p:cNvPr>
          <p:cNvGrpSpPr>
            <a:grpSpLocks/>
          </p:cNvGrpSpPr>
          <p:nvPr/>
        </p:nvGrpSpPr>
        <p:grpSpPr bwMode="auto">
          <a:xfrm>
            <a:off x="1423988" y="1196975"/>
            <a:ext cx="8153400" cy="4629150"/>
            <a:chOff x="720" y="842"/>
            <a:chExt cx="5040" cy="2822"/>
          </a:xfrm>
        </p:grpSpPr>
        <p:sp>
          <p:nvSpPr>
            <p:cNvPr id="964613" name="Text Box 5">
              <a:extLst>
                <a:ext uri="{FF2B5EF4-FFF2-40B4-BE49-F238E27FC236}">
                  <a16:creationId xmlns:a16="http://schemas.microsoft.com/office/drawing/2014/main" id="{10DF14B3-05E3-2971-6657-E0E69983F25D}"/>
                </a:ext>
              </a:extLst>
            </p:cNvPr>
            <p:cNvSpPr txBox="1">
              <a:spLocks noChangeArrowheads="1"/>
            </p:cNvSpPr>
            <p:nvPr/>
          </p:nvSpPr>
          <p:spPr bwMode="auto">
            <a:xfrm>
              <a:off x="3840" y="842"/>
              <a:ext cx="1920" cy="2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50000"/>
                </a:spcBef>
              </a:pPr>
              <a:endParaRPr lang="en-US" altLang="zh-TW" sz="1400" b="1"/>
            </a:p>
            <a:p>
              <a:pPr algn="l">
                <a:lnSpc>
                  <a:spcPct val="150000"/>
                </a:lnSpc>
                <a:spcBef>
                  <a:spcPct val="50000"/>
                </a:spcBef>
              </a:pPr>
              <a:r>
                <a:rPr lang="en-US" altLang="zh-TW" sz="1400" b="1"/>
                <a:t>1. APR Pad Diagram</a:t>
              </a:r>
            </a:p>
            <a:p>
              <a:pPr algn="l">
                <a:lnSpc>
                  <a:spcPct val="150000"/>
                </a:lnSpc>
                <a:spcBef>
                  <a:spcPct val="50000"/>
                </a:spcBef>
              </a:pPr>
              <a:r>
                <a:rPr lang="en-US" altLang="zh-TW" sz="1400" b="1"/>
                <a:t>2. Package Diagram</a:t>
              </a:r>
            </a:p>
            <a:p>
              <a:pPr algn="l">
                <a:lnSpc>
                  <a:spcPct val="150000"/>
                </a:lnSpc>
                <a:spcBef>
                  <a:spcPct val="50000"/>
                </a:spcBef>
              </a:pPr>
              <a:r>
                <a:rPr lang="en-US" altLang="zh-TW" sz="1400" b="1"/>
                <a:t>3. Stagger I/O power &amp; ground check</a:t>
              </a:r>
            </a:p>
            <a:p>
              <a:pPr algn="l">
                <a:spcBef>
                  <a:spcPct val="50000"/>
                </a:spcBef>
              </a:pPr>
              <a:r>
                <a:rPr lang="en-US" altLang="zh-TW" sz="1400" b="1"/>
                <a:t>    (for BGA package)</a:t>
              </a:r>
            </a:p>
            <a:p>
              <a:pPr algn="l">
                <a:spcBef>
                  <a:spcPct val="50000"/>
                </a:spcBef>
              </a:pPr>
              <a:r>
                <a:rPr lang="en-US" altLang="zh-TW" sz="1400" b="1"/>
                <a:t>4. Log file</a:t>
              </a:r>
              <a:endParaRPr lang="en-US" altLang="zh-TW" sz="1400" b="1">
                <a:solidFill>
                  <a:srgbClr val="6699FF"/>
                </a:solidFill>
              </a:endParaRPr>
            </a:p>
            <a:p>
              <a:pPr algn="l">
                <a:spcBef>
                  <a:spcPct val="50000"/>
                </a:spcBef>
              </a:pPr>
              <a:r>
                <a:rPr lang="en-US" altLang="zh-TW" sz="1400" b="1">
                  <a:solidFill>
                    <a:srgbClr val="6699FF"/>
                  </a:solidFill>
                </a:rPr>
                <a:t>5. Block I/O Constraint file</a:t>
              </a:r>
            </a:p>
            <a:p>
              <a:pPr algn="l">
                <a:lnSpc>
                  <a:spcPct val="150000"/>
                </a:lnSpc>
                <a:spcBef>
                  <a:spcPct val="50000"/>
                </a:spcBef>
              </a:pPr>
              <a:r>
                <a:rPr lang="en-US" altLang="zh-TW" sz="1400" b="1">
                  <a:solidFill>
                    <a:srgbClr val="6699FF"/>
                  </a:solidFill>
                </a:rPr>
                <a:t>6. Chip I/O Constraint file</a:t>
              </a:r>
            </a:p>
            <a:p>
              <a:pPr algn="l">
                <a:lnSpc>
                  <a:spcPct val="150000"/>
                </a:lnSpc>
                <a:spcBef>
                  <a:spcPct val="50000"/>
                </a:spcBef>
              </a:pPr>
              <a:endParaRPr lang="en-US" altLang="zh-TW" sz="1400" b="1">
                <a:solidFill>
                  <a:srgbClr val="6699FF"/>
                </a:solidFill>
              </a:endParaRPr>
            </a:p>
          </p:txBody>
        </p:sp>
        <p:sp>
          <p:nvSpPr>
            <p:cNvPr id="964614" name="Rectangle 6">
              <a:extLst>
                <a:ext uri="{FF2B5EF4-FFF2-40B4-BE49-F238E27FC236}">
                  <a16:creationId xmlns:a16="http://schemas.microsoft.com/office/drawing/2014/main" id="{CB0286A5-5DD5-0EC9-5AD0-6F1207421FA7}"/>
                </a:ext>
              </a:extLst>
            </p:cNvPr>
            <p:cNvSpPr>
              <a:spLocks noChangeArrowheads="1"/>
            </p:cNvSpPr>
            <p:nvPr/>
          </p:nvSpPr>
          <p:spPr bwMode="auto">
            <a:xfrm>
              <a:off x="2448" y="1104"/>
              <a:ext cx="768" cy="1680"/>
            </a:xfrm>
            <a:prstGeom prst="rect">
              <a:avLst/>
            </a:prstGeom>
            <a:gradFill rotWithShape="0">
              <a:gsLst>
                <a:gs pos="0">
                  <a:srgbClr val="765E00"/>
                </a:gs>
                <a:gs pos="50000">
                  <a:srgbClr val="FFFF00"/>
                </a:gs>
                <a:gs pos="100000">
                  <a:srgbClr val="765E00"/>
                </a:gs>
              </a:gsLst>
              <a:lin ang="5400000" scaled="1"/>
            </a:gradFill>
            <a:ln w="38100">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64615" name="Text Box 7">
              <a:extLst>
                <a:ext uri="{FF2B5EF4-FFF2-40B4-BE49-F238E27FC236}">
                  <a16:creationId xmlns:a16="http://schemas.microsoft.com/office/drawing/2014/main" id="{895256F8-A31F-2D79-35FB-6258B3D3C25B}"/>
                </a:ext>
              </a:extLst>
            </p:cNvPr>
            <p:cNvSpPr txBox="1">
              <a:spLocks noChangeArrowheads="1"/>
            </p:cNvSpPr>
            <p:nvPr/>
          </p:nvSpPr>
          <p:spPr bwMode="auto">
            <a:xfrm>
              <a:off x="1055" y="2083"/>
              <a:ext cx="339" cy="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pPr algn="l"/>
              <a:endParaRPr lang="zh-TW" altLang="zh-TW" sz="2400"/>
            </a:p>
          </p:txBody>
        </p:sp>
        <p:sp>
          <p:nvSpPr>
            <p:cNvPr id="964616" name="Text Box 8">
              <a:extLst>
                <a:ext uri="{FF2B5EF4-FFF2-40B4-BE49-F238E27FC236}">
                  <a16:creationId xmlns:a16="http://schemas.microsoft.com/office/drawing/2014/main" id="{376B3D46-D315-DDD9-5859-374A04E8664B}"/>
                </a:ext>
              </a:extLst>
            </p:cNvPr>
            <p:cNvSpPr txBox="1">
              <a:spLocks noChangeArrowheads="1"/>
            </p:cNvSpPr>
            <p:nvPr/>
          </p:nvSpPr>
          <p:spPr bwMode="auto">
            <a:xfrm>
              <a:off x="2448" y="1872"/>
              <a:ext cx="912"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1600" b="1" i="1"/>
                <a:t>Upad_Assign</a:t>
              </a:r>
            </a:p>
          </p:txBody>
        </p:sp>
        <p:sp>
          <p:nvSpPr>
            <p:cNvPr id="964617" name="AutoShape 9">
              <a:extLst>
                <a:ext uri="{FF2B5EF4-FFF2-40B4-BE49-F238E27FC236}">
                  <a16:creationId xmlns:a16="http://schemas.microsoft.com/office/drawing/2014/main" id="{6D0C9F6E-77CF-CB87-D9F5-DBD196AF342E}"/>
                </a:ext>
              </a:extLst>
            </p:cNvPr>
            <p:cNvSpPr>
              <a:spLocks noChangeArrowheads="1"/>
            </p:cNvSpPr>
            <p:nvPr/>
          </p:nvSpPr>
          <p:spPr bwMode="auto">
            <a:xfrm>
              <a:off x="1824" y="1200"/>
              <a:ext cx="615" cy="306"/>
            </a:xfrm>
            <a:prstGeom prst="rightArrow">
              <a:avLst>
                <a:gd name="adj1" fmla="val 50000"/>
                <a:gd name="adj2" fmla="val 50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64618" name="AutoShape 10">
              <a:extLst>
                <a:ext uri="{FF2B5EF4-FFF2-40B4-BE49-F238E27FC236}">
                  <a16:creationId xmlns:a16="http://schemas.microsoft.com/office/drawing/2014/main" id="{7011315C-5644-78EE-EF92-7FABB04EC1FB}"/>
                </a:ext>
              </a:extLst>
            </p:cNvPr>
            <p:cNvSpPr>
              <a:spLocks noChangeArrowheads="1"/>
            </p:cNvSpPr>
            <p:nvPr/>
          </p:nvSpPr>
          <p:spPr bwMode="auto">
            <a:xfrm>
              <a:off x="1824" y="1776"/>
              <a:ext cx="615" cy="306"/>
            </a:xfrm>
            <a:prstGeom prst="rightArrow">
              <a:avLst>
                <a:gd name="adj1" fmla="val 50000"/>
                <a:gd name="adj2" fmla="val 50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64619" name="AutoShape 11">
              <a:extLst>
                <a:ext uri="{FF2B5EF4-FFF2-40B4-BE49-F238E27FC236}">
                  <a16:creationId xmlns:a16="http://schemas.microsoft.com/office/drawing/2014/main" id="{7274218B-FAD1-D82B-13AB-A4F4831A0DF8}"/>
                </a:ext>
              </a:extLst>
            </p:cNvPr>
            <p:cNvSpPr>
              <a:spLocks noChangeArrowheads="1"/>
            </p:cNvSpPr>
            <p:nvPr/>
          </p:nvSpPr>
          <p:spPr bwMode="auto">
            <a:xfrm>
              <a:off x="1824" y="2352"/>
              <a:ext cx="615" cy="306"/>
            </a:xfrm>
            <a:prstGeom prst="rightArrow">
              <a:avLst>
                <a:gd name="adj1" fmla="val 50000"/>
                <a:gd name="adj2" fmla="val 50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64620" name="Rectangle 12">
              <a:extLst>
                <a:ext uri="{FF2B5EF4-FFF2-40B4-BE49-F238E27FC236}">
                  <a16:creationId xmlns:a16="http://schemas.microsoft.com/office/drawing/2014/main" id="{583BBF5C-E87E-0E3E-E4A5-F1AE5F54ECA0}"/>
                </a:ext>
              </a:extLst>
            </p:cNvPr>
            <p:cNvSpPr>
              <a:spLocks noChangeArrowheads="1"/>
            </p:cNvSpPr>
            <p:nvPr/>
          </p:nvSpPr>
          <p:spPr bwMode="auto">
            <a:xfrm>
              <a:off x="720" y="1152"/>
              <a:ext cx="1104" cy="480"/>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64621" name="Rectangle 13">
              <a:extLst>
                <a:ext uri="{FF2B5EF4-FFF2-40B4-BE49-F238E27FC236}">
                  <a16:creationId xmlns:a16="http://schemas.microsoft.com/office/drawing/2014/main" id="{4ED91941-3435-9A92-DBC6-0CFCE0A2E44A}"/>
                </a:ext>
              </a:extLst>
            </p:cNvPr>
            <p:cNvSpPr>
              <a:spLocks noChangeArrowheads="1"/>
            </p:cNvSpPr>
            <p:nvPr/>
          </p:nvSpPr>
          <p:spPr bwMode="auto">
            <a:xfrm>
              <a:off x="720" y="1728"/>
              <a:ext cx="1104" cy="432"/>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64622" name="Rectangle 14">
              <a:extLst>
                <a:ext uri="{FF2B5EF4-FFF2-40B4-BE49-F238E27FC236}">
                  <a16:creationId xmlns:a16="http://schemas.microsoft.com/office/drawing/2014/main" id="{0B6B170B-9B92-70CD-7B62-3876DE3187E7}"/>
                </a:ext>
              </a:extLst>
            </p:cNvPr>
            <p:cNvSpPr>
              <a:spLocks noChangeArrowheads="1"/>
            </p:cNvSpPr>
            <p:nvPr/>
          </p:nvSpPr>
          <p:spPr bwMode="auto">
            <a:xfrm>
              <a:off x="720" y="2304"/>
              <a:ext cx="1104" cy="432"/>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64623" name="Text Box 15">
              <a:extLst>
                <a:ext uri="{FF2B5EF4-FFF2-40B4-BE49-F238E27FC236}">
                  <a16:creationId xmlns:a16="http://schemas.microsoft.com/office/drawing/2014/main" id="{C59C07BA-86DD-7156-5E12-5E264517B4F0}"/>
                </a:ext>
              </a:extLst>
            </p:cNvPr>
            <p:cNvSpPr txBox="1">
              <a:spLocks noChangeArrowheads="1"/>
            </p:cNvSpPr>
            <p:nvPr/>
          </p:nvSpPr>
          <p:spPr bwMode="auto">
            <a:xfrm>
              <a:off x="843" y="1200"/>
              <a:ext cx="1008" cy="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1400"/>
                <a:t>Pin Sequence file  &lt;project&gt;.list</a:t>
              </a:r>
            </a:p>
          </p:txBody>
        </p:sp>
        <p:sp>
          <p:nvSpPr>
            <p:cNvPr id="964624" name="Text Box 16">
              <a:extLst>
                <a:ext uri="{FF2B5EF4-FFF2-40B4-BE49-F238E27FC236}">
                  <a16:creationId xmlns:a16="http://schemas.microsoft.com/office/drawing/2014/main" id="{9E2E4638-C62A-B997-2EF8-2AABF15CEA71}"/>
                </a:ext>
              </a:extLst>
            </p:cNvPr>
            <p:cNvSpPr txBox="1">
              <a:spLocks noChangeArrowheads="1"/>
            </p:cNvSpPr>
            <p:nvPr/>
          </p:nvSpPr>
          <p:spPr bwMode="auto">
            <a:xfrm>
              <a:off x="864" y="1824"/>
              <a:ext cx="1008"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1400"/>
                <a:t>Verilog Netlist</a:t>
              </a:r>
            </a:p>
          </p:txBody>
        </p:sp>
        <p:sp>
          <p:nvSpPr>
            <p:cNvPr id="964625" name="Text Box 17">
              <a:extLst>
                <a:ext uri="{FF2B5EF4-FFF2-40B4-BE49-F238E27FC236}">
                  <a16:creationId xmlns:a16="http://schemas.microsoft.com/office/drawing/2014/main" id="{D47083D9-EA0B-0D95-4290-2FB00485B0B1}"/>
                </a:ext>
              </a:extLst>
            </p:cNvPr>
            <p:cNvSpPr txBox="1">
              <a:spLocks noChangeArrowheads="1"/>
            </p:cNvSpPr>
            <p:nvPr/>
          </p:nvSpPr>
          <p:spPr bwMode="auto">
            <a:xfrm>
              <a:off x="816" y="2448"/>
              <a:ext cx="1056"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1400"/>
                <a:t>Configuration file</a:t>
              </a:r>
            </a:p>
          </p:txBody>
        </p:sp>
        <p:sp>
          <p:nvSpPr>
            <p:cNvPr id="964626" name="AutoShape 18">
              <a:extLst>
                <a:ext uri="{FF2B5EF4-FFF2-40B4-BE49-F238E27FC236}">
                  <a16:creationId xmlns:a16="http://schemas.microsoft.com/office/drawing/2014/main" id="{1CA7C5C3-B9FF-F97F-FFFD-9CF1766900BA}"/>
                </a:ext>
              </a:extLst>
            </p:cNvPr>
            <p:cNvSpPr>
              <a:spLocks noChangeArrowheads="1"/>
            </p:cNvSpPr>
            <p:nvPr/>
          </p:nvSpPr>
          <p:spPr bwMode="auto">
            <a:xfrm>
              <a:off x="3216" y="1776"/>
              <a:ext cx="336" cy="306"/>
            </a:xfrm>
            <a:prstGeom prst="rightArrow">
              <a:avLst>
                <a:gd name="adj1" fmla="val 50000"/>
                <a:gd name="adj2" fmla="val 2745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64627" name="AutoShape 19">
              <a:extLst>
                <a:ext uri="{FF2B5EF4-FFF2-40B4-BE49-F238E27FC236}">
                  <a16:creationId xmlns:a16="http://schemas.microsoft.com/office/drawing/2014/main" id="{B922507C-E7F1-3FC9-33EC-5E6F53A8610F}"/>
                </a:ext>
              </a:extLst>
            </p:cNvPr>
            <p:cNvSpPr>
              <a:spLocks/>
            </p:cNvSpPr>
            <p:nvPr/>
          </p:nvSpPr>
          <p:spPr bwMode="auto">
            <a:xfrm>
              <a:off x="3504" y="1008"/>
              <a:ext cx="240" cy="1824"/>
            </a:xfrm>
            <a:prstGeom prst="leftBrace">
              <a:avLst>
                <a:gd name="adj1" fmla="val 63333"/>
                <a:gd name="adj2" fmla="val 50000"/>
              </a:avLst>
            </a:prstGeom>
            <a:noFill/>
            <a:ln w="5715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zh-TW" sz="2400">
                <a:solidFill>
                  <a:srgbClr val="FF6600"/>
                </a:solidFill>
              </a:endParaRPr>
            </a:p>
          </p:txBody>
        </p:sp>
        <p:grpSp>
          <p:nvGrpSpPr>
            <p:cNvPr id="964628" name="Group 20">
              <a:extLst>
                <a:ext uri="{FF2B5EF4-FFF2-40B4-BE49-F238E27FC236}">
                  <a16:creationId xmlns:a16="http://schemas.microsoft.com/office/drawing/2014/main" id="{83753B19-534F-15BB-8EC3-2B376608AAB1}"/>
                </a:ext>
              </a:extLst>
            </p:cNvPr>
            <p:cNvGrpSpPr>
              <a:grpSpLocks/>
            </p:cNvGrpSpPr>
            <p:nvPr/>
          </p:nvGrpSpPr>
          <p:grpSpPr bwMode="auto">
            <a:xfrm>
              <a:off x="2976" y="3216"/>
              <a:ext cx="1285" cy="448"/>
              <a:chOff x="2843" y="3216"/>
              <a:chExt cx="1285" cy="448"/>
            </a:xfrm>
          </p:grpSpPr>
          <p:sp>
            <p:nvSpPr>
              <p:cNvPr id="964629" name="Rectangle 21">
                <a:extLst>
                  <a:ext uri="{FF2B5EF4-FFF2-40B4-BE49-F238E27FC236}">
                    <a16:creationId xmlns:a16="http://schemas.microsoft.com/office/drawing/2014/main" id="{D2F554DE-BFD7-F8ED-EB6A-7F60CCD69D3D}"/>
                  </a:ext>
                </a:extLst>
              </p:cNvPr>
              <p:cNvSpPr>
                <a:spLocks noChangeArrowheads="1"/>
              </p:cNvSpPr>
              <p:nvPr/>
            </p:nvSpPr>
            <p:spPr bwMode="auto">
              <a:xfrm>
                <a:off x="2843" y="3232"/>
                <a:ext cx="1104" cy="432"/>
              </a:xfrm>
              <a:prstGeom prst="rect">
                <a:avLst/>
              </a:prstGeom>
              <a:solidFill>
                <a:srgbClr val="CCFFFF"/>
              </a:solidFill>
              <a:ln w="28575">
                <a:solidFill>
                  <a:srgbClr val="FF0000"/>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64630" name="Text Box 22">
                <a:extLst>
                  <a:ext uri="{FF2B5EF4-FFF2-40B4-BE49-F238E27FC236}">
                    <a16:creationId xmlns:a16="http://schemas.microsoft.com/office/drawing/2014/main" id="{14DE88BF-8A9E-7610-1511-73FE3EA0430D}"/>
                  </a:ext>
                </a:extLst>
              </p:cNvPr>
              <p:cNvSpPr txBox="1">
                <a:spLocks noChangeArrowheads="1"/>
              </p:cNvSpPr>
              <p:nvPr/>
            </p:nvSpPr>
            <p:spPr bwMode="auto">
              <a:xfrm>
                <a:off x="2976" y="3216"/>
                <a:ext cx="1152" cy="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1400">
                    <a:solidFill>
                      <a:srgbClr val="FF0000"/>
                    </a:solidFill>
                  </a:rPr>
                  <a:t>Pin Sequence file (complete) &lt;project&gt;.list.new</a:t>
                </a:r>
              </a:p>
            </p:txBody>
          </p:sp>
        </p:grpSp>
        <p:grpSp>
          <p:nvGrpSpPr>
            <p:cNvPr id="964631" name="Group 23">
              <a:extLst>
                <a:ext uri="{FF2B5EF4-FFF2-40B4-BE49-F238E27FC236}">
                  <a16:creationId xmlns:a16="http://schemas.microsoft.com/office/drawing/2014/main" id="{55B190EB-AD2E-CB38-ABF9-8A6B716367E8}"/>
                </a:ext>
              </a:extLst>
            </p:cNvPr>
            <p:cNvGrpSpPr>
              <a:grpSpLocks/>
            </p:cNvGrpSpPr>
            <p:nvPr/>
          </p:nvGrpSpPr>
          <p:grpSpPr bwMode="auto">
            <a:xfrm>
              <a:off x="2832" y="2784"/>
              <a:ext cx="144" cy="672"/>
              <a:chOff x="2688" y="3072"/>
              <a:chExt cx="144" cy="384"/>
            </a:xfrm>
          </p:grpSpPr>
          <p:sp>
            <p:nvSpPr>
              <p:cNvPr id="964632" name="Line 24">
                <a:extLst>
                  <a:ext uri="{FF2B5EF4-FFF2-40B4-BE49-F238E27FC236}">
                    <a16:creationId xmlns:a16="http://schemas.microsoft.com/office/drawing/2014/main" id="{978316D2-DCCC-27E7-BE07-C16C657F4F3D}"/>
                  </a:ext>
                </a:extLst>
              </p:cNvPr>
              <p:cNvSpPr>
                <a:spLocks noChangeShapeType="1"/>
              </p:cNvSpPr>
              <p:nvPr/>
            </p:nvSpPr>
            <p:spPr bwMode="auto">
              <a:xfrm>
                <a:off x="2688" y="3072"/>
                <a:ext cx="0" cy="384"/>
              </a:xfrm>
              <a:prstGeom prst="line">
                <a:avLst/>
              </a:prstGeom>
              <a:noFill/>
              <a:ln w="31750">
                <a:solidFill>
                  <a:srgbClr val="FF0066"/>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964633" name="Line 25">
                <a:extLst>
                  <a:ext uri="{FF2B5EF4-FFF2-40B4-BE49-F238E27FC236}">
                    <a16:creationId xmlns:a16="http://schemas.microsoft.com/office/drawing/2014/main" id="{8B52D3D2-8F17-1DF6-31C2-8654F4CA3682}"/>
                  </a:ext>
                </a:extLst>
              </p:cNvPr>
              <p:cNvSpPr>
                <a:spLocks noChangeShapeType="1"/>
              </p:cNvSpPr>
              <p:nvPr/>
            </p:nvSpPr>
            <p:spPr bwMode="auto">
              <a:xfrm>
                <a:off x="2688" y="3456"/>
                <a:ext cx="144" cy="0"/>
              </a:xfrm>
              <a:prstGeom prst="line">
                <a:avLst/>
              </a:prstGeom>
              <a:noFill/>
              <a:ln w="31750">
                <a:solidFill>
                  <a:srgbClr val="FF0066"/>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grpSp>
        <p:sp>
          <p:nvSpPr>
            <p:cNvPr id="964634" name="Text Box 26">
              <a:extLst>
                <a:ext uri="{FF2B5EF4-FFF2-40B4-BE49-F238E27FC236}">
                  <a16:creationId xmlns:a16="http://schemas.microsoft.com/office/drawing/2014/main" id="{0B0E2835-48AF-CF9E-460A-7B1522AFFD9D}"/>
                </a:ext>
              </a:extLst>
            </p:cNvPr>
            <p:cNvSpPr txBox="1">
              <a:spLocks noChangeArrowheads="1"/>
            </p:cNvSpPr>
            <p:nvPr/>
          </p:nvSpPr>
          <p:spPr bwMode="auto">
            <a:xfrm>
              <a:off x="739" y="1440"/>
              <a:ext cx="1064"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endParaRPr lang="zh-TW" altLang="zh-TW" sz="1400">
                <a:solidFill>
                  <a:srgbClr val="FF0000"/>
                </a:solidFill>
              </a:endParaRPr>
            </a:p>
          </p:txBody>
        </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875EC098-D643-950D-BEB6-B8E1661F8EF3}"/>
              </a:ext>
            </a:extLst>
          </p:cNvPr>
          <p:cNvSpPr>
            <a:spLocks noGrp="1"/>
          </p:cNvSpPr>
          <p:nvPr>
            <p:ph type="sldNum" sz="quarter" idx="10"/>
          </p:nvPr>
        </p:nvSpPr>
        <p:spPr/>
        <p:txBody>
          <a:bodyPr/>
          <a:lstStyle/>
          <a:p>
            <a:fld id="{B3CCB5DA-C750-D44C-82AD-E066F9DD0F8C}" type="slidenum">
              <a:rPr lang="en-US" altLang="zh-TW"/>
              <a:pPr/>
              <a:t>37</a:t>
            </a:fld>
            <a:endParaRPr lang="en-US" altLang="zh-TW"/>
          </a:p>
        </p:txBody>
      </p:sp>
      <p:sp>
        <p:nvSpPr>
          <p:cNvPr id="965634" name="Rectangle 2">
            <a:extLst>
              <a:ext uri="{FF2B5EF4-FFF2-40B4-BE49-F238E27FC236}">
                <a16:creationId xmlns:a16="http://schemas.microsoft.com/office/drawing/2014/main" id="{2C0523F2-7DBE-9BFC-FA01-C4313AB0F5EC}"/>
              </a:ext>
            </a:extLst>
          </p:cNvPr>
          <p:cNvSpPr>
            <a:spLocks noGrp="1" noChangeArrowheads="1"/>
          </p:cNvSpPr>
          <p:nvPr>
            <p:ph type="title"/>
          </p:nvPr>
        </p:nvSpPr>
        <p:spPr/>
        <p:txBody>
          <a:bodyPr/>
          <a:lstStyle/>
          <a:p>
            <a:r>
              <a:rPr lang="en-US" altLang="zh-TW"/>
              <a:t>Command Usage</a:t>
            </a:r>
          </a:p>
        </p:txBody>
      </p:sp>
      <p:sp>
        <p:nvSpPr>
          <p:cNvPr id="965635" name="Rectangle 3">
            <a:extLst>
              <a:ext uri="{FF2B5EF4-FFF2-40B4-BE49-F238E27FC236}">
                <a16:creationId xmlns:a16="http://schemas.microsoft.com/office/drawing/2014/main" id="{2A72A0DB-5616-3174-8C9C-7304C49D8CBE}"/>
              </a:ext>
            </a:extLst>
          </p:cNvPr>
          <p:cNvSpPr>
            <a:spLocks noGrp="1" noChangeArrowheads="1"/>
          </p:cNvSpPr>
          <p:nvPr>
            <p:ph type="body" idx="1"/>
          </p:nvPr>
        </p:nvSpPr>
        <p:spPr>
          <a:xfrm>
            <a:off x="560388" y="1125538"/>
            <a:ext cx="9001125" cy="3527425"/>
          </a:xfrm>
        </p:spPr>
        <p:txBody>
          <a:bodyPr/>
          <a:lstStyle/>
          <a:p>
            <a:pPr>
              <a:lnSpc>
                <a:spcPct val="100000"/>
              </a:lnSpc>
              <a:buFont typeface="Wingdings" pitchFamily="2" charset="2"/>
              <a:buNone/>
            </a:pPr>
            <a:r>
              <a:rPr lang="en-US" altLang="zh-TW" sz="1800" b="0"/>
              <a:t>upad_assign [Options] configuration_file</a:t>
            </a:r>
          </a:p>
          <a:p>
            <a:pPr>
              <a:lnSpc>
                <a:spcPct val="100000"/>
              </a:lnSpc>
              <a:buFont typeface="Wingdings" pitchFamily="2" charset="2"/>
              <a:buNone/>
            </a:pPr>
            <a:r>
              <a:rPr lang="en-US" altLang="zh-TW" sz="1800" b="0"/>
              <a:t>Options:</a:t>
            </a:r>
          </a:p>
          <a:p>
            <a:pPr>
              <a:lnSpc>
                <a:spcPct val="100000"/>
              </a:lnSpc>
              <a:buFont typeface="Wingdings" pitchFamily="2" charset="2"/>
              <a:buNone/>
            </a:pPr>
            <a:r>
              <a:rPr lang="en-US" altLang="zh-TW" sz="1800" b="0">
                <a:solidFill>
                  <a:srgbClr val="FF3300"/>
                </a:solidFill>
              </a:rPr>
              <a:t>  -apr_diagram</a:t>
            </a:r>
            <a:r>
              <a:rPr lang="en-US" altLang="zh-TW" sz="1800" b="0"/>
              <a:t>		: generate pin diagram for APR.</a:t>
            </a:r>
          </a:p>
          <a:p>
            <a:pPr>
              <a:lnSpc>
                <a:spcPct val="100000"/>
              </a:lnSpc>
              <a:buFont typeface="Wingdings" pitchFamily="2" charset="2"/>
              <a:buNone/>
            </a:pPr>
            <a:r>
              <a:rPr lang="en-US" altLang="zh-TW" sz="1800" b="0">
                <a:solidFill>
                  <a:srgbClr val="FF3300"/>
                </a:solidFill>
              </a:rPr>
              <a:t>  -c</a:t>
            </a:r>
            <a:r>
              <a:rPr lang="en-US" altLang="zh-TW" sz="1800" b="0"/>
              <a:t>				: Check the consistency of IO cells between pin  sequence 			  file and verilog netlist and generate complete pin 				  sequence file.</a:t>
            </a:r>
          </a:p>
          <a:p>
            <a:pPr>
              <a:lnSpc>
                <a:spcPct val="100000"/>
              </a:lnSpc>
              <a:buFont typeface="Wingdings" pitchFamily="2" charset="2"/>
              <a:buNone/>
            </a:pPr>
            <a:r>
              <a:rPr lang="en-US" altLang="zh-TW" sz="1800" b="0">
                <a:solidFill>
                  <a:srgbClr val="FF3300"/>
                </a:solidFill>
              </a:rPr>
              <a:t>  -package_diagram</a:t>
            </a:r>
            <a:r>
              <a:rPr lang="en-US" altLang="zh-TW" sz="1800" b="0"/>
              <a:t>	: generate pin diagram for package.</a:t>
            </a:r>
          </a:p>
          <a:p>
            <a:pPr>
              <a:lnSpc>
                <a:spcPct val="100000"/>
              </a:lnSpc>
              <a:buFont typeface="Wingdings" pitchFamily="2" charset="2"/>
              <a:buNone/>
            </a:pPr>
            <a:r>
              <a:rPr lang="en-US" altLang="zh-TW" sz="1800" b="0">
                <a:solidFill>
                  <a:srgbClr val="FF3300"/>
                </a:solidFill>
              </a:rPr>
              <a:t>  -stagger</a:t>
            </a:r>
            <a:r>
              <a:rPr lang="en-US" altLang="zh-TW" sz="1800" b="0"/>
              <a:t>		: stagger IO pad.</a:t>
            </a:r>
          </a:p>
          <a:p>
            <a:pPr>
              <a:lnSpc>
                <a:spcPct val="100000"/>
              </a:lnSpc>
              <a:buFont typeface="Wingdings" pitchFamily="2" charset="2"/>
              <a:buNone/>
            </a:pPr>
            <a:r>
              <a:rPr lang="en-US" altLang="zh-TW" sz="1800" b="0">
                <a:solidFill>
                  <a:srgbClr val="FF3300"/>
                </a:solidFill>
              </a:rPr>
              <a:t>  -help</a:t>
            </a:r>
            <a:r>
              <a:rPr lang="en-US" altLang="zh-TW" sz="1800" b="0"/>
              <a:t>			: print this help message.</a:t>
            </a:r>
          </a:p>
        </p:txBody>
      </p:sp>
      <p:sp>
        <p:nvSpPr>
          <p:cNvPr id="965636" name="Rectangle 4">
            <a:extLst>
              <a:ext uri="{FF2B5EF4-FFF2-40B4-BE49-F238E27FC236}">
                <a16:creationId xmlns:a16="http://schemas.microsoft.com/office/drawing/2014/main" id="{2CB1947B-33E2-D74C-B502-114766350827}"/>
              </a:ext>
            </a:extLst>
          </p:cNvPr>
          <p:cNvSpPr>
            <a:spLocks noChangeArrowheads="1"/>
          </p:cNvSpPr>
          <p:nvPr/>
        </p:nvSpPr>
        <p:spPr bwMode="auto">
          <a:xfrm>
            <a:off x="631825" y="4581525"/>
            <a:ext cx="8221663"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lnSpc>
                <a:spcPct val="120000"/>
              </a:lnSpc>
              <a:spcBef>
                <a:spcPct val="50000"/>
              </a:spcBef>
              <a:buSzPct val="60000"/>
              <a:buFont typeface="Wingdings" pitchFamily="2" charset="2"/>
              <a:buChar char="l"/>
              <a:defRPr kumimoji="1" sz="2400" b="1">
                <a:solidFill>
                  <a:schemeClr val="tx1"/>
                </a:solidFill>
                <a:latin typeface="Arial" panose="020B0604020202020204" pitchFamily="34" charset="0"/>
                <a:ea typeface="標楷體" pitchFamily="65" charset="-120"/>
              </a:defRPr>
            </a:lvl1pPr>
            <a:lvl2pPr marL="742950" indent="-285750" algn="l">
              <a:lnSpc>
                <a:spcPct val="120000"/>
              </a:lnSpc>
              <a:spcBef>
                <a:spcPct val="50000"/>
              </a:spcBef>
              <a:buChar char="–"/>
              <a:defRPr kumimoji="1" sz="2000" b="1">
                <a:solidFill>
                  <a:schemeClr val="tx1"/>
                </a:solidFill>
                <a:latin typeface="Arial" panose="020B0604020202020204" pitchFamily="34" charset="0"/>
                <a:ea typeface="標楷體" pitchFamily="65" charset="-120"/>
              </a:defRPr>
            </a:lvl2pPr>
            <a:lvl3pPr marL="1143000" indent="-228600" algn="l">
              <a:lnSpc>
                <a:spcPct val="120000"/>
              </a:lnSpc>
              <a:spcBef>
                <a:spcPct val="50000"/>
              </a:spcBef>
              <a:buChar char="•"/>
              <a:defRPr kumimoji="1" sz="2000">
                <a:solidFill>
                  <a:schemeClr val="tx1"/>
                </a:solidFill>
                <a:latin typeface="Arial" panose="020B0604020202020204" pitchFamily="34" charset="0"/>
                <a:ea typeface="標楷體" pitchFamily="65" charset="-120"/>
              </a:defRPr>
            </a:lvl3pPr>
            <a:lvl4pPr marL="1600200" indent="-228600" algn="l">
              <a:lnSpc>
                <a:spcPct val="120000"/>
              </a:lnSpc>
              <a:spcBef>
                <a:spcPct val="50000"/>
              </a:spcBef>
              <a:buChar char="–"/>
              <a:defRPr kumimoji="1" sz="2000">
                <a:solidFill>
                  <a:schemeClr val="tx1"/>
                </a:solidFill>
                <a:latin typeface="Arial" panose="020B0604020202020204" pitchFamily="34" charset="0"/>
                <a:ea typeface="標楷體" pitchFamily="65" charset="-120"/>
              </a:defRPr>
            </a:lvl4pPr>
            <a:lvl5pPr marL="2057400" indent="-228600" algn="l">
              <a:lnSpc>
                <a:spcPct val="120000"/>
              </a:lnSpc>
              <a:spcBef>
                <a:spcPct val="50000"/>
              </a:spcBef>
              <a:buChar char="»"/>
              <a:defRPr kumimoji="1" sz="2000">
                <a:solidFill>
                  <a:schemeClr val="tx1"/>
                </a:solidFill>
                <a:latin typeface="Arial" panose="020B0604020202020204" pitchFamily="34" charset="0"/>
                <a:ea typeface="標楷體" pitchFamily="65" charset="-120"/>
              </a:defRPr>
            </a:lvl5pPr>
            <a:lvl6pPr marL="2514600" indent="-228600" fontAlgn="base">
              <a:lnSpc>
                <a:spcPct val="120000"/>
              </a:lnSpc>
              <a:spcBef>
                <a:spcPct val="50000"/>
              </a:spcBef>
              <a:spcAft>
                <a:spcPct val="0"/>
              </a:spcAft>
              <a:buChar char="»"/>
              <a:defRPr kumimoji="1" sz="2000">
                <a:solidFill>
                  <a:schemeClr val="tx1"/>
                </a:solidFill>
                <a:latin typeface="Arial" panose="020B0604020202020204" pitchFamily="34" charset="0"/>
                <a:ea typeface="標楷體" pitchFamily="65" charset="-120"/>
              </a:defRPr>
            </a:lvl6pPr>
            <a:lvl7pPr marL="2971800" indent="-228600" fontAlgn="base">
              <a:lnSpc>
                <a:spcPct val="120000"/>
              </a:lnSpc>
              <a:spcBef>
                <a:spcPct val="50000"/>
              </a:spcBef>
              <a:spcAft>
                <a:spcPct val="0"/>
              </a:spcAft>
              <a:buChar char="»"/>
              <a:defRPr kumimoji="1" sz="2000">
                <a:solidFill>
                  <a:schemeClr val="tx1"/>
                </a:solidFill>
                <a:latin typeface="Arial" panose="020B0604020202020204" pitchFamily="34" charset="0"/>
                <a:ea typeface="標楷體" pitchFamily="65" charset="-120"/>
              </a:defRPr>
            </a:lvl7pPr>
            <a:lvl8pPr marL="3429000" indent="-228600" fontAlgn="base">
              <a:lnSpc>
                <a:spcPct val="120000"/>
              </a:lnSpc>
              <a:spcBef>
                <a:spcPct val="50000"/>
              </a:spcBef>
              <a:spcAft>
                <a:spcPct val="0"/>
              </a:spcAft>
              <a:buChar char="»"/>
              <a:defRPr kumimoji="1" sz="2000">
                <a:solidFill>
                  <a:schemeClr val="tx1"/>
                </a:solidFill>
                <a:latin typeface="Arial" panose="020B0604020202020204" pitchFamily="34" charset="0"/>
                <a:ea typeface="標楷體" pitchFamily="65" charset="-120"/>
              </a:defRPr>
            </a:lvl8pPr>
            <a:lvl9pPr marL="3886200" indent="-228600" fontAlgn="base">
              <a:lnSpc>
                <a:spcPct val="120000"/>
              </a:lnSpc>
              <a:spcBef>
                <a:spcPct val="50000"/>
              </a:spcBef>
              <a:spcAft>
                <a:spcPct val="0"/>
              </a:spcAft>
              <a:buChar char="»"/>
              <a:defRPr kumimoji="1" sz="2000">
                <a:solidFill>
                  <a:schemeClr val="tx1"/>
                </a:solidFill>
                <a:latin typeface="Arial" panose="020B0604020202020204" pitchFamily="34" charset="0"/>
                <a:ea typeface="標楷體" pitchFamily="65" charset="-120"/>
              </a:defRPr>
            </a:lvl9pPr>
          </a:lstStyle>
          <a:p>
            <a:pPr>
              <a:buFont typeface="Wingdings" pitchFamily="2" charset="2"/>
              <a:buNone/>
            </a:pPr>
            <a:r>
              <a:rPr lang="en-US" altLang="zh-TW" sz="1600"/>
              <a:t>Configuration_file  file format:</a:t>
            </a:r>
          </a:p>
          <a:p>
            <a:pPr>
              <a:buFont typeface="Wingdings" pitchFamily="2" charset="2"/>
              <a:buNone/>
            </a:pPr>
            <a:r>
              <a:rPr lang="en-US" altLang="zh-TW" sz="1600" b="0">
                <a:latin typeface="Times New Roman" panose="02020603050405020304" pitchFamily="18" charset="0"/>
                <a:ea typeface="新細明體" panose="02020500000000000000" pitchFamily="18" charset="-120"/>
              </a:rPr>
              <a:t>  PIN_SEQUENCE &lt;FILE_NAME&gt;	</a:t>
            </a:r>
          </a:p>
          <a:p>
            <a:pPr>
              <a:lnSpc>
                <a:spcPct val="100000"/>
              </a:lnSpc>
              <a:spcBef>
                <a:spcPct val="0"/>
              </a:spcBef>
              <a:buFontTx/>
              <a:buNone/>
            </a:pPr>
            <a:r>
              <a:rPr lang="en-US" altLang="zh-TW" sz="1600" b="0">
                <a:latin typeface="Times New Roman" panose="02020603050405020304" pitchFamily="18" charset="0"/>
                <a:ea typeface="新細明體" panose="02020500000000000000" pitchFamily="18" charset="-120"/>
              </a:rPr>
              <a:t>  VLOG_NETLIST &lt;file_name1&gt; &lt;file_name2&gt;…</a:t>
            </a:r>
          </a:p>
          <a:p>
            <a:pPr>
              <a:lnSpc>
                <a:spcPct val="100000"/>
              </a:lnSpc>
              <a:spcBef>
                <a:spcPct val="0"/>
              </a:spcBef>
              <a:buFontTx/>
              <a:buNone/>
            </a:pPr>
            <a:endParaRPr lang="en-US" altLang="zh-TW" sz="1600" b="0">
              <a:latin typeface="Times New Roman" panose="02020603050405020304" pitchFamily="18" charset="0"/>
              <a:ea typeface="新細明體" panose="02020500000000000000" pitchFamily="18" charset="-120"/>
            </a:endParaRPr>
          </a:p>
          <a:p>
            <a:pPr>
              <a:lnSpc>
                <a:spcPct val="100000"/>
              </a:lnSpc>
              <a:spcBef>
                <a:spcPct val="0"/>
              </a:spcBef>
              <a:buFontTx/>
              <a:buNone/>
            </a:pPr>
            <a:r>
              <a:rPr lang="en-US" altLang="zh-TW" sz="1600" b="0">
                <a:latin typeface="Times New Roman" panose="02020603050405020304" pitchFamily="18" charset="0"/>
                <a:ea typeface="新細明體" panose="02020500000000000000" pitchFamily="18" charset="-120"/>
              </a:rPr>
              <a:t>				</a:t>
            </a:r>
            <a:r>
              <a:rPr lang="en-US" altLang="zh-TW" sz="1600"/>
              <a:t>Example:</a:t>
            </a:r>
          </a:p>
          <a:p>
            <a:pPr>
              <a:lnSpc>
                <a:spcPct val="80000"/>
              </a:lnSpc>
              <a:spcBef>
                <a:spcPct val="0"/>
              </a:spcBef>
              <a:buFont typeface="Wingdings" pitchFamily="2" charset="2"/>
              <a:buNone/>
            </a:pPr>
            <a:r>
              <a:rPr lang="en-US" altLang="zh-TW" sz="1600" b="0"/>
              <a:t>					PIN_SEQUENCE pin.list</a:t>
            </a:r>
          </a:p>
          <a:p>
            <a:pPr>
              <a:lnSpc>
                <a:spcPct val="80000"/>
              </a:lnSpc>
              <a:spcBef>
                <a:spcPct val="0"/>
              </a:spcBef>
              <a:buFont typeface="Wingdings" pitchFamily="2" charset="2"/>
              <a:buNone/>
            </a:pPr>
            <a:r>
              <a:rPr lang="en-US" altLang="zh-TW" sz="1600" b="0"/>
              <a:t>					VLOG_NETLIST apr.v</a:t>
            </a:r>
          </a:p>
          <a:p>
            <a:pPr>
              <a:buFont typeface="Wingdings" pitchFamily="2" charset="2"/>
              <a:buNone/>
            </a:pPr>
            <a:endParaRPr lang="en-US" altLang="zh-TW" sz="1600" b="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15B3DC7F-1ABA-16D9-7665-8131DB8DCC11}"/>
              </a:ext>
            </a:extLst>
          </p:cNvPr>
          <p:cNvSpPr>
            <a:spLocks noGrp="1"/>
          </p:cNvSpPr>
          <p:nvPr>
            <p:ph type="sldNum" sz="quarter" idx="10"/>
          </p:nvPr>
        </p:nvSpPr>
        <p:spPr/>
        <p:txBody>
          <a:bodyPr/>
          <a:lstStyle/>
          <a:p>
            <a:fld id="{F45AB45D-CB79-184B-9139-238B381A748B}" type="slidenum">
              <a:rPr lang="en-US" altLang="zh-TW"/>
              <a:pPr/>
              <a:t>38</a:t>
            </a:fld>
            <a:endParaRPr lang="en-US" altLang="zh-TW"/>
          </a:p>
        </p:txBody>
      </p:sp>
      <p:sp>
        <p:nvSpPr>
          <p:cNvPr id="967682" name="Rectangle 2">
            <a:extLst>
              <a:ext uri="{FF2B5EF4-FFF2-40B4-BE49-F238E27FC236}">
                <a16:creationId xmlns:a16="http://schemas.microsoft.com/office/drawing/2014/main" id="{A9FB8C5F-69AA-FB05-0537-7AFEC8C047C1}"/>
              </a:ext>
            </a:extLst>
          </p:cNvPr>
          <p:cNvSpPr>
            <a:spLocks noGrp="1" noChangeArrowheads="1"/>
          </p:cNvSpPr>
          <p:nvPr>
            <p:ph type="title"/>
          </p:nvPr>
        </p:nvSpPr>
        <p:spPr/>
        <p:txBody>
          <a:bodyPr/>
          <a:lstStyle/>
          <a:p>
            <a:r>
              <a:rPr lang="en-US" altLang="zh-TW"/>
              <a:t>Command Usage (cont.)</a:t>
            </a:r>
          </a:p>
        </p:txBody>
      </p:sp>
      <p:sp>
        <p:nvSpPr>
          <p:cNvPr id="967683" name="Rectangle 3">
            <a:extLst>
              <a:ext uri="{FF2B5EF4-FFF2-40B4-BE49-F238E27FC236}">
                <a16:creationId xmlns:a16="http://schemas.microsoft.com/office/drawing/2014/main" id="{DCAC569F-A6F4-9B31-709A-DCFFA3EB5C45}"/>
              </a:ext>
            </a:extLst>
          </p:cNvPr>
          <p:cNvSpPr>
            <a:spLocks noChangeArrowheads="1"/>
          </p:cNvSpPr>
          <p:nvPr/>
        </p:nvSpPr>
        <p:spPr bwMode="auto">
          <a:xfrm>
            <a:off x="1447800" y="990600"/>
            <a:ext cx="3733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kumimoji="1" sz="2400">
                <a:solidFill>
                  <a:schemeClr val="tx1"/>
                </a:solidFill>
                <a:latin typeface="Times New Roman" panose="02020603050405020304" pitchFamily="18" charset="0"/>
                <a:ea typeface="新細明體" panose="02020500000000000000" pitchFamily="18" charset="-120"/>
              </a:defRPr>
            </a:lvl1pPr>
            <a:lvl2pPr algn="l">
              <a:defRPr kumimoji="1" sz="2400">
                <a:solidFill>
                  <a:schemeClr val="tx1"/>
                </a:solidFill>
                <a:latin typeface="Times New Roman" panose="02020603050405020304" pitchFamily="18" charset="0"/>
                <a:ea typeface="新細明體" panose="02020500000000000000" pitchFamily="18" charset="-120"/>
              </a:defRPr>
            </a:lvl2pPr>
            <a:lvl3pPr algn="l">
              <a:defRPr kumimoji="1" sz="2400">
                <a:solidFill>
                  <a:schemeClr val="tx1"/>
                </a:solidFill>
                <a:latin typeface="Times New Roman" panose="02020603050405020304" pitchFamily="18" charset="0"/>
                <a:ea typeface="新細明體" panose="02020500000000000000" pitchFamily="18" charset="-120"/>
              </a:defRPr>
            </a:lvl3pPr>
            <a:lvl4pPr algn="l">
              <a:defRPr kumimoji="1" sz="2400">
                <a:solidFill>
                  <a:schemeClr val="tx1"/>
                </a:solidFill>
                <a:latin typeface="Times New Roman" panose="02020603050405020304" pitchFamily="18" charset="0"/>
                <a:ea typeface="新細明體" panose="02020500000000000000" pitchFamily="18" charset="-120"/>
              </a:defRPr>
            </a:lvl4pPr>
            <a:lvl5pPr algn="l">
              <a:defRPr kumimoji="1" sz="2400">
                <a:solidFill>
                  <a:schemeClr val="tx1"/>
                </a:solidFill>
                <a:latin typeface="Times New Roman" panose="02020603050405020304" pitchFamily="18" charset="0"/>
                <a:ea typeface="新細明體" panose="02020500000000000000" pitchFamily="18" charset="-120"/>
              </a:defRPr>
            </a:lvl5pPr>
            <a:lvl6pPr marL="4572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9144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1371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18288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120000"/>
              </a:lnSpc>
            </a:pPr>
            <a:r>
              <a:rPr lang="en-US" altLang="zh-TW" sz="2800" b="1" i="1">
                <a:solidFill>
                  <a:srgbClr val="CC3300"/>
                </a:solidFill>
                <a:ea typeface="標楷體" pitchFamily="65" charset="-120"/>
              </a:rPr>
              <a:t>Generate APR Diagram</a:t>
            </a:r>
          </a:p>
        </p:txBody>
      </p:sp>
      <p:pic>
        <p:nvPicPr>
          <p:cNvPr id="967684" name="Picture 4">
            <a:extLst>
              <a:ext uri="{FF2B5EF4-FFF2-40B4-BE49-F238E27FC236}">
                <a16:creationId xmlns:a16="http://schemas.microsoft.com/office/drawing/2014/main" id="{F4030C90-004F-E3D2-4CB3-C5AC26475B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905000"/>
            <a:ext cx="5543550" cy="4667250"/>
          </a:xfrm>
          <a:prstGeom prst="rect">
            <a:avLst/>
          </a:prstGeom>
          <a:noFill/>
          <a:extLst>
            <a:ext uri="{909E8E84-426E-40DD-AFC4-6F175D3DCCD1}">
              <a14:hiddenFill xmlns:a14="http://schemas.microsoft.com/office/drawing/2010/main">
                <a:solidFill>
                  <a:srgbClr val="FFFFFF"/>
                </a:solidFill>
              </a14:hiddenFill>
            </a:ext>
          </a:extLst>
        </p:spPr>
      </p:pic>
      <p:sp>
        <p:nvSpPr>
          <p:cNvPr id="967685" name="Text Box 5">
            <a:extLst>
              <a:ext uri="{FF2B5EF4-FFF2-40B4-BE49-F238E27FC236}">
                <a16:creationId xmlns:a16="http://schemas.microsoft.com/office/drawing/2014/main" id="{DCBF553F-01F3-BA2E-653A-626787D6A4F0}"/>
              </a:ext>
            </a:extLst>
          </p:cNvPr>
          <p:cNvSpPr txBox="1">
            <a:spLocks noChangeArrowheads="1"/>
          </p:cNvSpPr>
          <p:nvPr/>
        </p:nvSpPr>
        <p:spPr bwMode="auto">
          <a:xfrm>
            <a:off x="1524000" y="2362200"/>
            <a:ext cx="2743200" cy="317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buFontTx/>
              <a:buChar char="-"/>
            </a:pPr>
            <a:r>
              <a:rPr lang="en-US" altLang="zh-TW" sz="2200"/>
              <a:t>  pad</a:t>
            </a:r>
            <a:r>
              <a:rPr lang="en-US" altLang="zh-TW" sz="2200">
                <a:solidFill>
                  <a:srgbClr val="FF0000"/>
                </a:solidFill>
              </a:rPr>
              <a:t>8</a:t>
            </a:r>
            <a:r>
              <a:rPr lang="en-US" altLang="zh-TW" sz="2200"/>
              <a:t> , </a:t>
            </a:r>
            <a:r>
              <a:rPr lang="en-US" altLang="zh-TW" sz="2200">
                <a:solidFill>
                  <a:srgbClr val="FF0000"/>
                </a:solidFill>
              </a:rPr>
              <a:t>32</a:t>
            </a:r>
            <a:r>
              <a:rPr lang="en-US" altLang="zh-TW" sz="2200"/>
              <a:t> ,</a:t>
            </a:r>
            <a:r>
              <a:rPr lang="en-US" altLang="zh-TW" sz="2200">
                <a:solidFill>
                  <a:srgbClr val="FF0000"/>
                </a:solidFill>
              </a:rPr>
              <a:t>48</a:t>
            </a:r>
            <a:r>
              <a:rPr lang="en-US" altLang="zh-TW" sz="2200"/>
              <a:t> are</a:t>
            </a:r>
            <a:br>
              <a:rPr lang="en-US" altLang="zh-TW" sz="2200"/>
            </a:br>
            <a:r>
              <a:rPr lang="en-US" altLang="zh-TW" sz="2200"/>
              <a:t>   powercut cells</a:t>
            </a:r>
          </a:p>
          <a:p>
            <a:pPr algn="l">
              <a:spcBef>
                <a:spcPct val="20000"/>
              </a:spcBef>
              <a:buFontTx/>
              <a:buChar char="-"/>
            </a:pPr>
            <a:r>
              <a:rPr lang="en-US" altLang="zh-TW" sz="2200"/>
              <a:t>  pad</a:t>
            </a:r>
            <a:r>
              <a:rPr lang="en-US" altLang="zh-TW" sz="2200">
                <a:solidFill>
                  <a:schemeClr val="accent2"/>
                </a:solidFill>
              </a:rPr>
              <a:t>10</a:t>
            </a:r>
            <a:r>
              <a:rPr lang="en-US" altLang="zh-TW" sz="2200"/>
              <a:t> ,</a:t>
            </a:r>
            <a:r>
              <a:rPr lang="en-US" altLang="zh-TW" sz="2200">
                <a:solidFill>
                  <a:schemeClr val="accent2"/>
                </a:solidFill>
              </a:rPr>
              <a:t>11</a:t>
            </a:r>
            <a:r>
              <a:rPr lang="en-US" altLang="zh-TW" sz="2200"/>
              <a:t> are</a:t>
            </a:r>
          </a:p>
          <a:p>
            <a:pPr algn="l">
              <a:spcBef>
                <a:spcPct val="20000"/>
              </a:spcBef>
            </a:pPr>
            <a:r>
              <a:rPr lang="en-US" altLang="zh-TW" sz="2200"/>
              <a:t>   double bonded to</a:t>
            </a:r>
          </a:p>
          <a:p>
            <a:pPr algn="l">
              <a:spcBef>
                <a:spcPct val="20000"/>
              </a:spcBef>
            </a:pPr>
            <a:r>
              <a:rPr lang="en-US" altLang="zh-TW" sz="2200"/>
              <a:t>   pin </a:t>
            </a:r>
            <a:r>
              <a:rPr lang="en-US" altLang="zh-TW" sz="2200">
                <a:solidFill>
                  <a:schemeClr val="accent2"/>
                </a:solidFill>
              </a:rPr>
              <a:t>9</a:t>
            </a:r>
          </a:p>
          <a:p>
            <a:pPr algn="l">
              <a:spcBef>
                <a:spcPct val="20000"/>
              </a:spcBef>
              <a:buFontTx/>
              <a:buChar char="-"/>
            </a:pPr>
            <a:r>
              <a:rPr lang="en-US" altLang="zh-TW" sz="2200"/>
              <a:t>  pad</a:t>
            </a:r>
            <a:r>
              <a:rPr lang="en-US" altLang="zh-TW" sz="2200">
                <a:solidFill>
                  <a:schemeClr val="accent2"/>
                </a:solidFill>
              </a:rPr>
              <a:t>20</a:t>
            </a:r>
            <a:r>
              <a:rPr lang="en-US" altLang="zh-TW" sz="2200"/>
              <a:t> , </a:t>
            </a:r>
            <a:r>
              <a:rPr lang="en-US" altLang="zh-TW" sz="2200">
                <a:solidFill>
                  <a:schemeClr val="accent2"/>
                </a:solidFill>
              </a:rPr>
              <a:t>21</a:t>
            </a:r>
            <a:r>
              <a:rPr lang="en-US" altLang="zh-TW" sz="2200"/>
              <a:t> are</a:t>
            </a:r>
          </a:p>
          <a:p>
            <a:pPr algn="l">
              <a:spcBef>
                <a:spcPct val="20000"/>
              </a:spcBef>
            </a:pPr>
            <a:r>
              <a:rPr lang="en-US" altLang="zh-TW" sz="2200"/>
              <a:t>   double bonded to</a:t>
            </a:r>
          </a:p>
          <a:p>
            <a:pPr algn="l">
              <a:spcBef>
                <a:spcPct val="20000"/>
              </a:spcBef>
            </a:pPr>
            <a:r>
              <a:rPr lang="en-US" altLang="zh-TW" sz="2200"/>
              <a:t>   pin </a:t>
            </a:r>
            <a:r>
              <a:rPr lang="en-US" altLang="zh-TW" sz="2200">
                <a:solidFill>
                  <a:schemeClr val="accent2"/>
                </a:solidFill>
              </a:rPr>
              <a:t>18</a:t>
            </a:r>
          </a:p>
        </p:txBody>
      </p:sp>
      <p:sp>
        <p:nvSpPr>
          <p:cNvPr id="967686" name="Text Box 6">
            <a:extLst>
              <a:ext uri="{FF2B5EF4-FFF2-40B4-BE49-F238E27FC236}">
                <a16:creationId xmlns:a16="http://schemas.microsoft.com/office/drawing/2014/main" id="{8DD7DEA8-C41B-02B4-57CD-869A48C9FBCF}"/>
              </a:ext>
            </a:extLst>
          </p:cNvPr>
          <p:cNvSpPr txBox="1">
            <a:spLocks noChangeArrowheads="1"/>
          </p:cNvSpPr>
          <p:nvPr/>
        </p:nvSpPr>
        <p:spPr bwMode="auto">
          <a:xfrm>
            <a:off x="1524000" y="1524000"/>
            <a:ext cx="6477000" cy="422275"/>
          </a:xfrm>
          <a:prstGeom prst="rect">
            <a:avLst/>
          </a:prstGeom>
          <a:solidFill>
            <a:srgbClr val="FFFF99"/>
          </a:solidFill>
          <a:ln w="25400">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2000"/>
              <a:t>Command: upad_assign  </a:t>
            </a:r>
            <a:r>
              <a:rPr lang="en-US" altLang="zh-TW" sz="2000">
                <a:solidFill>
                  <a:srgbClr val="FF0000"/>
                </a:solidFill>
              </a:rPr>
              <a:t>-apr_diagram</a:t>
            </a:r>
            <a:r>
              <a:rPr lang="en-US" altLang="zh-TW" sz="2000"/>
              <a:t>  &lt;configuration_file&gt;</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5BFF108A-4900-8268-80AC-B70363FA732C}"/>
              </a:ext>
            </a:extLst>
          </p:cNvPr>
          <p:cNvSpPr>
            <a:spLocks noGrp="1"/>
          </p:cNvSpPr>
          <p:nvPr>
            <p:ph type="sldNum" sz="quarter" idx="10"/>
          </p:nvPr>
        </p:nvSpPr>
        <p:spPr/>
        <p:txBody>
          <a:bodyPr/>
          <a:lstStyle/>
          <a:p>
            <a:fld id="{D6BFCE58-4126-3840-93E7-47BE018B7616}" type="slidenum">
              <a:rPr lang="en-US" altLang="zh-TW"/>
              <a:pPr/>
              <a:t>39</a:t>
            </a:fld>
            <a:endParaRPr lang="en-US" altLang="zh-TW"/>
          </a:p>
        </p:txBody>
      </p:sp>
      <p:sp>
        <p:nvSpPr>
          <p:cNvPr id="968706" name="Rectangle 2">
            <a:extLst>
              <a:ext uri="{FF2B5EF4-FFF2-40B4-BE49-F238E27FC236}">
                <a16:creationId xmlns:a16="http://schemas.microsoft.com/office/drawing/2014/main" id="{48FB9B49-DCD3-FEE4-D11C-51C8D67C313C}"/>
              </a:ext>
            </a:extLst>
          </p:cNvPr>
          <p:cNvSpPr>
            <a:spLocks noGrp="1" noChangeArrowheads="1"/>
          </p:cNvSpPr>
          <p:nvPr>
            <p:ph type="title"/>
          </p:nvPr>
        </p:nvSpPr>
        <p:spPr/>
        <p:txBody>
          <a:bodyPr/>
          <a:lstStyle/>
          <a:p>
            <a:r>
              <a:rPr lang="en-US" altLang="zh-TW"/>
              <a:t>Command Usage (cont.)</a:t>
            </a:r>
          </a:p>
        </p:txBody>
      </p:sp>
      <p:sp>
        <p:nvSpPr>
          <p:cNvPr id="968707" name="Rectangle 3">
            <a:extLst>
              <a:ext uri="{FF2B5EF4-FFF2-40B4-BE49-F238E27FC236}">
                <a16:creationId xmlns:a16="http://schemas.microsoft.com/office/drawing/2014/main" id="{662E7755-11CA-F9F8-4622-C082DC9E1943}"/>
              </a:ext>
            </a:extLst>
          </p:cNvPr>
          <p:cNvSpPr>
            <a:spLocks noChangeArrowheads="1"/>
          </p:cNvSpPr>
          <p:nvPr/>
        </p:nvSpPr>
        <p:spPr bwMode="auto">
          <a:xfrm>
            <a:off x="1447800" y="914400"/>
            <a:ext cx="3733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kumimoji="1" sz="2400">
                <a:solidFill>
                  <a:schemeClr val="tx1"/>
                </a:solidFill>
                <a:latin typeface="Times New Roman" panose="02020603050405020304" pitchFamily="18" charset="0"/>
                <a:ea typeface="新細明體" panose="02020500000000000000" pitchFamily="18" charset="-120"/>
              </a:defRPr>
            </a:lvl1pPr>
            <a:lvl2pPr algn="l">
              <a:defRPr kumimoji="1" sz="2400">
                <a:solidFill>
                  <a:schemeClr val="tx1"/>
                </a:solidFill>
                <a:latin typeface="Times New Roman" panose="02020603050405020304" pitchFamily="18" charset="0"/>
                <a:ea typeface="新細明體" panose="02020500000000000000" pitchFamily="18" charset="-120"/>
              </a:defRPr>
            </a:lvl2pPr>
            <a:lvl3pPr algn="l">
              <a:defRPr kumimoji="1" sz="2400">
                <a:solidFill>
                  <a:schemeClr val="tx1"/>
                </a:solidFill>
                <a:latin typeface="Times New Roman" panose="02020603050405020304" pitchFamily="18" charset="0"/>
                <a:ea typeface="新細明體" panose="02020500000000000000" pitchFamily="18" charset="-120"/>
              </a:defRPr>
            </a:lvl3pPr>
            <a:lvl4pPr algn="l">
              <a:defRPr kumimoji="1" sz="2400">
                <a:solidFill>
                  <a:schemeClr val="tx1"/>
                </a:solidFill>
                <a:latin typeface="Times New Roman" panose="02020603050405020304" pitchFamily="18" charset="0"/>
                <a:ea typeface="新細明體" panose="02020500000000000000" pitchFamily="18" charset="-120"/>
              </a:defRPr>
            </a:lvl4pPr>
            <a:lvl5pPr algn="l">
              <a:defRPr kumimoji="1" sz="2400">
                <a:solidFill>
                  <a:schemeClr val="tx1"/>
                </a:solidFill>
                <a:latin typeface="Times New Roman" panose="02020603050405020304" pitchFamily="18" charset="0"/>
                <a:ea typeface="新細明體" panose="02020500000000000000" pitchFamily="18" charset="-120"/>
              </a:defRPr>
            </a:lvl5pPr>
            <a:lvl6pPr marL="4572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9144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1371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18288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120000"/>
              </a:lnSpc>
            </a:pPr>
            <a:r>
              <a:rPr lang="en-US" altLang="zh-TW" sz="2800" b="1" i="1">
                <a:solidFill>
                  <a:srgbClr val="CC3300"/>
                </a:solidFill>
                <a:ea typeface="標楷體" pitchFamily="65" charset="-120"/>
              </a:rPr>
              <a:t>Generate PKG Diagram</a:t>
            </a:r>
          </a:p>
        </p:txBody>
      </p:sp>
      <p:grpSp>
        <p:nvGrpSpPr>
          <p:cNvPr id="968708" name="Group 4">
            <a:extLst>
              <a:ext uri="{FF2B5EF4-FFF2-40B4-BE49-F238E27FC236}">
                <a16:creationId xmlns:a16="http://schemas.microsoft.com/office/drawing/2014/main" id="{6EDB9E37-54F0-98CA-5B73-E3E205BF4CA5}"/>
              </a:ext>
            </a:extLst>
          </p:cNvPr>
          <p:cNvGrpSpPr>
            <a:grpSpLocks/>
          </p:cNvGrpSpPr>
          <p:nvPr/>
        </p:nvGrpSpPr>
        <p:grpSpPr bwMode="auto">
          <a:xfrm>
            <a:off x="4114800" y="1752600"/>
            <a:ext cx="5562600" cy="4854575"/>
            <a:chOff x="2373" y="1194"/>
            <a:chExt cx="3031" cy="3058"/>
          </a:xfrm>
        </p:grpSpPr>
        <p:grpSp>
          <p:nvGrpSpPr>
            <p:cNvPr id="968709" name="Group 5">
              <a:extLst>
                <a:ext uri="{FF2B5EF4-FFF2-40B4-BE49-F238E27FC236}">
                  <a16:creationId xmlns:a16="http://schemas.microsoft.com/office/drawing/2014/main" id="{5683E89D-F8EE-D93D-E8DB-D5B09F0AB411}"/>
                </a:ext>
              </a:extLst>
            </p:cNvPr>
            <p:cNvGrpSpPr>
              <a:grpSpLocks/>
            </p:cNvGrpSpPr>
            <p:nvPr/>
          </p:nvGrpSpPr>
          <p:grpSpPr bwMode="auto">
            <a:xfrm>
              <a:off x="2373" y="1194"/>
              <a:ext cx="3031" cy="3058"/>
              <a:chOff x="1385" y="1203"/>
              <a:chExt cx="3031" cy="3058"/>
            </a:xfrm>
          </p:grpSpPr>
          <p:pic>
            <p:nvPicPr>
              <p:cNvPr id="968710" name="Picture 6">
                <a:extLst>
                  <a:ext uri="{FF2B5EF4-FFF2-40B4-BE49-F238E27FC236}">
                    <a16:creationId xmlns:a16="http://schemas.microsoft.com/office/drawing/2014/main" id="{5C47EC46-B995-6F36-8485-3EA131A461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 y="1203"/>
                <a:ext cx="3031" cy="3058"/>
              </a:xfrm>
              <a:prstGeom prst="rect">
                <a:avLst/>
              </a:prstGeom>
              <a:noFill/>
              <a:extLst>
                <a:ext uri="{909E8E84-426E-40DD-AFC4-6F175D3DCCD1}">
                  <a14:hiddenFill xmlns:a14="http://schemas.microsoft.com/office/drawing/2010/main">
                    <a:solidFill>
                      <a:srgbClr val="FFFFFF"/>
                    </a:solidFill>
                  </a14:hiddenFill>
                </a:ext>
              </a:extLst>
            </p:spPr>
          </p:pic>
          <p:sp>
            <p:nvSpPr>
              <p:cNvPr id="968711" name="Text Box 7">
                <a:extLst>
                  <a:ext uri="{FF2B5EF4-FFF2-40B4-BE49-F238E27FC236}">
                    <a16:creationId xmlns:a16="http://schemas.microsoft.com/office/drawing/2014/main" id="{D6AEAFC6-F9C2-2E93-B5AF-F041CAE17261}"/>
                  </a:ext>
                </a:extLst>
              </p:cNvPr>
              <p:cNvSpPr txBox="1">
                <a:spLocks noChangeArrowheads="1"/>
              </p:cNvSpPr>
              <p:nvPr/>
            </p:nvSpPr>
            <p:spPr bwMode="auto">
              <a:xfrm>
                <a:off x="2064" y="2928"/>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1400" b="1">
                    <a:solidFill>
                      <a:schemeClr val="accent2"/>
                    </a:solidFill>
                  </a:rPr>
                  <a:t>9</a:t>
                </a:r>
              </a:p>
            </p:txBody>
          </p:sp>
          <p:sp>
            <p:nvSpPr>
              <p:cNvPr id="968712" name="Text Box 8">
                <a:extLst>
                  <a:ext uri="{FF2B5EF4-FFF2-40B4-BE49-F238E27FC236}">
                    <a16:creationId xmlns:a16="http://schemas.microsoft.com/office/drawing/2014/main" id="{5ED2BF5C-09CB-203A-9650-A523C6616419}"/>
                  </a:ext>
                </a:extLst>
              </p:cNvPr>
              <p:cNvSpPr txBox="1">
                <a:spLocks noChangeArrowheads="1"/>
              </p:cNvSpPr>
              <p:nvPr/>
            </p:nvSpPr>
            <p:spPr bwMode="auto">
              <a:xfrm>
                <a:off x="2697" y="3475"/>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1400" b="1">
                    <a:solidFill>
                      <a:schemeClr val="accent2"/>
                    </a:solidFill>
                  </a:rPr>
                  <a:t>18</a:t>
                </a:r>
              </a:p>
            </p:txBody>
          </p:sp>
        </p:grpSp>
        <p:sp>
          <p:nvSpPr>
            <p:cNvPr id="968713" name="Text Box 9">
              <a:extLst>
                <a:ext uri="{FF2B5EF4-FFF2-40B4-BE49-F238E27FC236}">
                  <a16:creationId xmlns:a16="http://schemas.microsoft.com/office/drawing/2014/main" id="{C74AAC1F-B014-04A9-E39B-D64C6298C5C7}"/>
                </a:ext>
              </a:extLst>
            </p:cNvPr>
            <p:cNvSpPr txBox="1">
              <a:spLocks noChangeArrowheads="1"/>
            </p:cNvSpPr>
            <p:nvPr/>
          </p:nvSpPr>
          <p:spPr bwMode="auto">
            <a:xfrm>
              <a:off x="4468" y="2617"/>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1400" b="1">
                  <a:solidFill>
                    <a:schemeClr val="accent2"/>
                  </a:solidFill>
                </a:rPr>
                <a:t>31</a:t>
              </a:r>
            </a:p>
          </p:txBody>
        </p:sp>
      </p:grpSp>
      <p:sp>
        <p:nvSpPr>
          <p:cNvPr id="968714" name="Text Box 10">
            <a:extLst>
              <a:ext uri="{FF2B5EF4-FFF2-40B4-BE49-F238E27FC236}">
                <a16:creationId xmlns:a16="http://schemas.microsoft.com/office/drawing/2014/main" id="{4FC1630B-BB33-4362-E148-9F5DDF899A4E}"/>
              </a:ext>
            </a:extLst>
          </p:cNvPr>
          <p:cNvSpPr txBox="1">
            <a:spLocks noChangeArrowheads="1"/>
          </p:cNvSpPr>
          <p:nvPr/>
        </p:nvSpPr>
        <p:spPr bwMode="auto">
          <a:xfrm>
            <a:off x="1524000" y="1447800"/>
            <a:ext cx="6934200" cy="422275"/>
          </a:xfrm>
          <a:prstGeom prst="rect">
            <a:avLst/>
          </a:prstGeom>
          <a:solidFill>
            <a:srgbClr val="FFFF99"/>
          </a:solidFill>
          <a:ln w="25400">
            <a:solidFill>
              <a:srgbClr val="3399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2000"/>
              <a:t>Command: upad_assign  </a:t>
            </a:r>
            <a:r>
              <a:rPr lang="en-US" altLang="zh-TW" sz="2000">
                <a:solidFill>
                  <a:srgbClr val="FF0000"/>
                </a:solidFill>
              </a:rPr>
              <a:t>-package_diagram</a:t>
            </a:r>
            <a:r>
              <a:rPr lang="en-US" altLang="zh-TW" sz="2000"/>
              <a:t>  &lt;configuration_file&gt;</a:t>
            </a:r>
          </a:p>
        </p:txBody>
      </p:sp>
      <p:sp>
        <p:nvSpPr>
          <p:cNvPr id="968715" name="Text Box 11">
            <a:extLst>
              <a:ext uri="{FF2B5EF4-FFF2-40B4-BE49-F238E27FC236}">
                <a16:creationId xmlns:a16="http://schemas.microsoft.com/office/drawing/2014/main" id="{05E0C6AB-FE84-75FC-BE09-8A660FC5E484}"/>
              </a:ext>
            </a:extLst>
          </p:cNvPr>
          <p:cNvSpPr txBox="1">
            <a:spLocks noChangeArrowheads="1"/>
          </p:cNvSpPr>
          <p:nvPr/>
        </p:nvSpPr>
        <p:spPr bwMode="auto">
          <a:xfrm>
            <a:off x="1524000" y="2667000"/>
            <a:ext cx="3657600" cy="93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2200"/>
              <a:t>-  pin </a:t>
            </a:r>
            <a:r>
              <a:rPr lang="en-US" altLang="zh-TW" sz="2200">
                <a:solidFill>
                  <a:schemeClr val="accent2"/>
                </a:solidFill>
              </a:rPr>
              <a:t>31</a:t>
            </a:r>
            <a:r>
              <a:rPr lang="en-US" altLang="zh-TW" sz="2200"/>
              <a:t> is a  </a:t>
            </a:r>
          </a:p>
          <a:p>
            <a:pPr algn="l">
              <a:spcBef>
                <a:spcPct val="50000"/>
              </a:spcBef>
            </a:pPr>
            <a:r>
              <a:rPr lang="en-US" altLang="zh-TW" sz="2200"/>
              <a:t>   </a:t>
            </a:r>
            <a:r>
              <a:rPr lang="en-US" altLang="zh-TW" sz="2200">
                <a:solidFill>
                  <a:srgbClr val="FF0000"/>
                </a:solidFill>
              </a:rPr>
              <a:t>No Connection</a:t>
            </a:r>
            <a:r>
              <a:rPr lang="en-US" altLang="zh-TW" sz="2200"/>
              <a:t> pin</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CB47033F-3198-6563-CA6B-4E8DDB0E6C2A}"/>
              </a:ext>
            </a:extLst>
          </p:cNvPr>
          <p:cNvSpPr>
            <a:spLocks noGrp="1"/>
          </p:cNvSpPr>
          <p:nvPr>
            <p:ph type="sldNum" sz="quarter" idx="10"/>
          </p:nvPr>
        </p:nvSpPr>
        <p:spPr/>
        <p:txBody>
          <a:bodyPr/>
          <a:lstStyle/>
          <a:p>
            <a:fld id="{E1FB0521-FC2B-CA4A-A8EB-7FD99D26BB7E}" type="slidenum">
              <a:rPr lang="en-US" altLang="zh-TW"/>
              <a:pPr/>
              <a:t>40</a:t>
            </a:fld>
            <a:endParaRPr lang="en-US" altLang="zh-TW"/>
          </a:p>
        </p:txBody>
      </p:sp>
      <p:sp>
        <p:nvSpPr>
          <p:cNvPr id="978946" name="Rectangle 2">
            <a:extLst>
              <a:ext uri="{FF2B5EF4-FFF2-40B4-BE49-F238E27FC236}">
                <a16:creationId xmlns:a16="http://schemas.microsoft.com/office/drawing/2014/main" id="{AD0802E5-6D80-428C-3CC4-A9D00BA56AD3}"/>
              </a:ext>
            </a:extLst>
          </p:cNvPr>
          <p:cNvSpPr>
            <a:spLocks noGrp="1" noChangeArrowheads="1"/>
          </p:cNvSpPr>
          <p:nvPr>
            <p:ph type="title"/>
          </p:nvPr>
        </p:nvSpPr>
        <p:spPr/>
        <p:txBody>
          <a:bodyPr/>
          <a:lstStyle/>
          <a:p>
            <a:r>
              <a:rPr lang="en-US" altLang="zh-TW"/>
              <a:t>Pin Sequence File Example</a:t>
            </a:r>
          </a:p>
        </p:txBody>
      </p:sp>
      <p:sp>
        <p:nvSpPr>
          <p:cNvPr id="978955" name="Text Box 11">
            <a:extLst>
              <a:ext uri="{FF2B5EF4-FFF2-40B4-BE49-F238E27FC236}">
                <a16:creationId xmlns:a16="http://schemas.microsoft.com/office/drawing/2014/main" id="{2E99CBB5-7D59-B284-20CF-ACB8989A3DF8}"/>
              </a:ext>
            </a:extLst>
          </p:cNvPr>
          <p:cNvSpPr txBox="1">
            <a:spLocks noChangeArrowheads="1"/>
          </p:cNvSpPr>
          <p:nvPr/>
        </p:nvSpPr>
        <p:spPr bwMode="auto">
          <a:xfrm>
            <a:off x="776288" y="1125538"/>
            <a:ext cx="8640762" cy="512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TW">
                <a:latin typeface="Arial" panose="020B0604020202020204" pitchFamily="34" charset="0"/>
              </a:rPr>
              <a:t>PRODUCTION NO.:PROJECT0001A_A4A</a:t>
            </a:r>
            <a:br>
              <a:rPr lang="en-US" altLang="zh-TW">
                <a:latin typeface="Arial" panose="020B0604020202020204" pitchFamily="34" charset="0"/>
              </a:rPr>
            </a:br>
            <a:r>
              <a:rPr lang="en-US" altLang="zh-TW">
                <a:latin typeface="Arial" panose="020B0604020202020204" pitchFamily="34" charset="0"/>
              </a:rPr>
              <a:t>PKG_TOP_LEFT_PIN : 1</a:t>
            </a:r>
            <a:br>
              <a:rPr lang="en-US" altLang="zh-TW">
                <a:latin typeface="Arial" panose="020B0604020202020204" pitchFamily="34" charset="0"/>
              </a:rPr>
            </a:br>
            <a:r>
              <a:rPr lang="en-US" altLang="zh-TW">
                <a:latin typeface="Arial" panose="020B0604020202020204" pitchFamily="34" charset="0"/>
              </a:rPr>
              <a:t>PACKAGE : 64PQFP 16 16 16 16</a:t>
            </a:r>
            <a:br>
              <a:rPr lang="en-US" altLang="zh-TW">
                <a:latin typeface="Arial" panose="020B0604020202020204" pitchFamily="34" charset="0"/>
              </a:rPr>
            </a:br>
            <a:r>
              <a:rPr lang="en-US" altLang="zh-TW">
                <a:latin typeface="Arial" panose="020B0604020202020204" pitchFamily="34" charset="0"/>
              </a:rPr>
              <a:t>VERSION: A1_060303</a:t>
            </a:r>
            <a:br>
              <a:rPr lang="en-US" altLang="zh-TW">
                <a:latin typeface="Arial" panose="020B0604020202020204" pitchFamily="34" charset="0"/>
              </a:rPr>
            </a:br>
            <a:r>
              <a:rPr lang="en-US" altLang="zh-TW">
                <a:latin typeface="Arial" panose="020B0604020202020204" pitchFamily="34" charset="0"/>
              </a:rPr>
              <a:t>PIN_NUM 	DIE_PAD_NUM 	PIN_NAME	 IO_CELL_NAME 	LOCATION    DIRECTION    LOAD    SLEW    SSO</a:t>
            </a:r>
            <a:br>
              <a:rPr lang="en-US" altLang="zh-TW">
                <a:latin typeface="Arial" panose="020B0604020202020204" pitchFamily="34" charset="0"/>
              </a:rPr>
            </a:br>
            <a:r>
              <a:rPr lang="en-US" altLang="zh-TW">
                <a:latin typeface="Arial" panose="020B0604020202020204" pitchFamily="34" charset="0"/>
              </a:rPr>
              <a:t>1 	0 		NC 	- 		L 	- 	-         - 	-</a:t>
            </a:r>
            <a:br>
              <a:rPr lang="en-US" altLang="zh-TW">
                <a:latin typeface="Arial" panose="020B0604020202020204" pitchFamily="34" charset="0"/>
              </a:rPr>
            </a:br>
            <a:r>
              <a:rPr lang="en-US" altLang="zh-TW">
                <a:latin typeface="Arial" panose="020B0604020202020204" pitchFamily="34" charset="0"/>
              </a:rPr>
              <a:t>2 	1 		MCK 	PDXOE3DG 		L 	I 	-         2.0 	-</a:t>
            </a:r>
            <a:br>
              <a:rPr lang="en-US" altLang="zh-TW">
                <a:latin typeface="Arial" panose="020B0604020202020204" pitchFamily="34" charset="0"/>
              </a:rPr>
            </a:br>
            <a:r>
              <a:rPr lang="en-US" altLang="zh-TW">
                <a:latin typeface="Arial" panose="020B0604020202020204" pitchFamily="34" charset="0"/>
              </a:rPr>
              <a:t>3 	2 		MSI 	PDUDGZ 		L 	I 	-         2.0 	-</a:t>
            </a:r>
            <a:br>
              <a:rPr lang="en-US" altLang="zh-TW">
                <a:latin typeface="Arial" panose="020B0604020202020204" pitchFamily="34" charset="0"/>
              </a:rPr>
            </a:br>
            <a:r>
              <a:rPr lang="en-US" altLang="zh-TW">
                <a:latin typeface="Arial" panose="020B0604020202020204" pitchFamily="34" charset="0"/>
              </a:rPr>
              <a:t>4 	3 		MSO 	PDO08CDG 		L 	O 	50.0    - 	A</a:t>
            </a:r>
            <a:br>
              <a:rPr lang="en-US" altLang="zh-TW">
                <a:latin typeface="Arial" panose="020B0604020202020204" pitchFamily="34" charset="0"/>
              </a:rPr>
            </a:br>
            <a:r>
              <a:rPr lang="en-US" altLang="zh-TW">
                <a:latin typeface="Arial" panose="020B0604020202020204" pitchFamily="34" charset="0"/>
              </a:rPr>
              <a:t>5 	4 	VDD%C%VDDC01 	PVDD1DG 		L 	P 	-         - 	-</a:t>
            </a:r>
            <a:br>
              <a:rPr lang="en-US" altLang="zh-TW">
                <a:latin typeface="Arial" panose="020B0604020202020204" pitchFamily="34" charset="0"/>
              </a:rPr>
            </a:br>
            <a:r>
              <a:rPr lang="en-US" altLang="zh-TW">
                <a:latin typeface="Arial" panose="020B0604020202020204" pitchFamily="34" charset="0"/>
              </a:rPr>
              <a:t>6 	5 		MBS 	PDUDGZ 		L 	I 	-         2.0 	-</a:t>
            </a:r>
            <a:br>
              <a:rPr lang="en-US" altLang="zh-TW">
                <a:latin typeface="Arial" panose="020B0604020202020204" pitchFamily="34" charset="0"/>
              </a:rPr>
            </a:br>
            <a:r>
              <a:rPr lang="en-US" altLang="zh-TW">
                <a:latin typeface="Arial" panose="020B0604020202020204" pitchFamily="34" charset="0"/>
              </a:rPr>
              <a:t>7 	6 		MBC 	PDUDGZ 		L 	I 	-         2.0 	-</a:t>
            </a:r>
            <a:br>
              <a:rPr lang="en-US" altLang="zh-TW">
                <a:latin typeface="Arial" panose="020B0604020202020204" pitchFamily="34" charset="0"/>
              </a:rPr>
            </a:br>
            <a:r>
              <a:rPr lang="en-US" altLang="zh-TW">
                <a:solidFill>
                  <a:schemeClr val="accent2"/>
                </a:solidFill>
                <a:latin typeface="Arial" panose="020B0604020202020204" pitchFamily="34" charset="0"/>
              </a:rPr>
              <a:t>8</a:t>
            </a:r>
            <a:r>
              <a:rPr lang="en-US" altLang="zh-TW">
                <a:latin typeface="Arial" panose="020B0604020202020204" pitchFamily="34" charset="0"/>
              </a:rPr>
              <a:t> 	7 	VDDIO%IO%VDDIO01 	PVDD2DG 		L 	P 	-         - 	-</a:t>
            </a:r>
            <a:br>
              <a:rPr lang="en-US" altLang="zh-TW">
                <a:latin typeface="Arial" panose="020B0604020202020204" pitchFamily="34" charset="0"/>
              </a:rPr>
            </a:br>
            <a:r>
              <a:rPr lang="en-US" altLang="zh-TW">
                <a:solidFill>
                  <a:schemeClr val="accent2"/>
                </a:solidFill>
                <a:latin typeface="Arial" panose="020B0604020202020204" pitchFamily="34" charset="0"/>
              </a:rPr>
              <a:t>8</a:t>
            </a:r>
            <a:r>
              <a:rPr lang="en-US" altLang="zh-TW">
                <a:latin typeface="Arial" panose="020B0604020202020204" pitchFamily="34" charset="0"/>
              </a:rPr>
              <a:t>	8 	VDDIO%IO%VDDIO02 	PVDD2DG 		L 	P 	-         - 	-</a:t>
            </a:r>
            <a:br>
              <a:rPr lang="en-US" altLang="zh-TW">
                <a:latin typeface="Arial" panose="020B0604020202020204" pitchFamily="34" charset="0"/>
              </a:rPr>
            </a:br>
            <a:r>
              <a:rPr lang="en-US" altLang="zh-TW">
                <a:latin typeface="Arial" panose="020B0604020202020204" pitchFamily="34" charset="0"/>
              </a:rPr>
              <a:t>9 	9 		MBR 	PDUDGZ 		L 	I 	-         2.0 	-</a:t>
            </a:r>
            <a:br>
              <a:rPr lang="en-US" altLang="zh-TW">
                <a:latin typeface="Arial" panose="020B0604020202020204" pitchFamily="34" charset="0"/>
              </a:rPr>
            </a:br>
            <a:r>
              <a:rPr lang="en-US" altLang="zh-TW">
                <a:latin typeface="Arial" panose="020B0604020202020204" pitchFamily="34" charset="0"/>
              </a:rPr>
              <a:t>10 	10 	VSSCIO%CIO%VSSCIO01 	PVSS3DG 		L 	G 	-         - 	-</a:t>
            </a:r>
            <a:br>
              <a:rPr lang="en-US" altLang="zh-TW">
                <a:latin typeface="Arial" panose="020B0604020202020204" pitchFamily="34" charset="0"/>
              </a:rPr>
            </a:br>
            <a:r>
              <a:rPr lang="en-US" altLang="zh-TW">
                <a:latin typeface="Arial" panose="020B0604020202020204" pitchFamily="34" charset="0"/>
              </a:rPr>
              <a:t>11 	11 		MRD 	PDO08CDG 		L 	O 	50.0    - 	A</a:t>
            </a:r>
            <a:br>
              <a:rPr lang="en-US" altLang="zh-TW">
                <a:latin typeface="Arial" panose="020B0604020202020204" pitchFamily="34" charset="0"/>
              </a:rPr>
            </a:br>
            <a:r>
              <a:rPr lang="en-US" altLang="zh-TW">
                <a:latin typeface="Arial" panose="020B0604020202020204" pitchFamily="34" charset="0"/>
              </a:rPr>
              <a:t>12 	12 		MBO 	PDO08CDG 		L 	O 	50.0    - 	A</a:t>
            </a:r>
            <a:br>
              <a:rPr lang="en-US" altLang="zh-TW">
                <a:latin typeface="Arial" panose="020B0604020202020204" pitchFamily="34" charset="0"/>
              </a:rPr>
            </a:br>
            <a:r>
              <a:rPr lang="en-US" altLang="zh-TW">
                <a:latin typeface="Arial" panose="020B0604020202020204" pitchFamily="34" charset="0"/>
              </a:rPr>
              <a:t>13 	13 	VSSIO%IO%VSSIO01 	PVSS2DG 		L 	G 	-         - 	-</a:t>
            </a:r>
            <a:br>
              <a:rPr lang="en-US" altLang="zh-TW">
                <a:latin typeface="Arial" panose="020B0604020202020204" pitchFamily="34" charset="0"/>
              </a:rPr>
            </a:br>
            <a:r>
              <a:rPr lang="en-US" altLang="zh-TW">
                <a:latin typeface="Arial" panose="020B0604020202020204" pitchFamily="34" charset="0"/>
              </a:rPr>
              <a:t>14	14	 	WEB 	PDUDGZ 		L 	I 	-         2.0 	A</a:t>
            </a:r>
            <a:br>
              <a:rPr lang="en-US" altLang="zh-TW">
                <a:latin typeface="Arial" panose="020B0604020202020204" pitchFamily="34" charset="0"/>
              </a:rPr>
            </a:br>
            <a:r>
              <a:rPr lang="en-US" altLang="zh-TW">
                <a:latin typeface="Arial" panose="020B0604020202020204" pitchFamily="34" charset="0"/>
              </a:rPr>
              <a:t>15	15 		CSB 	PDUDGZ 		L 	I 	-         2.0 	A</a:t>
            </a:r>
            <a:br>
              <a:rPr lang="en-US" altLang="zh-TW">
                <a:latin typeface="Arial" panose="020B0604020202020204" pitchFamily="34" charset="0"/>
              </a:rPr>
            </a:br>
            <a:r>
              <a:rPr lang="en-US" altLang="zh-TW">
                <a:latin typeface="Arial" panose="020B0604020202020204" pitchFamily="34" charset="0"/>
              </a:rPr>
              <a:t>0	16 	                   POWERCUT01 	PRDIODE 		L 	- 	-         - 	-</a:t>
            </a:r>
            <a:br>
              <a:rPr lang="en-US" altLang="zh-TW">
                <a:latin typeface="Arial" panose="020B0604020202020204" pitchFamily="34" charset="0"/>
              </a:rPr>
            </a:br>
            <a:r>
              <a:rPr lang="en-US" altLang="zh-TW">
                <a:latin typeface="Arial" panose="020B0604020202020204" pitchFamily="34" charset="0"/>
              </a:rPr>
              <a:t>16	17 		D7 	PDUDGZ 		L 	I 	-         2.0 	B</a:t>
            </a:r>
            <a:br>
              <a:rPr lang="en-US" altLang="zh-TW">
                <a:latin typeface="Arial" panose="020B0604020202020204" pitchFamily="34" charset="0"/>
              </a:rPr>
            </a:br>
            <a:r>
              <a:rPr lang="en-US" altLang="zh-TW">
                <a:latin typeface="Arial" panose="020B0604020202020204" pitchFamily="34" charset="0"/>
              </a:rPr>
              <a:t>17	18 		D6 	PDUDGZ 		B 	I 	-         2.0 	B</a:t>
            </a:r>
            <a:br>
              <a:rPr lang="en-US" altLang="zh-TW">
                <a:latin typeface="Arial" panose="020B0604020202020204" pitchFamily="34" charset="0"/>
              </a:rPr>
            </a:br>
            <a:r>
              <a:rPr lang="en-US" altLang="zh-TW">
                <a:latin typeface="Arial" panose="020B0604020202020204" pitchFamily="34" charset="0"/>
              </a:rPr>
              <a:t>18	19 		D5 	PDUDGZ 		B 	I 	-         2.0 	B</a:t>
            </a:r>
            <a:br>
              <a:rPr lang="en-US" altLang="zh-TW">
                <a:latin typeface="Arial" panose="020B0604020202020204" pitchFamily="34" charset="0"/>
              </a:rPr>
            </a:br>
            <a:r>
              <a:rPr lang="en-US" altLang="zh-TW">
                <a:latin typeface="Arial" panose="020B0604020202020204" pitchFamily="34" charset="0"/>
              </a:rPr>
              <a:t>19 	20 		D4 	PDUDGZ 		B 	I 	-         2.0 	B</a:t>
            </a:r>
            <a:br>
              <a:rPr lang="en-US" altLang="zh-TW">
                <a:latin typeface="Arial" panose="020B0604020202020204" pitchFamily="34" charset="0"/>
              </a:rPr>
            </a:br>
            <a:r>
              <a:rPr lang="en-US" altLang="zh-TW">
                <a:latin typeface="Arial" panose="020B0604020202020204" pitchFamily="34" charset="0"/>
              </a:rPr>
              <a:t>20	21 	VDDIO%IO%VDDIO03 	PVDD2DG 		B 	P 	-         - 	-</a:t>
            </a:r>
            <a:br>
              <a:rPr lang="en-US" altLang="zh-TW">
                <a:latin typeface="Arial" panose="020B0604020202020204" pitchFamily="34" charset="0"/>
              </a:rPr>
            </a:br>
            <a:r>
              <a:rPr lang="en-US" altLang="zh-TW">
                <a:latin typeface="Arial" panose="020B0604020202020204" pitchFamily="34" charset="0"/>
              </a:rPr>
              <a:t>21 	22 		D3 	PDUDGZ 		B 	I 	-         2.0 	B</a:t>
            </a:r>
            <a:br>
              <a:rPr lang="en-US" altLang="zh-TW">
                <a:latin typeface="Arial" panose="020B0604020202020204" pitchFamily="34" charset="0"/>
              </a:rPr>
            </a:br>
            <a:r>
              <a:rPr lang="en-US" altLang="zh-TW">
                <a:latin typeface="Arial" panose="020B0604020202020204" pitchFamily="34" charset="0"/>
              </a:rPr>
              <a:t>22 	23 		D2 	PDUDGZ 		B 	I 	-         2.0 	B</a:t>
            </a:r>
            <a:br>
              <a:rPr lang="en-US" altLang="zh-TW">
                <a:latin typeface="Arial" panose="020B0604020202020204" pitchFamily="34" charset="0"/>
              </a:rPr>
            </a:br>
            <a:r>
              <a:rPr lang="en-US" altLang="zh-TW">
                <a:latin typeface="Arial" panose="020B0604020202020204" pitchFamily="34" charset="0"/>
              </a:rPr>
              <a:t>23 	24 	VSS%C%VSSC01 	PVSS1DG 		B 	G 	-         - 	-</a:t>
            </a:r>
            <a:br>
              <a:rPr lang="en-US" altLang="zh-TW">
                <a:latin typeface="Arial" panose="020B0604020202020204" pitchFamily="34" charset="0"/>
              </a:rPr>
            </a:br>
            <a:r>
              <a:rPr lang="en-US" altLang="zh-TW">
                <a:latin typeface="Arial" panose="020B0604020202020204" pitchFamily="34" charset="0"/>
              </a:rPr>
              <a:t>23 	25 	VSSIO%IO%VSSIO02 	PVSS2DG 		B 	G 	-         - 	-</a:t>
            </a:r>
            <a:br>
              <a:rPr lang="en-US" altLang="zh-TW">
                <a:latin typeface="Arial" panose="020B0604020202020204" pitchFamily="34" charset="0"/>
              </a:rPr>
            </a:br>
            <a:r>
              <a:rPr lang="en-US" altLang="zh-TW">
                <a:latin typeface="Arial" panose="020B0604020202020204" pitchFamily="34" charset="0"/>
              </a:rPr>
              <a:t>24 	26 		D1 	PDUDGZ 		B 	I 	-         2.0 	B</a:t>
            </a:r>
            <a:br>
              <a:rPr lang="en-US" altLang="zh-TW">
                <a:latin typeface="Arial" panose="020B0604020202020204" pitchFamily="34" charset="0"/>
              </a:rPr>
            </a:br>
            <a:endParaRPr lang="en-US" altLang="zh-TW">
              <a:latin typeface="Arial" panose="020B0604020202020204" pitchFamily="34" charset="0"/>
            </a:endParaRPr>
          </a:p>
        </p:txBody>
      </p:sp>
      <p:sp>
        <p:nvSpPr>
          <p:cNvPr id="978956" name="Rectangle 12">
            <a:extLst>
              <a:ext uri="{FF2B5EF4-FFF2-40B4-BE49-F238E27FC236}">
                <a16:creationId xmlns:a16="http://schemas.microsoft.com/office/drawing/2014/main" id="{2940C859-6972-D1EE-30A4-47317B173B80}"/>
              </a:ext>
            </a:extLst>
          </p:cNvPr>
          <p:cNvSpPr>
            <a:spLocks noChangeArrowheads="1"/>
          </p:cNvSpPr>
          <p:nvPr/>
        </p:nvSpPr>
        <p:spPr bwMode="auto">
          <a:xfrm>
            <a:off x="560388" y="2997200"/>
            <a:ext cx="647700" cy="287338"/>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78958" name="Rectangle 14">
            <a:extLst>
              <a:ext uri="{FF2B5EF4-FFF2-40B4-BE49-F238E27FC236}">
                <a16:creationId xmlns:a16="http://schemas.microsoft.com/office/drawing/2014/main" id="{6F17F6C7-73FD-600D-0ACD-234A48A571AB}"/>
              </a:ext>
            </a:extLst>
          </p:cNvPr>
          <p:cNvSpPr>
            <a:spLocks noChangeArrowheads="1"/>
          </p:cNvSpPr>
          <p:nvPr/>
        </p:nvSpPr>
        <p:spPr bwMode="auto">
          <a:xfrm>
            <a:off x="560388" y="4365625"/>
            <a:ext cx="3887787" cy="142875"/>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78959" name="Rectangle 15">
            <a:extLst>
              <a:ext uri="{FF2B5EF4-FFF2-40B4-BE49-F238E27FC236}">
                <a16:creationId xmlns:a16="http://schemas.microsoft.com/office/drawing/2014/main" id="{ADF8A16E-A9BC-721F-1D4B-A813BF048186}"/>
              </a:ext>
            </a:extLst>
          </p:cNvPr>
          <p:cNvSpPr>
            <a:spLocks noChangeArrowheads="1"/>
          </p:cNvSpPr>
          <p:nvPr/>
        </p:nvSpPr>
        <p:spPr bwMode="auto">
          <a:xfrm>
            <a:off x="1712913" y="1916113"/>
            <a:ext cx="647700" cy="144462"/>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rgbClr val="4EA84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78961" name="Text Box 17">
            <a:extLst>
              <a:ext uri="{FF2B5EF4-FFF2-40B4-BE49-F238E27FC236}">
                <a16:creationId xmlns:a16="http://schemas.microsoft.com/office/drawing/2014/main" id="{5333E8A0-00C2-B068-6069-54E7ECA7D251}"/>
              </a:ext>
            </a:extLst>
          </p:cNvPr>
          <p:cNvSpPr txBox="1">
            <a:spLocks noChangeArrowheads="1"/>
          </p:cNvSpPr>
          <p:nvPr/>
        </p:nvSpPr>
        <p:spPr bwMode="auto">
          <a:xfrm>
            <a:off x="0" y="2565400"/>
            <a:ext cx="558800" cy="549275"/>
          </a:xfrm>
          <a:prstGeom prst="rect">
            <a:avLst/>
          </a:prstGeom>
          <a:noFill/>
          <a:ln>
            <a:noFill/>
          </a:ln>
          <a:effectLst/>
          <a:extLst>
            <a:ext uri="{909E8E84-426E-40DD-AFC4-6F175D3DCCD1}">
              <a14:hiddenFill xmlns:a14="http://schemas.microsoft.com/office/drawing/2010/main">
                <a:gradFill rotWithShape="0">
                  <a:gsLst>
                    <a:gs pos="0">
                      <a:srgbClr val="4EA844"/>
                    </a:gs>
                    <a:gs pos="100000">
                      <a:srgbClr val="D2E69E"/>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a:solidFill>
                  <a:schemeClr val="accent2"/>
                </a:solidFill>
              </a:rPr>
              <a:t>Double</a:t>
            </a:r>
          </a:p>
          <a:p>
            <a:r>
              <a:rPr lang="en-US" altLang="zh-TW">
                <a:solidFill>
                  <a:schemeClr val="accent2"/>
                </a:solidFill>
              </a:rPr>
              <a:t>Bound</a:t>
            </a:r>
          </a:p>
          <a:p>
            <a:r>
              <a:rPr lang="en-US" altLang="zh-TW">
                <a:solidFill>
                  <a:schemeClr val="accent2"/>
                </a:solidFill>
              </a:rPr>
              <a:t>Pin</a:t>
            </a:r>
          </a:p>
        </p:txBody>
      </p:sp>
      <p:sp>
        <p:nvSpPr>
          <p:cNvPr id="978962" name="Text Box 18">
            <a:extLst>
              <a:ext uri="{FF2B5EF4-FFF2-40B4-BE49-F238E27FC236}">
                <a16:creationId xmlns:a16="http://schemas.microsoft.com/office/drawing/2014/main" id="{F5105937-D830-2273-6A61-57813F933F4F}"/>
              </a:ext>
            </a:extLst>
          </p:cNvPr>
          <p:cNvSpPr txBox="1">
            <a:spLocks noChangeArrowheads="1"/>
          </p:cNvSpPr>
          <p:nvPr/>
        </p:nvSpPr>
        <p:spPr bwMode="auto">
          <a:xfrm>
            <a:off x="2432050" y="4149725"/>
            <a:ext cx="522288" cy="549275"/>
          </a:xfrm>
          <a:prstGeom prst="rect">
            <a:avLst/>
          </a:prstGeom>
          <a:noFill/>
          <a:ln>
            <a:noFill/>
          </a:ln>
          <a:effectLst/>
          <a:extLst>
            <a:ext uri="{909E8E84-426E-40DD-AFC4-6F175D3DCCD1}">
              <a14:hiddenFill xmlns:a14="http://schemas.microsoft.com/office/drawing/2010/main">
                <a:gradFill rotWithShape="0">
                  <a:gsLst>
                    <a:gs pos="0">
                      <a:srgbClr val="4EA844"/>
                    </a:gs>
                    <a:gs pos="100000">
                      <a:srgbClr val="D2E69E"/>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a:solidFill>
                  <a:schemeClr val="accent2"/>
                </a:solidFill>
              </a:rPr>
              <a:t>Don’t</a:t>
            </a:r>
          </a:p>
          <a:p>
            <a:r>
              <a:rPr lang="en-US" altLang="zh-TW">
                <a:solidFill>
                  <a:schemeClr val="accent2"/>
                </a:solidFill>
              </a:rPr>
              <a:t>Bound</a:t>
            </a:r>
          </a:p>
          <a:p>
            <a:r>
              <a:rPr lang="en-US" altLang="zh-TW">
                <a:solidFill>
                  <a:schemeClr val="accent2"/>
                </a:solidFill>
              </a:rPr>
              <a:t>Pad</a:t>
            </a:r>
          </a:p>
        </p:txBody>
      </p:sp>
      <p:sp>
        <p:nvSpPr>
          <p:cNvPr id="978963" name="Text Box 19">
            <a:extLst>
              <a:ext uri="{FF2B5EF4-FFF2-40B4-BE49-F238E27FC236}">
                <a16:creationId xmlns:a16="http://schemas.microsoft.com/office/drawing/2014/main" id="{128E20B3-F8EA-1900-56D1-69E8D0613747}"/>
              </a:ext>
            </a:extLst>
          </p:cNvPr>
          <p:cNvSpPr txBox="1">
            <a:spLocks noChangeArrowheads="1"/>
          </p:cNvSpPr>
          <p:nvPr/>
        </p:nvSpPr>
        <p:spPr bwMode="auto">
          <a:xfrm>
            <a:off x="2360613" y="1916113"/>
            <a:ext cx="1008062" cy="396875"/>
          </a:xfrm>
          <a:prstGeom prst="rect">
            <a:avLst/>
          </a:prstGeom>
          <a:noFill/>
          <a:ln>
            <a:noFill/>
          </a:ln>
          <a:effectLst/>
          <a:extLst>
            <a:ext uri="{909E8E84-426E-40DD-AFC4-6F175D3DCCD1}">
              <a14:hiddenFill xmlns:a14="http://schemas.microsoft.com/office/drawing/2010/main">
                <a:gradFill rotWithShape="0">
                  <a:gsLst>
                    <a:gs pos="0">
                      <a:srgbClr val="4EA844"/>
                    </a:gs>
                    <a:gs pos="100000">
                      <a:srgbClr val="D2E69E"/>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TW">
                <a:solidFill>
                  <a:schemeClr val="accent2"/>
                </a:solidFill>
              </a:rPr>
              <a:t>Not connection Pin</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23DAA9DB-57E9-5DA5-A5E3-7E01BEC1B2F3}"/>
              </a:ext>
            </a:extLst>
          </p:cNvPr>
          <p:cNvSpPr>
            <a:spLocks noGrp="1"/>
          </p:cNvSpPr>
          <p:nvPr>
            <p:ph type="sldNum" sz="quarter" idx="10"/>
          </p:nvPr>
        </p:nvSpPr>
        <p:spPr/>
        <p:txBody>
          <a:bodyPr/>
          <a:lstStyle/>
          <a:p>
            <a:fld id="{B57BBBFF-553B-6744-B662-5874554FA1E6}" type="slidenum">
              <a:rPr lang="en-US" altLang="zh-TW"/>
              <a:pPr/>
              <a:t>41</a:t>
            </a:fld>
            <a:endParaRPr lang="en-US" altLang="zh-TW"/>
          </a:p>
        </p:txBody>
      </p:sp>
      <p:sp>
        <p:nvSpPr>
          <p:cNvPr id="969730" name="Rectangle 2">
            <a:extLst>
              <a:ext uri="{FF2B5EF4-FFF2-40B4-BE49-F238E27FC236}">
                <a16:creationId xmlns:a16="http://schemas.microsoft.com/office/drawing/2014/main" id="{CB583648-7173-2370-E7FA-83FBF8728306}"/>
              </a:ext>
            </a:extLst>
          </p:cNvPr>
          <p:cNvSpPr>
            <a:spLocks noGrp="1" noChangeArrowheads="1"/>
          </p:cNvSpPr>
          <p:nvPr>
            <p:ph type="body" idx="1"/>
          </p:nvPr>
        </p:nvSpPr>
        <p:spPr>
          <a:xfrm>
            <a:off x="992188" y="1125538"/>
            <a:ext cx="8221662" cy="4648200"/>
          </a:xfrm>
        </p:spPr>
        <p:txBody>
          <a:bodyPr/>
          <a:lstStyle/>
          <a:p>
            <a:pPr>
              <a:lnSpc>
                <a:spcPct val="100000"/>
              </a:lnSpc>
              <a:buFontTx/>
              <a:buNone/>
            </a:pPr>
            <a:r>
              <a:rPr lang="en-US" altLang="zh-TW" sz="2800" i="1">
                <a:solidFill>
                  <a:srgbClr val="CC3300"/>
                </a:solidFill>
                <a:latin typeface="Times New Roman" panose="02020603050405020304" pitchFamily="18" charset="0"/>
                <a:ea typeface="新細明體" panose="02020500000000000000" pitchFamily="18" charset="-120"/>
              </a:rPr>
              <a:t>General Notices</a:t>
            </a:r>
          </a:p>
          <a:p>
            <a:pPr>
              <a:lnSpc>
                <a:spcPct val="100000"/>
              </a:lnSpc>
              <a:buFontTx/>
              <a:buNone/>
            </a:pPr>
            <a:r>
              <a:rPr lang="en-US" altLang="zh-TW" b="0">
                <a:latin typeface="Times New Roman" panose="02020603050405020304" pitchFamily="18" charset="0"/>
                <a:ea typeface="新細明體" panose="02020500000000000000" pitchFamily="18" charset="-120"/>
              </a:rPr>
              <a:t>-  All statements are </a:t>
            </a:r>
            <a:r>
              <a:rPr lang="en-US" altLang="zh-TW">
                <a:solidFill>
                  <a:srgbClr val="FF0000"/>
                </a:solidFill>
                <a:latin typeface="Times New Roman" panose="02020603050405020304" pitchFamily="18" charset="0"/>
                <a:ea typeface="新細明體" panose="02020500000000000000" pitchFamily="18" charset="-120"/>
              </a:rPr>
              <a:t>case sensitive</a:t>
            </a:r>
            <a:r>
              <a:rPr lang="en-US" altLang="zh-TW" b="0">
                <a:solidFill>
                  <a:srgbClr val="FF0000"/>
                </a:solidFill>
                <a:latin typeface="Times New Roman" panose="02020603050405020304" pitchFamily="18" charset="0"/>
                <a:ea typeface="新細明體" panose="02020500000000000000" pitchFamily="18" charset="-120"/>
              </a:rPr>
              <a:t>.</a:t>
            </a:r>
          </a:p>
          <a:p>
            <a:pPr>
              <a:lnSpc>
                <a:spcPct val="100000"/>
              </a:lnSpc>
              <a:buFontTx/>
              <a:buChar char="-"/>
            </a:pPr>
            <a:r>
              <a:rPr lang="en-US" altLang="zh-TW" b="0">
                <a:latin typeface="Times New Roman" panose="02020603050405020304" pitchFamily="18" charset="0"/>
                <a:ea typeface="新細明體" panose="02020500000000000000" pitchFamily="18" charset="-120"/>
              </a:rPr>
              <a:t>  The default time &amp; capacitance units are (</a:t>
            </a:r>
            <a:r>
              <a:rPr lang="en-US" altLang="zh-TW" b="0">
                <a:solidFill>
                  <a:srgbClr val="FF0000"/>
                </a:solidFill>
                <a:latin typeface="Times New Roman" panose="02020603050405020304" pitchFamily="18" charset="0"/>
                <a:ea typeface="新細明體" panose="02020500000000000000" pitchFamily="18" charset="-120"/>
              </a:rPr>
              <a:t>ns</a:t>
            </a:r>
            <a:r>
              <a:rPr lang="en-US" altLang="zh-TW" b="0">
                <a:latin typeface="Times New Roman" panose="02020603050405020304" pitchFamily="18" charset="0"/>
                <a:ea typeface="新細明體" panose="02020500000000000000" pitchFamily="18" charset="-120"/>
              </a:rPr>
              <a:t>) &amp; (</a:t>
            </a:r>
            <a:r>
              <a:rPr lang="en-US" altLang="zh-TW" b="0">
                <a:solidFill>
                  <a:srgbClr val="FF0000"/>
                </a:solidFill>
                <a:latin typeface="Times New Roman" panose="02020603050405020304" pitchFamily="18" charset="0"/>
                <a:ea typeface="新細明體" panose="02020500000000000000" pitchFamily="18" charset="-120"/>
              </a:rPr>
              <a:t>pf</a:t>
            </a:r>
            <a:r>
              <a:rPr lang="en-US" altLang="zh-TW" b="0">
                <a:latin typeface="Times New Roman" panose="02020603050405020304" pitchFamily="18" charset="0"/>
                <a:ea typeface="新細明體" panose="02020500000000000000" pitchFamily="18" charset="-120"/>
              </a:rPr>
              <a:t>) ,</a:t>
            </a:r>
          </a:p>
          <a:p>
            <a:pPr>
              <a:lnSpc>
                <a:spcPct val="100000"/>
              </a:lnSpc>
              <a:buFontTx/>
              <a:buNone/>
            </a:pPr>
            <a:r>
              <a:rPr lang="en-US" altLang="zh-TW" b="0">
                <a:latin typeface="Times New Roman" panose="02020603050405020304" pitchFamily="18" charset="0"/>
                <a:ea typeface="新細明體" panose="02020500000000000000" pitchFamily="18" charset="-120"/>
              </a:rPr>
              <a:t>    respectively.</a:t>
            </a:r>
          </a:p>
          <a:p>
            <a:pPr>
              <a:lnSpc>
                <a:spcPct val="100000"/>
              </a:lnSpc>
              <a:buFontTx/>
              <a:buNone/>
            </a:pPr>
            <a:r>
              <a:rPr lang="en-US" altLang="zh-TW" b="0">
                <a:latin typeface="Times New Roman" panose="02020603050405020304" pitchFamily="18" charset="0"/>
                <a:ea typeface="新細明體" panose="02020500000000000000" pitchFamily="18" charset="-120"/>
              </a:rPr>
              <a:t>-  Reserved keywords :</a:t>
            </a:r>
            <a:endParaRPr lang="en-US" altLang="zh-TW" i="1">
              <a:latin typeface="Times New Roman" panose="02020603050405020304" pitchFamily="18" charset="0"/>
              <a:ea typeface="新細明體" panose="02020500000000000000" pitchFamily="18" charset="-120"/>
            </a:endParaRPr>
          </a:p>
          <a:p>
            <a:pPr>
              <a:lnSpc>
                <a:spcPct val="100000"/>
              </a:lnSpc>
              <a:buFontTx/>
              <a:buNone/>
            </a:pPr>
            <a:r>
              <a:rPr lang="en-US" altLang="zh-TW" i="1">
                <a:latin typeface="Times New Roman" panose="02020603050405020304" pitchFamily="18" charset="0"/>
                <a:ea typeface="新細明體" panose="02020500000000000000" pitchFamily="18" charset="-120"/>
              </a:rPr>
              <a:t>   </a:t>
            </a:r>
            <a:r>
              <a:rPr lang="en-US" altLang="zh-TW" sz="2000" i="1">
                <a:solidFill>
                  <a:schemeClr val="accent2"/>
                </a:solidFill>
                <a:latin typeface="Times New Roman" panose="02020603050405020304" pitchFamily="18" charset="0"/>
                <a:ea typeface="新細明體" panose="02020500000000000000" pitchFamily="18" charset="-120"/>
              </a:rPr>
              <a:t>PACKAGE_TOP_LEFT_PIN, PACKAGE , VERSION, PIN_NUM , DIE_PAD_NUMBER, PIN_NAME , IO_CELL_NAME , LOCATION , DIRECTION , LOAD , SLEW , SSO , POWERCUT , NC</a:t>
            </a:r>
            <a:r>
              <a:rPr lang="en-US" altLang="zh-TW" sz="2000" b="0">
                <a:solidFill>
                  <a:schemeClr val="accent2"/>
                </a:solidFill>
                <a:latin typeface="Times New Roman" panose="02020603050405020304" pitchFamily="18" charset="0"/>
                <a:ea typeface="新細明體" panose="02020500000000000000" pitchFamily="18" charset="-120"/>
              </a:rPr>
              <a:t>.</a:t>
            </a:r>
          </a:p>
          <a:p>
            <a:pPr>
              <a:lnSpc>
                <a:spcPct val="100000"/>
              </a:lnSpc>
              <a:buFontTx/>
              <a:buNone/>
            </a:pPr>
            <a:r>
              <a:rPr lang="en-US" altLang="zh-TW" b="0">
                <a:latin typeface="Times New Roman" panose="02020603050405020304" pitchFamily="18" charset="0"/>
                <a:ea typeface="新細明體" panose="02020500000000000000" pitchFamily="18" charset="-120"/>
              </a:rPr>
              <a:t>-  Reserved character: “ </a:t>
            </a:r>
            <a:r>
              <a:rPr lang="en-US" altLang="zh-TW" b="0">
                <a:solidFill>
                  <a:srgbClr val="FF0000"/>
                </a:solidFill>
                <a:latin typeface="Times New Roman" panose="02020603050405020304" pitchFamily="18" charset="0"/>
                <a:ea typeface="新細明體" panose="02020500000000000000" pitchFamily="18" charset="-120"/>
              </a:rPr>
              <a:t>%</a:t>
            </a:r>
            <a:r>
              <a:rPr lang="en-US" altLang="zh-TW" b="0">
                <a:latin typeface="Times New Roman" panose="02020603050405020304" pitchFamily="18" charset="0"/>
                <a:ea typeface="新細明體" panose="02020500000000000000" pitchFamily="18" charset="-120"/>
              </a:rPr>
              <a:t> ” , “ </a:t>
            </a:r>
            <a:r>
              <a:rPr lang="en-US" altLang="zh-TW">
                <a:solidFill>
                  <a:srgbClr val="FF0000"/>
                </a:solidFill>
                <a:latin typeface="Times New Roman" panose="02020603050405020304" pitchFamily="18" charset="0"/>
                <a:ea typeface="新細明體" panose="02020500000000000000" pitchFamily="18" charset="-120"/>
              </a:rPr>
              <a:t>/</a:t>
            </a:r>
            <a:r>
              <a:rPr lang="en-US" altLang="zh-TW" b="0">
                <a:latin typeface="Times New Roman" panose="02020603050405020304" pitchFamily="18" charset="0"/>
                <a:ea typeface="新細明體" panose="02020500000000000000" pitchFamily="18" charset="-120"/>
              </a:rPr>
              <a:t> ”.</a:t>
            </a:r>
          </a:p>
          <a:p>
            <a:endParaRPr lang="en-US" altLang="zh-TW"/>
          </a:p>
        </p:txBody>
      </p:sp>
      <p:sp>
        <p:nvSpPr>
          <p:cNvPr id="969731" name="Rectangle 3">
            <a:extLst>
              <a:ext uri="{FF2B5EF4-FFF2-40B4-BE49-F238E27FC236}">
                <a16:creationId xmlns:a16="http://schemas.microsoft.com/office/drawing/2014/main" id="{71B98E12-0C74-6CE8-E9FD-B0FE8BE0EED9}"/>
              </a:ext>
            </a:extLst>
          </p:cNvPr>
          <p:cNvSpPr>
            <a:spLocks noGrp="1" noChangeArrowheads="1"/>
          </p:cNvSpPr>
          <p:nvPr>
            <p:ph type="title"/>
          </p:nvPr>
        </p:nvSpPr>
        <p:spPr/>
        <p:txBody>
          <a:bodyPr/>
          <a:lstStyle/>
          <a:p>
            <a:r>
              <a:rPr lang="en-US" altLang="zh-TW"/>
              <a:t>How to write pin sequence file</a:t>
            </a:r>
          </a:p>
        </p:txBody>
      </p:sp>
      <p:sp>
        <p:nvSpPr>
          <p:cNvPr id="969732" name="AutoShape 4">
            <a:extLst>
              <a:ext uri="{FF2B5EF4-FFF2-40B4-BE49-F238E27FC236}">
                <a16:creationId xmlns:a16="http://schemas.microsoft.com/office/drawing/2014/main" id="{EB5ED81A-A748-7A0C-C7A3-8B295F761B21}"/>
              </a:ext>
            </a:extLst>
          </p:cNvPr>
          <p:cNvSpPr>
            <a:spLocks noChangeArrowheads="1"/>
          </p:cNvSpPr>
          <p:nvPr/>
        </p:nvSpPr>
        <p:spPr bwMode="auto">
          <a:xfrm flipH="1" flipV="1">
            <a:off x="2576513" y="5734050"/>
            <a:ext cx="2286000" cy="533400"/>
          </a:xfrm>
          <a:prstGeom prst="wedgeRectCallout">
            <a:avLst>
              <a:gd name="adj1" fmla="val -19514"/>
              <a:gd name="adj2" fmla="val 90773"/>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p>
            <a:r>
              <a:rPr lang="en-US" altLang="zh-TW" sz="1400">
                <a:solidFill>
                  <a:srgbClr val="FF0000"/>
                </a:solidFill>
              </a:rPr>
              <a:t>For power &amp; ground</a:t>
            </a:r>
          </a:p>
          <a:p>
            <a:r>
              <a:rPr lang="en-US" altLang="zh-TW" sz="1400">
                <a:solidFill>
                  <a:srgbClr val="FF0000"/>
                </a:solidFill>
              </a:rPr>
              <a:t>Ex:VDDIO%IO%VDDIO01</a:t>
            </a:r>
          </a:p>
        </p:txBody>
      </p:sp>
      <p:sp>
        <p:nvSpPr>
          <p:cNvPr id="969733" name="AutoShape 5">
            <a:extLst>
              <a:ext uri="{FF2B5EF4-FFF2-40B4-BE49-F238E27FC236}">
                <a16:creationId xmlns:a16="http://schemas.microsoft.com/office/drawing/2014/main" id="{4028ACD9-F25C-BB7B-1A98-73A71324B639}"/>
              </a:ext>
            </a:extLst>
          </p:cNvPr>
          <p:cNvSpPr>
            <a:spLocks noChangeArrowheads="1"/>
          </p:cNvSpPr>
          <p:nvPr/>
        </p:nvSpPr>
        <p:spPr bwMode="auto">
          <a:xfrm flipH="1" flipV="1">
            <a:off x="5313363" y="5734050"/>
            <a:ext cx="2209800" cy="533400"/>
          </a:xfrm>
          <a:prstGeom prst="wedgeRectCallout">
            <a:avLst>
              <a:gd name="adj1" fmla="val 64005"/>
              <a:gd name="adj2" fmla="val 85116"/>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p>
            <a:r>
              <a:rPr lang="en-US" altLang="zh-TW" sz="1400">
                <a:solidFill>
                  <a:srgbClr val="FF0000"/>
                </a:solidFill>
              </a:rPr>
              <a:t>For muxed pin</a:t>
            </a:r>
          </a:p>
          <a:p>
            <a:r>
              <a:rPr lang="en-US" altLang="zh-TW" sz="1400">
                <a:solidFill>
                  <a:srgbClr val="FF0000"/>
                </a:solidFill>
              </a:rPr>
              <a:t>Ex: BIST_E/RTE_HL</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9732"/>
                                        </p:tgtEl>
                                        <p:attrNameLst>
                                          <p:attrName>style.visibility</p:attrName>
                                        </p:attrNameLst>
                                      </p:cBhvr>
                                      <p:to>
                                        <p:strVal val="visible"/>
                                      </p:to>
                                    </p:set>
                                    <p:anim calcmode="lin" valueType="num">
                                      <p:cBhvr additive="base">
                                        <p:cTn id="7" dur="500" fill="hold"/>
                                        <p:tgtEl>
                                          <p:spTgt spid="969732"/>
                                        </p:tgtEl>
                                        <p:attrNameLst>
                                          <p:attrName>ppt_x</p:attrName>
                                        </p:attrNameLst>
                                      </p:cBhvr>
                                      <p:tavLst>
                                        <p:tav tm="0">
                                          <p:val>
                                            <p:strVal val="0-#ppt_w/2"/>
                                          </p:val>
                                        </p:tav>
                                        <p:tav tm="100000">
                                          <p:val>
                                            <p:strVal val="#ppt_x"/>
                                          </p:val>
                                        </p:tav>
                                      </p:tavLst>
                                    </p:anim>
                                    <p:anim calcmode="lin" valueType="num">
                                      <p:cBhvr additive="base">
                                        <p:cTn id="8" dur="500" fill="hold"/>
                                        <p:tgtEl>
                                          <p:spTgt spid="96973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69733"/>
                                        </p:tgtEl>
                                        <p:attrNameLst>
                                          <p:attrName>style.visibility</p:attrName>
                                        </p:attrNameLst>
                                      </p:cBhvr>
                                      <p:to>
                                        <p:strVal val="visible"/>
                                      </p:to>
                                    </p:set>
                                    <p:anim calcmode="lin" valueType="num">
                                      <p:cBhvr additive="base">
                                        <p:cTn id="13" dur="500" fill="hold"/>
                                        <p:tgtEl>
                                          <p:spTgt spid="969733"/>
                                        </p:tgtEl>
                                        <p:attrNameLst>
                                          <p:attrName>ppt_x</p:attrName>
                                        </p:attrNameLst>
                                      </p:cBhvr>
                                      <p:tavLst>
                                        <p:tav tm="0">
                                          <p:val>
                                            <p:strVal val="0-#ppt_w/2"/>
                                          </p:val>
                                        </p:tav>
                                        <p:tav tm="100000">
                                          <p:val>
                                            <p:strVal val="#ppt_x"/>
                                          </p:val>
                                        </p:tav>
                                      </p:tavLst>
                                    </p:anim>
                                    <p:anim calcmode="lin" valueType="num">
                                      <p:cBhvr additive="base">
                                        <p:cTn id="14" dur="500" fill="hold"/>
                                        <p:tgtEl>
                                          <p:spTgt spid="9697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9732" grpId="0" animBg="1" autoUpdateAnimBg="0"/>
      <p:bldP spid="969733"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A450AA83-83DF-67CF-8E99-6FFBC8E63FBD}"/>
              </a:ext>
            </a:extLst>
          </p:cNvPr>
          <p:cNvSpPr>
            <a:spLocks noGrp="1"/>
          </p:cNvSpPr>
          <p:nvPr>
            <p:ph type="sldNum" sz="quarter" idx="10"/>
          </p:nvPr>
        </p:nvSpPr>
        <p:spPr/>
        <p:txBody>
          <a:bodyPr/>
          <a:lstStyle/>
          <a:p>
            <a:fld id="{37F628E9-30CD-C044-93D0-6572B7CC8949}" type="slidenum">
              <a:rPr lang="en-US" altLang="zh-TW"/>
              <a:pPr/>
              <a:t>42</a:t>
            </a:fld>
            <a:endParaRPr lang="en-US" altLang="zh-TW"/>
          </a:p>
        </p:txBody>
      </p:sp>
      <p:sp>
        <p:nvSpPr>
          <p:cNvPr id="970754" name="Rectangle 2">
            <a:extLst>
              <a:ext uri="{FF2B5EF4-FFF2-40B4-BE49-F238E27FC236}">
                <a16:creationId xmlns:a16="http://schemas.microsoft.com/office/drawing/2014/main" id="{D9F44500-A459-D200-57F8-8E82177AE6FC}"/>
              </a:ext>
            </a:extLst>
          </p:cNvPr>
          <p:cNvSpPr>
            <a:spLocks noGrp="1" noChangeArrowheads="1"/>
          </p:cNvSpPr>
          <p:nvPr>
            <p:ph type="title"/>
          </p:nvPr>
        </p:nvSpPr>
        <p:spPr>
          <a:xfrm>
            <a:off x="533400" y="228600"/>
            <a:ext cx="8740775" cy="685800"/>
          </a:xfrm>
        </p:spPr>
        <p:txBody>
          <a:bodyPr/>
          <a:lstStyle/>
          <a:p>
            <a:r>
              <a:rPr lang="en-US" altLang="zh-TW"/>
              <a:t>How to write pin sequence file (cont.)</a:t>
            </a:r>
          </a:p>
        </p:txBody>
      </p:sp>
      <p:sp>
        <p:nvSpPr>
          <p:cNvPr id="970755" name="Rectangle 3">
            <a:extLst>
              <a:ext uri="{FF2B5EF4-FFF2-40B4-BE49-F238E27FC236}">
                <a16:creationId xmlns:a16="http://schemas.microsoft.com/office/drawing/2014/main" id="{99FC7230-CADC-917C-7946-23E4EBC98C1C}"/>
              </a:ext>
            </a:extLst>
          </p:cNvPr>
          <p:cNvSpPr>
            <a:spLocks noChangeArrowheads="1"/>
          </p:cNvSpPr>
          <p:nvPr/>
        </p:nvSpPr>
        <p:spPr bwMode="auto">
          <a:xfrm>
            <a:off x="762000" y="990600"/>
            <a:ext cx="5924550"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kumimoji="1" sz="2400">
                <a:solidFill>
                  <a:schemeClr val="tx1"/>
                </a:solidFill>
                <a:latin typeface="Times New Roman" panose="02020603050405020304" pitchFamily="18" charset="0"/>
                <a:ea typeface="新細明體" panose="02020500000000000000" pitchFamily="18" charset="-120"/>
              </a:defRPr>
            </a:lvl1pPr>
            <a:lvl2pPr algn="l">
              <a:defRPr kumimoji="1" sz="2400">
                <a:solidFill>
                  <a:schemeClr val="tx1"/>
                </a:solidFill>
                <a:latin typeface="Times New Roman" panose="02020603050405020304" pitchFamily="18" charset="0"/>
                <a:ea typeface="新細明體" panose="02020500000000000000" pitchFamily="18" charset="-120"/>
              </a:defRPr>
            </a:lvl2pPr>
            <a:lvl3pPr algn="l">
              <a:defRPr kumimoji="1" sz="2400">
                <a:solidFill>
                  <a:schemeClr val="tx1"/>
                </a:solidFill>
                <a:latin typeface="Times New Roman" panose="02020603050405020304" pitchFamily="18" charset="0"/>
                <a:ea typeface="新細明體" panose="02020500000000000000" pitchFamily="18" charset="-120"/>
              </a:defRPr>
            </a:lvl3pPr>
            <a:lvl4pPr algn="l">
              <a:defRPr kumimoji="1" sz="2400">
                <a:solidFill>
                  <a:schemeClr val="tx1"/>
                </a:solidFill>
                <a:latin typeface="Times New Roman" panose="02020603050405020304" pitchFamily="18" charset="0"/>
                <a:ea typeface="新細明體" panose="02020500000000000000" pitchFamily="18" charset="-120"/>
              </a:defRPr>
            </a:lvl4pPr>
            <a:lvl5pPr algn="l">
              <a:defRPr kumimoji="1" sz="2400">
                <a:solidFill>
                  <a:schemeClr val="tx1"/>
                </a:solidFill>
                <a:latin typeface="Times New Roman" panose="02020603050405020304" pitchFamily="18" charset="0"/>
                <a:ea typeface="新細明體" panose="02020500000000000000" pitchFamily="18" charset="-120"/>
              </a:defRPr>
            </a:lvl5pPr>
            <a:lvl6pPr marL="4572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9144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1371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18288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120000"/>
              </a:lnSpc>
            </a:pPr>
            <a:r>
              <a:rPr lang="en-US" altLang="zh-TW" sz="2800" b="1" i="1">
                <a:solidFill>
                  <a:srgbClr val="CC3300"/>
                </a:solidFill>
                <a:ea typeface="標楷體" pitchFamily="65" charset="-120"/>
              </a:rPr>
              <a:t>PKG_TOP_LEFT_PIN &amp; PACKAGE</a:t>
            </a:r>
          </a:p>
        </p:txBody>
      </p:sp>
      <p:sp>
        <p:nvSpPr>
          <p:cNvPr id="970756" name="Text Box 4">
            <a:extLst>
              <a:ext uri="{FF2B5EF4-FFF2-40B4-BE49-F238E27FC236}">
                <a16:creationId xmlns:a16="http://schemas.microsoft.com/office/drawing/2014/main" id="{3A174CA9-DB6A-6EE3-12CA-CC996CD1F040}"/>
              </a:ext>
            </a:extLst>
          </p:cNvPr>
          <p:cNvSpPr txBox="1">
            <a:spLocks noChangeArrowheads="1"/>
          </p:cNvSpPr>
          <p:nvPr/>
        </p:nvSpPr>
        <p:spPr bwMode="auto">
          <a:xfrm>
            <a:off x="685800" y="1600200"/>
            <a:ext cx="8001000" cy="292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FontTx/>
              <a:buChar char="-"/>
            </a:pPr>
            <a:r>
              <a:rPr lang="en-US" altLang="zh-TW" sz="2400" b="1"/>
              <a:t>  PKG_TOP_LEFT_PIN: &lt;num&gt;</a:t>
            </a:r>
            <a:br>
              <a:rPr lang="en-US" altLang="zh-TW" sz="2000"/>
            </a:br>
            <a:r>
              <a:rPr lang="en-US" altLang="zh-TW" sz="2000"/>
              <a:t>    the topmost pin in the left side</a:t>
            </a:r>
          </a:p>
          <a:p>
            <a:pPr algn="l">
              <a:spcBef>
                <a:spcPct val="50000"/>
              </a:spcBef>
            </a:pPr>
            <a:endParaRPr lang="en-US" altLang="zh-TW" sz="2000"/>
          </a:p>
          <a:p>
            <a:pPr algn="l">
              <a:buFontTx/>
              <a:buChar char="-"/>
            </a:pPr>
            <a:r>
              <a:rPr lang="en-US" altLang="zh-TW" sz="2400" b="1"/>
              <a:t>  PACKAGE</a:t>
            </a:r>
            <a:r>
              <a:rPr lang="en-US" altLang="zh-TW" sz="2400"/>
              <a:t>:</a:t>
            </a:r>
            <a:br>
              <a:rPr lang="en-US" altLang="zh-TW" sz="2000"/>
            </a:br>
            <a:r>
              <a:rPr lang="en-US" altLang="zh-TW" sz="2000"/>
              <a:t>    &lt;pin number&gt; &lt;type&gt; &lt;pin number of L&gt; &lt;pin number of B&gt;</a:t>
            </a:r>
          </a:p>
          <a:p>
            <a:pPr algn="l"/>
            <a:r>
              <a:rPr lang="en-US" altLang="zh-TW" sz="2000"/>
              <a:t>    &lt;pin number of R&gt; &lt;pin number of T&gt;</a:t>
            </a:r>
            <a:br>
              <a:rPr lang="en-US" altLang="zh-TW" sz="2000"/>
            </a:br>
            <a:br>
              <a:rPr lang="en-US" altLang="zh-TW" sz="2400"/>
            </a:br>
            <a:r>
              <a:rPr lang="en-US" altLang="zh-TW" sz="2400"/>
              <a:t>    </a:t>
            </a:r>
            <a:r>
              <a:rPr lang="en-US" altLang="zh-TW" sz="2400" i="1">
                <a:solidFill>
                  <a:schemeClr val="accent2"/>
                </a:solidFill>
              </a:rPr>
              <a:t>ex:</a:t>
            </a:r>
            <a:r>
              <a:rPr lang="en-US" altLang="zh-TW" sz="2400">
                <a:solidFill>
                  <a:schemeClr val="accent2"/>
                </a:solidFill>
              </a:rPr>
              <a:t> </a:t>
            </a:r>
            <a:r>
              <a:rPr lang="en-US" altLang="zh-TW" sz="2400" b="1">
                <a:solidFill>
                  <a:schemeClr val="accent2"/>
                </a:solidFill>
              </a:rPr>
              <a:t>PACKAGE:208QFP 52 52 52 52</a:t>
            </a:r>
          </a:p>
        </p:txBody>
      </p:sp>
      <p:grpSp>
        <p:nvGrpSpPr>
          <p:cNvPr id="970757" name="Group 5">
            <a:extLst>
              <a:ext uri="{FF2B5EF4-FFF2-40B4-BE49-F238E27FC236}">
                <a16:creationId xmlns:a16="http://schemas.microsoft.com/office/drawing/2014/main" id="{80CFA25D-1F14-7BFA-148D-57B6223E6CCA}"/>
              </a:ext>
            </a:extLst>
          </p:cNvPr>
          <p:cNvGrpSpPr>
            <a:grpSpLocks/>
          </p:cNvGrpSpPr>
          <p:nvPr/>
        </p:nvGrpSpPr>
        <p:grpSpPr bwMode="auto">
          <a:xfrm>
            <a:off x="5334000" y="4114800"/>
            <a:ext cx="4419600" cy="2500313"/>
            <a:chOff x="2256" y="2640"/>
            <a:chExt cx="2400" cy="1255"/>
          </a:xfrm>
        </p:grpSpPr>
        <p:grpSp>
          <p:nvGrpSpPr>
            <p:cNvPr id="970758" name="Group 6">
              <a:extLst>
                <a:ext uri="{FF2B5EF4-FFF2-40B4-BE49-F238E27FC236}">
                  <a16:creationId xmlns:a16="http://schemas.microsoft.com/office/drawing/2014/main" id="{24B1C2E6-B746-BDAD-344D-C63F0C2BE024}"/>
                </a:ext>
              </a:extLst>
            </p:cNvPr>
            <p:cNvGrpSpPr>
              <a:grpSpLocks/>
            </p:cNvGrpSpPr>
            <p:nvPr/>
          </p:nvGrpSpPr>
          <p:grpSpPr bwMode="auto">
            <a:xfrm>
              <a:off x="3264" y="2928"/>
              <a:ext cx="816" cy="768"/>
              <a:chOff x="2620" y="1872"/>
              <a:chExt cx="816" cy="768"/>
            </a:xfrm>
          </p:grpSpPr>
          <p:sp>
            <p:nvSpPr>
              <p:cNvPr id="970759" name="Rectangle 7">
                <a:extLst>
                  <a:ext uri="{FF2B5EF4-FFF2-40B4-BE49-F238E27FC236}">
                    <a16:creationId xmlns:a16="http://schemas.microsoft.com/office/drawing/2014/main" id="{F9689EBE-18F5-6DF5-43AE-227406AAA844}"/>
                  </a:ext>
                </a:extLst>
              </p:cNvPr>
              <p:cNvSpPr>
                <a:spLocks noChangeArrowheads="1"/>
              </p:cNvSpPr>
              <p:nvPr/>
            </p:nvSpPr>
            <p:spPr bwMode="auto">
              <a:xfrm>
                <a:off x="2620" y="1872"/>
                <a:ext cx="816" cy="76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70760" name="AutoShape 8">
                <a:extLst>
                  <a:ext uri="{FF2B5EF4-FFF2-40B4-BE49-F238E27FC236}">
                    <a16:creationId xmlns:a16="http://schemas.microsoft.com/office/drawing/2014/main" id="{ECA491FC-EB16-0E3D-E152-AEEF95D46E7A}"/>
                  </a:ext>
                </a:extLst>
              </p:cNvPr>
              <p:cNvSpPr>
                <a:spLocks noChangeArrowheads="1"/>
              </p:cNvSpPr>
              <p:nvPr/>
            </p:nvSpPr>
            <p:spPr bwMode="auto">
              <a:xfrm>
                <a:off x="2640" y="1920"/>
                <a:ext cx="47" cy="47"/>
              </a:xfrm>
              <a:prstGeom prst="octagon">
                <a:avLst>
                  <a:gd name="adj" fmla="val 29287"/>
                </a:avLst>
              </a:prstGeom>
              <a:solidFill>
                <a:srgbClr val="000000"/>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970761" name="Text Box 9">
              <a:extLst>
                <a:ext uri="{FF2B5EF4-FFF2-40B4-BE49-F238E27FC236}">
                  <a16:creationId xmlns:a16="http://schemas.microsoft.com/office/drawing/2014/main" id="{ED43371F-BA17-FD81-382F-E730418CCD7E}"/>
                </a:ext>
              </a:extLst>
            </p:cNvPr>
            <p:cNvSpPr txBox="1">
              <a:spLocks noChangeArrowheads="1"/>
            </p:cNvSpPr>
            <p:nvPr/>
          </p:nvSpPr>
          <p:spPr bwMode="auto">
            <a:xfrm>
              <a:off x="3075" y="2928"/>
              <a:ext cx="288" cy="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1200"/>
                <a:t> 1</a:t>
              </a:r>
              <a:br>
                <a:rPr lang="en-US" altLang="zh-TW" sz="1200"/>
              </a:br>
              <a:r>
                <a:rPr lang="en-US" altLang="zh-TW" sz="1200"/>
                <a:t> 2</a:t>
              </a:r>
              <a:br>
                <a:rPr lang="en-US" altLang="zh-TW" sz="1200"/>
              </a:br>
              <a:r>
                <a:rPr lang="en-US" altLang="zh-TW" sz="1200"/>
                <a:t> 3</a:t>
              </a:r>
              <a:br>
                <a:rPr lang="en-US" altLang="zh-TW" sz="1200"/>
              </a:br>
              <a:br>
                <a:rPr lang="en-US" altLang="zh-TW" sz="1200"/>
              </a:br>
              <a:br>
                <a:rPr lang="en-US" altLang="zh-TW" sz="1200"/>
              </a:br>
              <a:br>
                <a:rPr lang="en-US" altLang="zh-TW" sz="1200"/>
              </a:br>
              <a:r>
                <a:rPr lang="en-US" altLang="zh-TW" sz="1200"/>
                <a:t>52</a:t>
              </a:r>
            </a:p>
          </p:txBody>
        </p:sp>
        <p:sp>
          <p:nvSpPr>
            <p:cNvPr id="970762" name="Text Box 10">
              <a:extLst>
                <a:ext uri="{FF2B5EF4-FFF2-40B4-BE49-F238E27FC236}">
                  <a16:creationId xmlns:a16="http://schemas.microsoft.com/office/drawing/2014/main" id="{D6B1376D-BC1B-02C0-8048-46D685BC95AD}"/>
                </a:ext>
              </a:extLst>
            </p:cNvPr>
            <p:cNvSpPr txBox="1">
              <a:spLocks noChangeArrowheads="1"/>
            </p:cNvSpPr>
            <p:nvPr/>
          </p:nvSpPr>
          <p:spPr bwMode="auto">
            <a:xfrm>
              <a:off x="2256" y="2832"/>
              <a:ext cx="624" cy="15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1400"/>
                <a:t>Top_Left</a:t>
              </a:r>
            </a:p>
          </p:txBody>
        </p:sp>
        <p:sp>
          <p:nvSpPr>
            <p:cNvPr id="970763" name="Line 11">
              <a:extLst>
                <a:ext uri="{FF2B5EF4-FFF2-40B4-BE49-F238E27FC236}">
                  <a16:creationId xmlns:a16="http://schemas.microsoft.com/office/drawing/2014/main" id="{BDD3CD73-543B-7BAF-7381-7A55DC0D8D64}"/>
                </a:ext>
              </a:extLst>
            </p:cNvPr>
            <p:cNvSpPr>
              <a:spLocks noChangeShapeType="1"/>
            </p:cNvSpPr>
            <p:nvPr/>
          </p:nvSpPr>
          <p:spPr bwMode="auto">
            <a:xfrm>
              <a:off x="2880" y="2928"/>
              <a:ext cx="192"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970764" name="Text Box 12">
              <a:extLst>
                <a:ext uri="{FF2B5EF4-FFF2-40B4-BE49-F238E27FC236}">
                  <a16:creationId xmlns:a16="http://schemas.microsoft.com/office/drawing/2014/main" id="{34CDF9CD-EB58-B19F-F7E1-48998BA80F6E}"/>
                </a:ext>
              </a:extLst>
            </p:cNvPr>
            <p:cNvSpPr txBox="1">
              <a:spLocks noChangeArrowheads="1"/>
            </p:cNvSpPr>
            <p:nvPr/>
          </p:nvSpPr>
          <p:spPr bwMode="auto">
            <a:xfrm>
              <a:off x="2640" y="3216"/>
              <a:ext cx="432"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2000">
                  <a:solidFill>
                    <a:srgbClr val="0000FF"/>
                  </a:solidFill>
                </a:rPr>
                <a:t>L</a:t>
              </a:r>
              <a:r>
                <a:rPr lang="en-US" altLang="zh-TW" sz="2000"/>
                <a:t>eft</a:t>
              </a:r>
            </a:p>
          </p:txBody>
        </p:sp>
        <p:sp>
          <p:nvSpPr>
            <p:cNvPr id="970765" name="Text Box 13">
              <a:extLst>
                <a:ext uri="{FF2B5EF4-FFF2-40B4-BE49-F238E27FC236}">
                  <a16:creationId xmlns:a16="http://schemas.microsoft.com/office/drawing/2014/main" id="{36206836-3276-1FBC-8210-2EAE4E5E1AE6}"/>
                </a:ext>
              </a:extLst>
            </p:cNvPr>
            <p:cNvSpPr txBox="1">
              <a:spLocks noChangeArrowheads="1"/>
            </p:cNvSpPr>
            <p:nvPr/>
          </p:nvSpPr>
          <p:spPr bwMode="auto">
            <a:xfrm>
              <a:off x="3408" y="3696"/>
              <a:ext cx="720"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2000">
                  <a:solidFill>
                    <a:srgbClr val="0000FF"/>
                  </a:solidFill>
                </a:rPr>
                <a:t>B</a:t>
              </a:r>
              <a:r>
                <a:rPr lang="en-US" altLang="zh-TW" sz="2000"/>
                <a:t>ottom</a:t>
              </a:r>
            </a:p>
          </p:txBody>
        </p:sp>
        <p:sp>
          <p:nvSpPr>
            <p:cNvPr id="970766" name="Text Box 14">
              <a:extLst>
                <a:ext uri="{FF2B5EF4-FFF2-40B4-BE49-F238E27FC236}">
                  <a16:creationId xmlns:a16="http://schemas.microsoft.com/office/drawing/2014/main" id="{7B5A31F0-9628-2895-2252-CED48F390914}"/>
                </a:ext>
              </a:extLst>
            </p:cNvPr>
            <p:cNvSpPr txBox="1">
              <a:spLocks noChangeArrowheads="1"/>
            </p:cNvSpPr>
            <p:nvPr/>
          </p:nvSpPr>
          <p:spPr bwMode="auto">
            <a:xfrm>
              <a:off x="3456" y="2640"/>
              <a:ext cx="432"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2000">
                  <a:solidFill>
                    <a:srgbClr val="0000FF"/>
                  </a:solidFill>
                </a:rPr>
                <a:t>T</a:t>
              </a:r>
              <a:r>
                <a:rPr lang="en-US" altLang="zh-TW" sz="2000"/>
                <a:t>op</a:t>
              </a:r>
            </a:p>
          </p:txBody>
        </p:sp>
        <p:sp>
          <p:nvSpPr>
            <p:cNvPr id="970767" name="Text Box 15">
              <a:extLst>
                <a:ext uri="{FF2B5EF4-FFF2-40B4-BE49-F238E27FC236}">
                  <a16:creationId xmlns:a16="http://schemas.microsoft.com/office/drawing/2014/main" id="{D266326F-EF63-FA7A-9C40-68EB5BFFCE78}"/>
                </a:ext>
              </a:extLst>
            </p:cNvPr>
            <p:cNvSpPr txBox="1">
              <a:spLocks noChangeArrowheads="1"/>
            </p:cNvSpPr>
            <p:nvPr/>
          </p:nvSpPr>
          <p:spPr bwMode="auto">
            <a:xfrm>
              <a:off x="4128" y="3216"/>
              <a:ext cx="528"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2000">
                  <a:solidFill>
                    <a:srgbClr val="0000FF"/>
                  </a:solidFill>
                </a:rPr>
                <a:t>R</a:t>
              </a:r>
              <a:r>
                <a:rPr lang="en-US" altLang="zh-TW" sz="2000"/>
                <a:t>ight</a:t>
              </a:r>
            </a:p>
          </p:txBody>
        </p:sp>
        <p:sp>
          <p:nvSpPr>
            <p:cNvPr id="970768" name="Text Box 16">
              <a:extLst>
                <a:ext uri="{FF2B5EF4-FFF2-40B4-BE49-F238E27FC236}">
                  <a16:creationId xmlns:a16="http://schemas.microsoft.com/office/drawing/2014/main" id="{D08C7DFC-C98C-6944-5940-368C549CEFC5}"/>
                </a:ext>
              </a:extLst>
            </p:cNvPr>
            <p:cNvSpPr txBox="1">
              <a:spLocks noChangeArrowheads="1"/>
            </p:cNvSpPr>
            <p:nvPr/>
          </p:nvSpPr>
          <p:spPr bwMode="auto">
            <a:xfrm>
              <a:off x="3145" y="3322"/>
              <a:ext cx="249"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lgn="l">
                <a:spcBef>
                  <a:spcPct val="50000"/>
                </a:spcBef>
              </a:pPr>
              <a:r>
                <a:rPr lang="en-US" altLang="zh-TW" sz="1800"/>
                <a:t>…</a:t>
              </a:r>
            </a:p>
          </p:txBody>
        </p:sp>
      </p:gr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303A7A98-E29B-6AA2-2D18-98D5AB5D8136}"/>
              </a:ext>
            </a:extLst>
          </p:cNvPr>
          <p:cNvSpPr>
            <a:spLocks noGrp="1"/>
          </p:cNvSpPr>
          <p:nvPr>
            <p:ph type="sldNum" sz="quarter" idx="10"/>
          </p:nvPr>
        </p:nvSpPr>
        <p:spPr/>
        <p:txBody>
          <a:bodyPr/>
          <a:lstStyle/>
          <a:p>
            <a:fld id="{95248B32-A856-F445-9BD8-1A358AC72AAF}" type="slidenum">
              <a:rPr lang="en-US" altLang="zh-TW"/>
              <a:pPr/>
              <a:t>43</a:t>
            </a:fld>
            <a:endParaRPr lang="en-US" altLang="zh-TW"/>
          </a:p>
        </p:txBody>
      </p:sp>
      <p:sp>
        <p:nvSpPr>
          <p:cNvPr id="974850" name="Text Box 2">
            <a:extLst>
              <a:ext uri="{FF2B5EF4-FFF2-40B4-BE49-F238E27FC236}">
                <a16:creationId xmlns:a16="http://schemas.microsoft.com/office/drawing/2014/main" id="{89FDD7C2-4E25-FDD0-A280-0F9363A6EF63}"/>
              </a:ext>
            </a:extLst>
          </p:cNvPr>
          <p:cNvSpPr txBox="1">
            <a:spLocks noChangeArrowheads="1"/>
          </p:cNvSpPr>
          <p:nvPr/>
        </p:nvSpPr>
        <p:spPr bwMode="auto">
          <a:xfrm>
            <a:off x="1752600" y="1676400"/>
            <a:ext cx="7848600" cy="465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2400" b="1"/>
              <a:t>-  LOAD : </a:t>
            </a:r>
            <a:br>
              <a:rPr lang="en-US" altLang="zh-TW" sz="2400" b="1"/>
            </a:br>
            <a:r>
              <a:rPr lang="en-US" altLang="zh-TW" sz="2400" b="1"/>
              <a:t>   </a:t>
            </a:r>
            <a:r>
              <a:rPr lang="en-US" altLang="zh-TW" sz="2000" b="1"/>
              <a:t>The default value is 50 (pf)</a:t>
            </a:r>
            <a:br>
              <a:rPr lang="en-US" altLang="zh-TW" sz="2000" b="1"/>
            </a:br>
            <a:r>
              <a:rPr lang="en-US" altLang="zh-TW" sz="2000">
                <a:solidFill>
                  <a:srgbClr val="FF0000"/>
                </a:solidFill>
              </a:rPr>
              <a:t>	ps : specify a dash (</a:t>
            </a:r>
            <a:r>
              <a:rPr lang="en-US" altLang="zh-TW" sz="2000" b="1">
                <a:solidFill>
                  <a:srgbClr val="FF0000"/>
                </a:solidFill>
              </a:rPr>
              <a:t>-</a:t>
            </a:r>
            <a:r>
              <a:rPr lang="en-US" altLang="zh-TW" sz="2000">
                <a:solidFill>
                  <a:srgbClr val="FF0000"/>
                </a:solidFill>
              </a:rPr>
              <a:t>) for  non-output pins</a:t>
            </a:r>
            <a:endParaRPr lang="en-US" altLang="zh-TW" sz="2000" b="1"/>
          </a:p>
          <a:p>
            <a:pPr algn="l">
              <a:spcBef>
                <a:spcPct val="50000"/>
              </a:spcBef>
            </a:pPr>
            <a:r>
              <a:rPr lang="en-US" altLang="zh-TW" sz="2400" b="1"/>
              <a:t>-  SLEW : </a:t>
            </a:r>
            <a:br>
              <a:rPr lang="en-US" altLang="zh-TW" sz="2400" b="1"/>
            </a:br>
            <a:r>
              <a:rPr lang="en-US" altLang="zh-TW" sz="2400" b="1"/>
              <a:t>   </a:t>
            </a:r>
            <a:r>
              <a:rPr lang="en-US" altLang="zh-TW" sz="2000" b="1"/>
              <a:t>The default value is 2(ns)</a:t>
            </a:r>
            <a:br>
              <a:rPr lang="en-US" altLang="zh-TW" sz="2000" b="1"/>
            </a:br>
            <a:r>
              <a:rPr lang="en-US" altLang="zh-TW" sz="2000">
                <a:solidFill>
                  <a:srgbClr val="FF0000"/>
                </a:solidFill>
              </a:rPr>
              <a:t>	ps : specify a dash (</a:t>
            </a:r>
            <a:r>
              <a:rPr lang="en-US" altLang="zh-TW" sz="2000" b="1">
                <a:solidFill>
                  <a:srgbClr val="FF0000"/>
                </a:solidFill>
              </a:rPr>
              <a:t>-</a:t>
            </a:r>
            <a:r>
              <a:rPr lang="en-US" altLang="zh-TW" sz="2000">
                <a:solidFill>
                  <a:srgbClr val="FF0000"/>
                </a:solidFill>
              </a:rPr>
              <a:t>) for  non-intput pins</a:t>
            </a:r>
            <a:endParaRPr lang="en-US" altLang="zh-TW" sz="2000" b="1"/>
          </a:p>
          <a:p>
            <a:pPr algn="l">
              <a:spcBef>
                <a:spcPct val="50000"/>
              </a:spcBef>
            </a:pPr>
            <a:r>
              <a:rPr lang="en-US" altLang="zh-TW" sz="2400" b="1"/>
              <a:t>-  SSO </a:t>
            </a:r>
            <a:r>
              <a:rPr lang="en-US" altLang="zh-TW" sz="2400"/>
              <a:t>(for power check)</a:t>
            </a:r>
            <a:r>
              <a:rPr lang="en-US" altLang="zh-TW" sz="2400" b="1"/>
              <a:t>: </a:t>
            </a:r>
            <a:endParaRPr lang="en-US" altLang="zh-TW" sz="2400"/>
          </a:p>
          <a:p>
            <a:pPr algn="l">
              <a:spcBef>
                <a:spcPct val="50000"/>
              </a:spcBef>
            </a:pPr>
            <a:r>
              <a:rPr lang="en-US" altLang="zh-TW" sz="2400">
                <a:solidFill>
                  <a:srgbClr val="FF0066"/>
                </a:solidFill>
              </a:rPr>
              <a:t>   </a:t>
            </a:r>
            <a:r>
              <a:rPr lang="en-US" altLang="zh-TW" sz="2000" b="1">
                <a:solidFill>
                  <a:srgbClr val="0000FF"/>
                </a:solidFill>
              </a:rPr>
              <a:t>S</a:t>
            </a:r>
            <a:r>
              <a:rPr lang="en-US" altLang="zh-TW" sz="2000"/>
              <a:t>imultaneously </a:t>
            </a:r>
            <a:r>
              <a:rPr lang="en-US" altLang="zh-TW" sz="2000" b="1">
                <a:solidFill>
                  <a:srgbClr val="0000FF"/>
                </a:solidFill>
              </a:rPr>
              <a:t>S</a:t>
            </a:r>
            <a:r>
              <a:rPr lang="en-US" altLang="zh-TW" sz="2000"/>
              <a:t>witching </a:t>
            </a:r>
            <a:r>
              <a:rPr lang="en-US" altLang="zh-TW" sz="2000" b="1">
                <a:solidFill>
                  <a:srgbClr val="0000FF"/>
                </a:solidFill>
              </a:rPr>
              <a:t>O</a:t>
            </a:r>
            <a:r>
              <a:rPr lang="en-US" altLang="zh-TW" sz="2000"/>
              <a:t>utput needs to be grouped together by</a:t>
            </a:r>
          </a:p>
          <a:p>
            <a:pPr algn="l">
              <a:spcBef>
                <a:spcPct val="50000"/>
              </a:spcBef>
            </a:pPr>
            <a:r>
              <a:rPr lang="en-US" altLang="zh-TW" sz="2000"/>
              <a:t>    labeling them with the same character.</a:t>
            </a:r>
            <a:br>
              <a:rPr lang="en-US" altLang="zh-TW" sz="2000"/>
            </a:br>
            <a:r>
              <a:rPr lang="en-US" altLang="zh-TW" sz="2000">
                <a:solidFill>
                  <a:srgbClr val="FF0000"/>
                </a:solidFill>
              </a:rPr>
              <a:t>	ps : specify a dash (</a:t>
            </a:r>
            <a:r>
              <a:rPr lang="en-US" altLang="zh-TW" sz="2000" b="1">
                <a:solidFill>
                  <a:srgbClr val="FF0000"/>
                </a:solidFill>
              </a:rPr>
              <a:t>-</a:t>
            </a:r>
            <a:r>
              <a:rPr lang="en-US" altLang="zh-TW" sz="2000">
                <a:solidFill>
                  <a:srgbClr val="FF0000"/>
                </a:solidFill>
              </a:rPr>
              <a:t>) for  non-output pins</a:t>
            </a:r>
          </a:p>
          <a:p>
            <a:pPr algn="l">
              <a:spcBef>
                <a:spcPct val="50000"/>
              </a:spcBef>
            </a:pPr>
            <a:endParaRPr lang="en-US" altLang="zh-TW" sz="2000"/>
          </a:p>
        </p:txBody>
      </p:sp>
      <p:sp>
        <p:nvSpPr>
          <p:cNvPr id="974851" name="Rectangle 3">
            <a:extLst>
              <a:ext uri="{FF2B5EF4-FFF2-40B4-BE49-F238E27FC236}">
                <a16:creationId xmlns:a16="http://schemas.microsoft.com/office/drawing/2014/main" id="{814E701F-1A53-9C04-7392-2537C77A8A95}"/>
              </a:ext>
            </a:extLst>
          </p:cNvPr>
          <p:cNvSpPr>
            <a:spLocks noGrp="1" noChangeArrowheads="1"/>
          </p:cNvSpPr>
          <p:nvPr>
            <p:ph type="title"/>
          </p:nvPr>
        </p:nvSpPr>
        <p:spPr>
          <a:xfrm>
            <a:off x="533400" y="228600"/>
            <a:ext cx="8596313" cy="685800"/>
          </a:xfrm>
        </p:spPr>
        <p:txBody>
          <a:bodyPr/>
          <a:lstStyle/>
          <a:p>
            <a:r>
              <a:rPr lang="en-US" altLang="zh-TW"/>
              <a:t>How to write pin sequence file (cont.)</a:t>
            </a:r>
          </a:p>
        </p:txBody>
      </p:sp>
      <p:sp>
        <p:nvSpPr>
          <p:cNvPr id="974852" name="Text Box 4">
            <a:extLst>
              <a:ext uri="{FF2B5EF4-FFF2-40B4-BE49-F238E27FC236}">
                <a16:creationId xmlns:a16="http://schemas.microsoft.com/office/drawing/2014/main" id="{5F652CC5-67B9-213E-3833-1ED43666FAAB}"/>
              </a:ext>
            </a:extLst>
          </p:cNvPr>
          <p:cNvSpPr txBox="1">
            <a:spLocks noChangeArrowheads="1"/>
          </p:cNvSpPr>
          <p:nvPr/>
        </p:nvSpPr>
        <p:spPr bwMode="auto">
          <a:xfrm>
            <a:off x="1524000" y="990600"/>
            <a:ext cx="36830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en-US" altLang="zh-TW" sz="2800" b="1" i="1">
                <a:solidFill>
                  <a:srgbClr val="CC3300"/>
                </a:solidFill>
                <a:ea typeface="標楷體" pitchFamily="65" charset="-120"/>
              </a:rPr>
              <a:t>LOAD &amp; SLEW &amp; SSO</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D1184424-B3D7-83B8-95C9-8D4B1C9867C2}"/>
              </a:ext>
            </a:extLst>
          </p:cNvPr>
          <p:cNvSpPr>
            <a:spLocks noGrp="1"/>
          </p:cNvSpPr>
          <p:nvPr>
            <p:ph type="sldNum" sz="quarter" idx="10"/>
          </p:nvPr>
        </p:nvSpPr>
        <p:spPr/>
        <p:txBody>
          <a:bodyPr/>
          <a:lstStyle/>
          <a:p>
            <a:fld id="{92F705C9-AE05-DA41-81C4-F839E729DE50}" type="slidenum">
              <a:rPr lang="en-US" altLang="zh-TW"/>
              <a:pPr/>
              <a:t>44</a:t>
            </a:fld>
            <a:endParaRPr lang="en-US" altLang="zh-TW"/>
          </a:p>
        </p:txBody>
      </p:sp>
      <p:sp>
        <p:nvSpPr>
          <p:cNvPr id="976898" name="Rectangle 2">
            <a:extLst>
              <a:ext uri="{FF2B5EF4-FFF2-40B4-BE49-F238E27FC236}">
                <a16:creationId xmlns:a16="http://schemas.microsoft.com/office/drawing/2014/main" id="{A3F97037-9B48-609F-74DD-BECF0BB9FAF7}"/>
              </a:ext>
            </a:extLst>
          </p:cNvPr>
          <p:cNvSpPr>
            <a:spLocks noGrp="1" noChangeArrowheads="1"/>
          </p:cNvSpPr>
          <p:nvPr>
            <p:ph type="title"/>
          </p:nvPr>
        </p:nvSpPr>
        <p:spPr>
          <a:xfrm>
            <a:off x="533400" y="228600"/>
            <a:ext cx="8740775" cy="685800"/>
          </a:xfrm>
        </p:spPr>
        <p:txBody>
          <a:bodyPr/>
          <a:lstStyle/>
          <a:p>
            <a:r>
              <a:rPr lang="en-US" altLang="zh-TW"/>
              <a:t>How to write pin sequence file (cont.)</a:t>
            </a:r>
          </a:p>
        </p:txBody>
      </p:sp>
      <p:sp>
        <p:nvSpPr>
          <p:cNvPr id="976899" name="Text Box 3">
            <a:extLst>
              <a:ext uri="{FF2B5EF4-FFF2-40B4-BE49-F238E27FC236}">
                <a16:creationId xmlns:a16="http://schemas.microsoft.com/office/drawing/2014/main" id="{5D362A55-CDF5-44E6-C473-502F8340B106}"/>
              </a:ext>
            </a:extLst>
          </p:cNvPr>
          <p:cNvSpPr txBox="1">
            <a:spLocks noChangeArrowheads="1"/>
          </p:cNvSpPr>
          <p:nvPr/>
        </p:nvSpPr>
        <p:spPr bwMode="auto">
          <a:xfrm>
            <a:off x="1065213" y="1052513"/>
            <a:ext cx="308610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en-US" altLang="zh-TW" sz="2800" b="1" i="1">
                <a:solidFill>
                  <a:srgbClr val="CC3300"/>
                </a:solidFill>
              </a:rPr>
              <a:t>power_ground_type</a:t>
            </a:r>
          </a:p>
        </p:txBody>
      </p:sp>
      <p:graphicFrame>
        <p:nvGraphicFramePr>
          <p:cNvPr id="976900" name="Object 4">
            <a:extLst>
              <a:ext uri="{FF2B5EF4-FFF2-40B4-BE49-F238E27FC236}">
                <a16:creationId xmlns:a16="http://schemas.microsoft.com/office/drawing/2014/main" id="{CF2109CF-EF26-0869-1140-D3B0CA0962F3}"/>
              </a:ext>
            </a:extLst>
          </p:cNvPr>
          <p:cNvGraphicFramePr>
            <a:graphicFrameLocks noChangeAspect="1"/>
          </p:cNvGraphicFramePr>
          <p:nvPr/>
        </p:nvGraphicFramePr>
        <p:xfrm>
          <a:off x="2286000" y="3810000"/>
          <a:ext cx="5646738" cy="2705100"/>
        </p:xfrm>
        <a:graphic>
          <a:graphicData uri="http://schemas.openxmlformats.org/presentationml/2006/ole">
            <mc:AlternateContent xmlns:mc="http://schemas.openxmlformats.org/markup-compatibility/2006">
              <mc:Choice xmlns:v="urn:schemas-microsoft-com:vml" Requires="v">
                <p:oleObj r:id="rId2" imgW="32905700" imgH="15760700" progId="Visio.Drawing.5">
                  <p:embed/>
                </p:oleObj>
              </mc:Choice>
              <mc:Fallback>
                <p:oleObj r:id="rId2" imgW="32905700" imgH="15760700" progId="Visio.Drawing.5">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3810000"/>
                        <a:ext cx="5646738" cy="2705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76901" name="Text Box 5">
            <a:extLst>
              <a:ext uri="{FF2B5EF4-FFF2-40B4-BE49-F238E27FC236}">
                <a16:creationId xmlns:a16="http://schemas.microsoft.com/office/drawing/2014/main" id="{D55A2E6E-5A13-1035-1B9E-F6D4BB6EBF5D}"/>
              </a:ext>
            </a:extLst>
          </p:cNvPr>
          <p:cNvSpPr txBox="1">
            <a:spLocks noChangeArrowheads="1"/>
          </p:cNvSpPr>
          <p:nvPr/>
        </p:nvSpPr>
        <p:spPr bwMode="auto">
          <a:xfrm>
            <a:off x="2057400" y="1752600"/>
            <a:ext cx="7010400" cy="1874838"/>
          </a:xfrm>
          <a:prstGeom prst="rect">
            <a:avLst/>
          </a:prstGeom>
          <a:noFill/>
          <a:ln w="5715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3200" b="1"/>
              <a:t>Power (Ground) Types:</a:t>
            </a:r>
            <a:endParaRPr lang="en-US" altLang="zh-TW" sz="1800" b="1"/>
          </a:p>
          <a:p>
            <a:pPr algn="l">
              <a:spcBef>
                <a:spcPct val="50000"/>
              </a:spcBef>
            </a:pPr>
            <a:r>
              <a:rPr lang="en-US" altLang="zh-TW" sz="1800" b="1"/>
              <a:t>Type1: Power (Ground) cell for </a:t>
            </a:r>
            <a:r>
              <a:rPr lang="en-US" altLang="zh-TW" sz="1800" b="1">
                <a:solidFill>
                  <a:srgbClr val="FF6600"/>
                </a:solidFill>
              </a:rPr>
              <a:t>Core</a:t>
            </a:r>
            <a:r>
              <a:rPr lang="en-US" altLang="zh-TW" sz="1800" b="1"/>
              <a:t>    </a:t>
            </a:r>
            <a:r>
              <a:rPr lang="en-US" altLang="zh-TW" sz="1800" b="1">
                <a:sym typeface="Wingdings" pitchFamily="2" charset="2"/>
              </a:rPr>
              <a:t>    </a:t>
            </a:r>
            <a:r>
              <a:rPr lang="en-US" altLang="zh-TW" sz="1800" b="1">
                <a:solidFill>
                  <a:srgbClr val="FF0000"/>
                </a:solidFill>
                <a:sym typeface="Wingdings" pitchFamily="2" charset="2"/>
              </a:rPr>
              <a:t>C</a:t>
            </a:r>
            <a:r>
              <a:rPr lang="en-US" altLang="zh-TW" sz="1800" b="1">
                <a:sym typeface="Wingdings" pitchFamily="2" charset="2"/>
              </a:rPr>
              <a:t>            ex: PVDD1DG</a:t>
            </a:r>
            <a:endParaRPr lang="en-US" altLang="zh-TW" sz="1800" b="1"/>
          </a:p>
          <a:p>
            <a:pPr algn="l">
              <a:spcBef>
                <a:spcPct val="50000"/>
              </a:spcBef>
            </a:pPr>
            <a:r>
              <a:rPr lang="en-US" altLang="zh-TW" sz="1800" b="1"/>
              <a:t>Type2: Power (Ground) cell for  </a:t>
            </a:r>
            <a:r>
              <a:rPr lang="en-US" altLang="zh-TW" sz="1800" b="1">
                <a:solidFill>
                  <a:srgbClr val="FF6600"/>
                </a:solidFill>
              </a:rPr>
              <a:t>I/O</a:t>
            </a:r>
            <a:r>
              <a:rPr lang="en-US" altLang="zh-TW" sz="1800" b="1"/>
              <a:t>      </a:t>
            </a:r>
            <a:r>
              <a:rPr lang="en-US" altLang="zh-TW" sz="1800" b="1">
                <a:sym typeface="Wingdings" pitchFamily="2" charset="2"/>
              </a:rPr>
              <a:t>   </a:t>
            </a:r>
            <a:r>
              <a:rPr lang="en-US" altLang="zh-TW" sz="1800" b="1">
                <a:solidFill>
                  <a:srgbClr val="FF0000"/>
                </a:solidFill>
                <a:sym typeface="Wingdings" pitchFamily="2" charset="2"/>
              </a:rPr>
              <a:t>IO</a:t>
            </a:r>
            <a:r>
              <a:rPr lang="en-US" altLang="zh-TW" sz="1800" b="1">
                <a:sym typeface="Wingdings" pitchFamily="2" charset="2"/>
              </a:rPr>
              <a:t>           ex: PVDD2DG</a:t>
            </a:r>
            <a:endParaRPr lang="en-US" altLang="zh-TW" sz="1800" b="1"/>
          </a:p>
          <a:p>
            <a:pPr algn="l">
              <a:spcBef>
                <a:spcPct val="50000"/>
              </a:spcBef>
            </a:pPr>
            <a:r>
              <a:rPr lang="en-US" altLang="zh-TW" sz="1800" b="1"/>
              <a:t>Type3: Power (Ground) cell for </a:t>
            </a:r>
            <a:r>
              <a:rPr lang="en-US" altLang="zh-TW" sz="1800" b="1">
                <a:solidFill>
                  <a:srgbClr val="FF6600"/>
                </a:solidFill>
              </a:rPr>
              <a:t>Core &amp; I/O</a:t>
            </a:r>
            <a:r>
              <a:rPr lang="en-US" altLang="zh-TW" sz="1800" b="1">
                <a:sym typeface="Wingdings" pitchFamily="2" charset="2"/>
              </a:rPr>
              <a:t></a:t>
            </a:r>
            <a:r>
              <a:rPr lang="en-US" altLang="zh-TW" sz="1800" b="1">
                <a:solidFill>
                  <a:srgbClr val="FF0000"/>
                </a:solidFill>
                <a:sym typeface="Wingdings" pitchFamily="2" charset="2"/>
              </a:rPr>
              <a:t>CIO</a:t>
            </a:r>
            <a:r>
              <a:rPr lang="en-US" altLang="zh-TW" sz="1800" b="1">
                <a:sym typeface="Wingdings" pitchFamily="2" charset="2"/>
              </a:rPr>
              <a:t>     ex: PVDD3DG</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17F2BEAD-0429-B67A-5B32-4DC79AD74910}"/>
              </a:ext>
            </a:extLst>
          </p:cNvPr>
          <p:cNvSpPr>
            <a:spLocks noGrp="1"/>
          </p:cNvSpPr>
          <p:nvPr>
            <p:ph type="sldNum" sz="quarter" idx="10"/>
          </p:nvPr>
        </p:nvSpPr>
        <p:spPr/>
        <p:txBody>
          <a:bodyPr/>
          <a:lstStyle/>
          <a:p>
            <a:fld id="{12ABC60E-5A18-AE45-9051-E2691BB82954}" type="slidenum">
              <a:rPr lang="en-US" altLang="zh-TW"/>
              <a:pPr/>
              <a:t>45</a:t>
            </a:fld>
            <a:endParaRPr lang="en-US" altLang="zh-TW"/>
          </a:p>
        </p:txBody>
      </p:sp>
      <p:sp>
        <p:nvSpPr>
          <p:cNvPr id="977922" name="Rectangle 2">
            <a:extLst>
              <a:ext uri="{FF2B5EF4-FFF2-40B4-BE49-F238E27FC236}">
                <a16:creationId xmlns:a16="http://schemas.microsoft.com/office/drawing/2014/main" id="{70C7AB5C-7485-E887-7418-180DFA156CFE}"/>
              </a:ext>
            </a:extLst>
          </p:cNvPr>
          <p:cNvSpPr>
            <a:spLocks noGrp="1" noChangeArrowheads="1"/>
          </p:cNvSpPr>
          <p:nvPr>
            <p:ph type="title"/>
          </p:nvPr>
        </p:nvSpPr>
        <p:spPr>
          <a:xfrm>
            <a:off x="533400" y="228600"/>
            <a:ext cx="8812213" cy="685800"/>
          </a:xfrm>
        </p:spPr>
        <p:txBody>
          <a:bodyPr/>
          <a:lstStyle/>
          <a:p>
            <a:r>
              <a:rPr lang="en-US" altLang="zh-TW"/>
              <a:t>How to write pin sequence file (cont.)</a:t>
            </a:r>
          </a:p>
        </p:txBody>
      </p:sp>
      <p:sp>
        <p:nvSpPr>
          <p:cNvPr id="977923" name="Text Box 3">
            <a:extLst>
              <a:ext uri="{FF2B5EF4-FFF2-40B4-BE49-F238E27FC236}">
                <a16:creationId xmlns:a16="http://schemas.microsoft.com/office/drawing/2014/main" id="{9A149B26-3D70-47C7-D01F-2F07EAA5BB91}"/>
              </a:ext>
            </a:extLst>
          </p:cNvPr>
          <p:cNvSpPr txBox="1">
            <a:spLocks noChangeArrowheads="1"/>
          </p:cNvSpPr>
          <p:nvPr/>
        </p:nvSpPr>
        <p:spPr bwMode="auto">
          <a:xfrm>
            <a:off x="776288" y="1196975"/>
            <a:ext cx="5230812"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en-US" altLang="zh-TW" sz="2800" b="1" i="1">
                <a:solidFill>
                  <a:srgbClr val="CC3300"/>
                </a:solidFill>
                <a:ea typeface="標楷體" pitchFamily="65" charset="-120"/>
              </a:rPr>
              <a:t>Power/Ground Pad instance name</a:t>
            </a:r>
          </a:p>
        </p:txBody>
      </p:sp>
      <p:sp>
        <p:nvSpPr>
          <p:cNvPr id="977924" name="Text Box 4">
            <a:extLst>
              <a:ext uri="{FF2B5EF4-FFF2-40B4-BE49-F238E27FC236}">
                <a16:creationId xmlns:a16="http://schemas.microsoft.com/office/drawing/2014/main" id="{AFBA611E-964A-E6C2-7E39-0BC775A3B141}"/>
              </a:ext>
            </a:extLst>
          </p:cNvPr>
          <p:cNvSpPr txBox="1">
            <a:spLocks noChangeArrowheads="1"/>
          </p:cNvSpPr>
          <p:nvPr/>
        </p:nvSpPr>
        <p:spPr bwMode="auto">
          <a:xfrm>
            <a:off x="1208088" y="1773238"/>
            <a:ext cx="8066087"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2000">
                <a:solidFill>
                  <a:srgbClr val="FF0000"/>
                </a:solidFill>
              </a:rPr>
              <a:t>&lt;instance name&gt;</a:t>
            </a:r>
            <a:r>
              <a:rPr lang="en-US" altLang="zh-TW" sz="2000"/>
              <a:t> : </a:t>
            </a:r>
            <a:r>
              <a:rPr lang="en-US" altLang="zh-TW" sz="1800"/>
              <a:t>the instance name of the corresponding  </a:t>
            </a:r>
          </a:p>
          <a:p>
            <a:pPr algn="l">
              <a:spcBef>
                <a:spcPct val="50000"/>
              </a:spcBef>
            </a:pPr>
            <a:r>
              <a:rPr lang="en-US" altLang="zh-TW" sz="1800"/>
              <a:t>                                 power/ground or powercut cell declared in the Verilog netlist.</a:t>
            </a:r>
          </a:p>
        </p:txBody>
      </p:sp>
      <p:pic>
        <p:nvPicPr>
          <p:cNvPr id="977925" name="Picture 5">
            <a:extLst>
              <a:ext uri="{FF2B5EF4-FFF2-40B4-BE49-F238E27FC236}">
                <a16:creationId xmlns:a16="http://schemas.microsoft.com/office/drawing/2014/main" id="{C2B43BCC-8CAC-8636-819B-FA1A4EBEF5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3488" y="3355975"/>
            <a:ext cx="1847850" cy="2657475"/>
          </a:xfrm>
          <a:prstGeom prst="rect">
            <a:avLst/>
          </a:prstGeom>
          <a:noFill/>
          <a:extLst>
            <a:ext uri="{909E8E84-426E-40DD-AFC4-6F175D3DCCD1}">
              <a14:hiddenFill xmlns:a14="http://schemas.microsoft.com/office/drawing/2010/main">
                <a:solidFill>
                  <a:srgbClr val="FFFFFF"/>
                </a:solidFill>
              </a14:hiddenFill>
            </a:ext>
          </a:extLst>
        </p:spPr>
      </p:pic>
      <p:sp>
        <p:nvSpPr>
          <p:cNvPr id="977926" name="Oval 6">
            <a:extLst>
              <a:ext uri="{FF2B5EF4-FFF2-40B4-BE49-F238E27FC236}">
                <a16:creationId xmlns:a16="http://schemas.microsoft.com/office/drawing/2014/main" id="{90FBC843-585D-A2E5-E2D6-83C2618046B6}"/>
              </a:ext>
            </a:extLst>
          </p:cNvPr>
          <p:cNvSpPr>
            <a:spLocks noChangeArrowheads="1"/>
          </p:cNvSpPr>
          <p:nvPr/>
        </p:nvSpPr>
        <p:spPr bwMode="auto">
          <a:xfrm>
            <a:off x="2216150" y="5588000"/>
            <a:ext cx="2133600" cy="381000"/>
          </a:xfrm>
          <a:prstGeom prst="ellipse">
            <a:avLst/>
          </a:prstGeom>
          <a:noFill/>
          <a:ln w="28575">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77928" name="Text Box 8">
            <a:extLst>
              <a:ext uri="{FF2B5EF4-FFF2-40B4-BE49-F238E27FC236}">
                <a16:creationId xmlns:a16="http://schemas.microsoft.com/office/drawing/2014/main" id="{A32268DF-8AE8-6604-2EA8-1FCB868C0308}"/>
              </a:ext>
            </a:extLst>
          </p:cNvPr>
          <p:cNvSpPr txBox="1">
            <a:spLocks noChangeArrowheads="1"/>
          </p:cNvSpPr>
          <p:nvPr/>
        </p:nvSpPr>
        <p:spPr bwMode="auto">
          <a:xfrm>
            <a:off x="2576513" y="3068638"/>
            <a:ext cx="1676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1800">
                <a:solidFill>
                  <a:schemeClr val="accent1"/>
                </a:solidFill>
              </a:rPr>
              <a:t>(Verilog netlist)</a:t>
            </a:r>
          </a:p>
        </p:txBody>
      </p:sp>
      <p:sp>
        <p:nvSpPr>
          <p:cNvPr id="977929" name="Line 9">
            <a:extLst>
              <a:ext uri="{FF2B5EF4-FFF2-40B4-BE49-F238E27FC236}">
                <a16:creationId xmlns:a16="http://schemas.microsoft.com/office/drawing/2014/main" id="{419C15AA-7678-6FE1-3B4C-09AAF1026DDE}"/>
              </a:ext>
            </a:extLst>
          </p:cNvPr>
          <p:cNvSpPr>
            <a:spLocks noChangeShapeType="1"/>
          </p:cNvSpPr>
          <p:nvPr/>
        </p:nvSpPr>
        <p:spPr bwMode="auto">
          <a:xfrm rot="4321851">
            <a:off x="4097337" y="3835401"/>
            <a:ext cx="309563" cy="1630362"/>
          </a:xfrm>
          <a:prstGeom prst="line">
            <a:avLst/>
          </a:prstGeom>
          <a:noFill/>
          <a:ln w="952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977930" name="Text Box 10">
            <a:extLst>
              <a:ext uri="{FF2B5EF4-FFF2-40B4-BE49-F238E27FC236}">
                <a16:creationId xmlns:a16="http://schemas.microsoft.com/office/drawing/2014/main" id="{A1E75341-0EAA-0541-010C-5B7A98072B1E}"/>
              </a:ext>
            </a:extLst>
          </p:cNvPr>
          <p:cNvSpPr txBox="1">
            <a:spLocks noChangeArrowheads="1"/>
          </p:cNvSpPr>
          <p:nvPr/>
        </p:nvSpPr>
        <p:spPr bwMode="auto">
          <a:xfrm>
            <a:off x="4356100" y="3989388"/>
            <a:ext cx="1828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TW" sz="1600"/>
              <a:t>should be </a:t>
            </a:r>
            <a:r>
              <a:rPr lang="en-US" altLang="zh-TW" sz="1600">
                <a:solidFill>
                  <a:srgbClr val="FF0066"/>
                </a:solidFill>
              </a:rPr>
              <a:t>empty </a:t>
            </a:r>
            <a:r>
              <a:rPr lang="en-US" altLang="zh-TW" sz="1600"/>
              <a:t>!</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4" name="Rectangle 4">
            <a:extLst>
              <a:ext uri="{FF2B5EF4-FFF2-40B4-BE49-F238E27FC236}">
                <a16:creationId xmlns:a16="http://schemas.microsoft.com/office/drawing/2014/main" id="{B6B91434-B05B-0B0F-17B3-B6396717597B}"/>
              </a:ext>
            </a:extLst>
          </p:cNvPr>
          <p:cNvSpPr>
            <a:spLocks noChangeArrowheads="1"/>
          </p:cNvSpPr>
          <p:nvPr/>
        </p:nvSpPr>
        <p:spPr bwMode="auto">
          <a:xfrm>
            <a:off x="1281113" y="2492375"/>
            <a:ext cx="7467600"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5CB852">
                      <a:alpha val="50000"/>
                    </a:srgbClr>
                  </a:outerShdw>
                </a:effectLst>
              </a14:hiddenEffects>
            </a:ext>
          </a:extLst>
        </p:spPr>
        <p:txBody>
          <a:bodyPr anchor="ctr"/>
          <a:lstStyle>
            <a:lvl1pPr algn="l">
              <a:lnSpc>
                <a:spcPct val="120000"/>
              </a:lnSpc>
              <a:defRPr kumimoji="1" sz="3200" b="1">
                <a:solidFill>
                  <a:srgbClr val="006600"/>
                </a:solidFill>
                <a:latin typeface="Arial Black" panose="020B0604020202020204" pitchFamily="34" charset="0"/>
                <a:ea typeface="標楷體" pitchFamily="65" charset="-120"/>
              </a:defRPr>
            </a:lvl1pPr>
            <a:lvl2pPr algn="l">
              <a:lnSpc>
                <a:spcPct val="120000"/>
              </a:lnSpc>
              <a:defRPr kumimoji="1" sz="3200" b="1">
                <a:solidFill>
                  <a:srgbClr val="006600"/>
                </a:solidFill>
                <a:latin typeface="Arial Black" panose="020B0604020202020204" pitchFamily="34" charset="0"/>
                <a:ea typeface="標楷體" pitchFamily="65" charset="-120"/>
              </a:defRPr>
            </a:lvl2pPr>
            <a:lvl3pPr algn="l">
              <a:lnSpc>
                <a:spcPct val="120000"/>
              </a:lnSpc>
              <a:defRPr kumimoji="1" sz="3200" b="1">
                <a:solidFill>
                  <a:srgbClr val="006600"/>
                </a:solidFill>
                <a:latin typeface="Arial Black" panose="020B0604020202020204" pitchFamily="34" charset="0"/>
                <a:ea typeface="標楷體" pitchFamily="65" charset="-120"/>
              </a:defRPr>
            </a:lvl3pPr>
            <a:lvl4pPr algn="l">
              <a:lnSpc>
                <a:spcPct val="120000"/>
              </a:lnSpc>
              <a:defRPr kumimoji="1" sz="3200" b="1">
                <a:solidFill>
                  <a:srgbClr val="006600"/>
                </a:solidFill>
                <a:latin typeface="Arial Black" panose="020B0604020202020204" pitchFamily="34" charset="0"/>
                <a:ea typeface="標楷體" pitchFamily="65" charset="-120"/>
              </a:defRPr>
            </a:lvl4pPr>
            <a:lvl5pPr algn="l">
              <a:lnSpc>
                <a:spcPct val="120000"/>
              </a:lnSpc>
              <a:defRPr kumimoji="1" sz="3200" b="1">
                <a:solidFill>
                  <a:srgbClr val="006600"/>
                </a:solidFill>
                <a:latin typeface="Arial Black" panose="020B0604020202020204" pitchFamily="34" charset="0"/>
                <a:ea typeface="標楷體" pitchFamily="65" charset="-120"/>
              </a:defRPr>
            </a:lvl5pPr>
            <a:lvl6pPr marL="457200" fontAlgn="base">
              <a:lnSpc>
                <a:spcPct val="120000"/>
              </a:lnSpc>
              <a:spcBef>
                <a:spcPct val="0"/>
              </a:spcBef>
              <a:spcAft>
                <a:spcPct val="0"/>
              </a:spcAft>
              <a:defRPr kumimoji="1" sz="3200" b="1">
                <a:solidFill>
                  <a:srgbClr val="006600"/>
                </a:solidFill>
                <a:latin typeface="Arial Black" panose="020B0604020202020204" pitchFamily="34" charset="0"/>
                <a:ea typeface="標楷體" pitchFamily="65" charset="-120"/>
              </a:defRPr>
            </a:lvl6pPr>
            <a:lvl7pPr marL="914400" fontAlgn="base">
              <a:lnSpc>
                <a:spcPct val="120000"/>
              </a:lnSpc>
              <a:spcBef>
                <a:spcPct val="0"/>
              </a:spcBef>
              <a:spcAft>
                <a:spcPct val="0"/>
              </a:spcAft>
              <a:defRPr kumimoji="1" sz="3200" b="1">
                <a:solidFill>
                  <a:srgbClr val="006600"/>
                </a:solidFill>
                <a:latin typeface="Arial Black" panose="020B0604020202020204" pitchFamily="34" charset="0"/>
                <a:ea typeface="標楷體" pitchFamily="65" charset="-120"/>
              </a:defRPr>
            </a:lvl7pPr>
            <a:lvl8pPr marL="1371600" fontAlgn="base">
              <a:lnSpc>
                <a:spcPct val="120000"/>
              </a:lnSpc>
              <a:spcBef>
                <a:spcPct val="0"/>
              </a:spcBef>
              <a:spcAft>
                <a:spcPct val="0"/>
              </a:spcAft>
              <a:defRPr kumimoji="1" sz="3200" b="1">
                <a:solidFill>
                  <a:srgbClr val="006600"/>
                </a:solidFill>
                <a:latin typeface="Arial Black" panose="020B0604020202020204" pitchFamily="34" charset="0"/>
                <a:ea typeface="標楷體" pitchFamily="65" charset="-120"/>
              </a:defRPr>
            </a:lvl8pPr>
            <a:lvl9pPr marL="1828800" fontAlgn="base">
              <a:lnSpc>
                <a:spcPct val="120000"/>
              </a:lnSpc>
              <a:spcBef>
                <a:spcPct val="0"/>
              </a:spcBef>
              <a:spcAft>
                <a:spcPct val="0"/>
              </a:spcAft>
              <a:defRPr kumimoji="1" sz="3200" b="1">
                <a:solidFill>
                  <a:srgbClr val="006600"/>
                </a:solidFill>
                <a:latin typeface="Arial Black" panose="020B0604020202020204" pitchFamily="34" charset="0"/>
                <a:ea typeface="標楷體" pitchFamily="65" charset="-120"/>
              </a:defRPr>
            </a:lvl9pPr>
          </a:lstStyle>
          <a:p>
            <a:pPr algn="ctr"/>
            <a:r>
              <a:rPr lang="en-US" altLang="zh-TW" sz="2800"/>
              <a:t>Coding Guidelines for Gate-level Verilog Netlist </a:t>
            </a:r>
            <a:br>
              <a:rPr lang="en-US" altLang="zh-TW" sz="2800"/>
            </a:br>
            <a:r>
              <a:rPr lang="en-US" altLang="zh-TW" sz="2800"/>
              <a:t>&amp;</a:t>
            </a:r>
            <a:br>
              <a:rPr lang="en-US" altLang="zh-TW" sz="2800"/>
            </a:br>
            <a:r>
              <a:rPr lang="en-US" altLang="zh-TW" sz="2800"/>
              <a:t>Design Compiler Naming Rule</a:t>
            </a:r>
          </a:p>
        </p:txBody>
      </p:sp>
      <p:pic>
        <p:nvPicPr>
          <p:cNvPr id="983045" name="Picture 5">
            <a:extLst>
              <a:ext uri="{FF2B5EF4-FFF2-40B4-BE49-F238E27FC236}">
                <a16:creationId xmlns:a16="http://schemas.microsoft.com/office/drawing/2014/main" id="{5EBF720B-3429-6C3A-1F15-87227711E6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7188" y="188913"/>
            <a:ext cx="1519237"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83046" name="Picture 6">
            <a:extLst>
              <a:ext uri="{FF2B5EF4-FFF2-40B4-BE49-F238E27FC236}">
                <a16:creationId xmlns:a16="http://schemas.microsoft.com/office/drawing/2014/main" id="{0E6AABB5-85F1-D61A-E1BB-5FC771490B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38" y="381000"/>
            <a:ext cx="2163762"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7F467397-A8C0-AC1A-5E89-858E5A2A9AD9}"/>
              </a:ext>
            </a:extLst>
          </p:cNvPr>
          <p:cNvSpPr>
            <a:spLocks noGrp="1"/>
          </p:cNvSpPr>
          <p:nvPr>
            <p:ph type="sldNum" sz="quarter" idx="10"/>
          </p:nvPr>
        </p:nvSpPr>
        <p:spPr/>
        <p:txBody>
          <a:bodyPr/>
          <a:lstStyle/>
          <a:p>
            <a:fld id="{D25D2E18-7145-154F-9553-6096DD2060E0}" type="slidenum">
              <a:rPr lang="en-US" altLang="zh-TW"/>
              <a:pPr/>
              <a:t>47</a:t>
            </a:fld>
            <a:endParaRPr lang="en-US" altLang="zh-TW"/>
          </a:p>
        </p:txBody>
      </p:sp>
      <p:sp>
        <p:nvSpPr>
          <p:cNvPr id="984066" name="Rectangle 2">
            <a:extLst>
              <a:ext uri="{FF2B5EF4-FFF2-40B4-BE49-F238E27FC236}">
                <a16:creationId xmlns:a16="http://schemas.microsoft.com/office/drawing/2014/main" id="{85844DE1-06DA-1FBC-6E83-E1565C3B6A5B}"/>
              </a:ext>
            </a:extLst>
          </p:cNvPr>
          <p:cNvSpPr>
            <a:spLocks noGrp="1" noChangeArrowheads="1"/>
          </p:cNvSpPr>
          <p:nvPr>
            <p:ph type="title"/>
          </p:nvPr>
        </p:nvSpPr>
        <p:spPr/>
        <p:txBody>
          <a:bodyPr/>
          <a:lstStyle/>
          <a:p>
            <a:r>
              <a:rPr lang="en-US" altLang="zh-TW"/>
              <a:t>General Rules (1/2)</a:t>
            </a:r>
          </a:p>
        </p:txBody>
      </p:sp>
      <p:sp>
        <p:nvSpPr>
          <p:cNvPr id="984067" name="Rectangle 3">
            <a:extLst>
              <a:ext uri="{FF2B5EF4-FFF2-40B4-BE49-F238E27FC236}">
                <a16:creationId xmlns:a16="http://schemas.microsoft.com/office/drawing/2014/main" id="{82603181-CA79-6CC5-1C08-9857937F70F0}"/>
              </a:ext>
            </a:extLst>
          </p:cNvPr>
          <p:cNvSpPr>
            <a:spLocks noGrp="1" noChangeArrowheads="1"/>
          </p:cNvSpPr>
          <p:nvPr>
            <p:ph type="body" idx="1"/>
          </p:nvPr>
        </p:nvSpPr>
        <p:spPr/>
        <p:txBody>
          <a:bodyPr/>
          <a:lstStyle/>
          <a:p>
            <a:pPr>
              <a:buClr>
                <a:srgbClr val="FF3300"/>
              </a:buClr>
              <a:buFont typeface="Wingdings" pitchFamily="2" charset="2"/>
              <a:buChar char="v"/>
            </a:pPr>
            <a:r>
              <a:rPr lang="en-US" altLang="zh-TW" sz="2000"/>
              <a:t>All names must begin with an alphabetical character.</a:t>
            </a:r>
          </a:p>
          <a:p>
            <a:pPr>
              <a:buClr>
                <a:srgbClr val="FF3300"/>
              </a:buClr>
              <a:buFont typeface="Wingdings" pitchFamily="2" charset="2"/>
              <a:buChar char="v"/>
            </a:pPr>
            <a:r>
              <a:rPr lang="en-US" altLang="zh-TW" sz="2000"/>
              <a:t>No back-slash char (“\”)</a:t>
            </a:r>
          </a:p>
          <a:p>
            <a:pPr>
              <a:buClr>
                <a:srgbClr val="FF3300"/>
              </a:buClr>
              <a:buFont typeface="Wingdings" pitchFamily="2" charset="2"/>
              <a:buChar char="v"/>
            </a:pPr>
            <a:r>
              <a:rPr lang="en-US" altLang="zh-TW" sz="2000"/>
              <a:t>No “assign” statement</a:t>
            </a:r>
          </a:p>
          <a:p>
            <a:pPr>
              <a:buClr>
                <a:srgbClr val="FF3300"/>
              </a:buClr>
              <a:buFont typeface="Wingdings" pitchFamily="2" charset="2"/>
              <a:buChar char="v"/>
            </a:pPr>
            <a:r>
              <a:rPr lang="en-US" altLang="zh-TW" sz="2000"/>
              <a:t>Use “1’b0” and “1’b1” instead of “supply0” and “supply1”.</a:t>
            </a:r>
          </a:p>
          <a:p>
            <a:pPr>
              <a:buClr>
                <a:srgbClr val="FF3300"/>
              </a:buClr>
              <a:buFont typeface="Wingdings" pitchFamily="2" charset="2"/>
              <a:buChar char="v"/>
            </a:pPr>
            <a:r>
              <a:rPr lang="en-US" altLang="zh-TW" sz="2000"/>
              <a:t>All I/O cells must be declared in the top module, but the top module port list </a:t>
            </a:r>
            <a:r>
              <a:rPr lang="en-US" altLang="zh-TW" sz="2000">
                <a:solidFill>
                  <a:srgbClr val="FF3300"/>
                </a:solidFill>
              </a:rPr>
              <a:t>MUST NOT</a:t>
            </a:r>
            <a:r>
              <a:rPr lang="en-US" altLang="zh-TW" sz="2000"/>
              <a:t> include any power and ground pins.</a:t>
            </a:r>
          </a:p>
          <a:p>
            <a:pPr>
              <a:buClr>
                <a:srgbClr val="FF3300"/>
              </a:buClr>
              <a:buFont typeface="Wingdings" pitchFamily="2" charset="2"/>
              <a:buChar char="v"/>
            </a:pPr>
            <a:r>
              <a:rPr lang="en-US" altLang="zh-TW" sz="2000"/>
              <a:t>Use “call by reference” instead of “call by position” when invoking a cell library or a module. For example, use “BUF1 U001 (.I(net1), .Z(net2))” instead of “BUF1 U001 (net1, net2)”.</a:t>
            </a:r>
          </a:p>
          <a:p>
            <a:endParaRPr lang="en-US" altLang="zh-TW" sz="200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77A3D385-A668-CDA9-CDE2-0D12762A7078}"/>
              </a:ext>
            </a:extLst>
          </p:cNvPr>
          <p:cNvSpPr>
            <a:spLocks noGrp="1"/>
          </p:cNvSpPr>
          <p:nvPr>
            <p:ph type="sldNum" sz="quarter" idx="10"/>
          </p:nvPr>
        </p:nvSpPr>
        <p:spPr/>
        <p:txBody>
          <a:bodyPr/>
          <a:lstStyle/>
          <a:p>
            <a:fld id="{B09FAA3B-C280-0C45-A8DD-2E0C20141CB1}" type="slidenum">
              <a:rPr lang="en-US" altLang="zh-TW"/>
              <a:pPr/>
              <a:t>48</a:t>
            </a:fld>
            <a:endParaRPr lang="en-US" altLang="zh-TW"/>
          </a:p>
        </p:txBody>
      </p:sp>
      <p:sp>
        <p:nvSpPr>
          <p:cNvPr id="985090" name="Rectangle 2">
            <a:extLst>
              <a:ext uri="{FF2B5EF4-FFF2-40B4-BE49-F238E27FC236}">
                <a16:creationId xmlns:a16="http://schemas.microsoft.com/office/drawing/2014/main" id="{CD260885-BAC9-77EF-F8AB-55770FAAE0C5}"/>
              </a:ext>
            </a:extLst>
          </p:cNvPr>
          <p:cNvSpPr>
            <a:spLocks noGrp="1" noChangeArrowheads="1"/>
          </p:cNvSpPr>
          <p:nvPr>
            <p:ph type="title"/>
          </p:nvPr>
        </p:nvSpPr>
        <p:spPr/>
        <p:txBody>
          <a:bodyPr/>
          <a:lstStyle/>
          <a:p>
            <a:r>
              <a:rPr lang="en-US" altLang="zh-TW"/>
              <a:t>General Rules (2/2)</a:t>
            </a:r>
          </a:p>
        </p:txBody>
      </p:sp>
      <p:sp>
        <p:nvSpPr>
          <p:cNvPr id="985091" name="Rectangle 3">
            <a:extLst>
              <a:ext uri="{FF2B5EF4-FFF2-40B4-BE49-F238E27FC236}">
                <a16:creationId xmlns:a16="http://schemas.microsoft.com/office/drawing/2014/main" id="{3F7E0933-41C4-CF5B-5196-02CAC8AD219E}"/>
              </a:ext>
            </a:extLst>
          </p:cNvPr>
          <p:cNvSpPr>
            <a:spLocks noGrp="1" noChangeArrowheads="1"/>
          </p:cNvSpPr>
          <p:nvPr>
            <p:ph type="body" idx="1"/>
          </p:nvPr>
        </p:nvSpPr>
        <p:spPr/>
        <p:txBody>
          <a:bodyPr/>
          <a:lstStyle/>
          <a:p>
            <a:pPr>
              <a:buClr>
                <a:srgbClr val="FF3300"/>
              </a:buClr>
              <a:buFont typeface="Wingdings" pitchFamily="2" charset="2"/>
              <a:buChar char="v"/>
            </a:pPr>
            <a:r>
              <a:rPr lang="en-US" altLang="zh-TW" sz="2000"/>
              <a:t>Neither behavioral statement nor module in the gate-level netlist. With exception in hard-macros. Adding “`celldefine” and “`endcelldefine” at the top and bottom, respectively.</a:t>
            </a:r>
            <a:endParaRPr lang="en-US" altLang="zh-TW" sz="2000">
              <a:solidFill>
                <a:schemeClr val="accent2"/>
              </a:solidFill>
            </a:endParaRPr>
          </a:p>
          <a:p>
            <a:endParaRPr lang="en-US" altLang="zh-TW"/>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BB12A09A-46D9-BA4B-E63D-AFF6CD6939D9}"/>
              </a:ext>
            </a:extLst>
          </p:cNvPr>
          <p:cNvSpPr>
            <a:spLocks noGrp="1"/>
          </p:cNvSpPr>
          <p:nvPr>
            <p:ph type="sldNum" sz="quarter" idx="10"/>
          </p:nvPr>
        </p:nvSpPr>
        <p:spPr/>
        <p:txBody>
          <a:bodyPr/>
          <a:lstStyle/>
          <a:p>
            <a:fld id="{B338034D-2B6C-0843-89B0-998EC697901E}" type="slidenum">
              <a:rPr lang="en-US" altLang="zh-TW"/>
              <a:pPr/>
              <a:t>49</a:t>
            </a:fld>
            <a:endParaRPr lang="en-US" altLang="zh-TW"/>
          </a:p>
        </p:txBody>
      </p:sp>
      <p:sp>
        <p:nvSpPr>
          <p:cNvPr id="986114" name="Rectangle 2">
            <a:extLst>
              <a:ext uri="{FF2B5EF4-FFF2-40B4-BE49-F238E27FC236}">
                <a16:creationId xmlns:a16="http://schemas.microsoft.com/office/drawing/2014/main" id="{6ABA9F49-48C8-7B4D-9A88-ADDD56CF470E}"/>
              </a:ext>
            </a:extLst>
          </p:cNvPr>
          <p:cNvSpPr>
            <a:spLocks noGrp="1" noChangeArrowheads="1"/>
          </p:cNvSpPr>
          <p:nvPr>
            <p:ph type="title"/>
          </p:nvPr>
        </p:nvSpPr>
        <p:spPr/>
        <p:txBody>
          <a:bodyPr/>
          <a:lstStyle/>
          <a:p>
            <a:r>
              <a:rPr lang="en-US" altLang="zh-TW" sz="2800"/>
              <a:t>How to Declare the I/O Cells Used in the Verilog Netlist (1/3)</a:t>
            </a:r>
          </a:p>
        </p:txBody>
      </p:sp>
      <p:sp>
        <p:nvSpPr>
          <p:cNvPr id="986115" name="Rectangle 3">
            <a:extLst>
              <a:ext uri="{FF2B5EF4-FFF2-40B4-BE49-F238E27FC236}">
                <a16:creationId xmlns:a16="http://schemas.microsoft.com/office/drawing/2014/main" id="{9496A1C5-63DF-7738-ABB2-E3C667CAE5B2}"/>
              </a:ext>
            </a:extLst>
          </p:cNvPr>
          <p:cNvSpPr>
            <a:spLocks noGrp="1" noChangeArrowheads="1"/>
          </p:cNvSpPr>
          <p:nvPr>
            <p:ph type="body" idx="1"/>
          </p:nvPr>
        </p:nvSpPr>
        <p:spPr/>
        <p:txBody>
          <a:bodyPr/>
          <a:lstStyle/>
          <a:p>
            <a:pPr>
              <a:buClr>
                <a:srgbClr val="FF3300"/>
              </a:buClr>
              <a:buFont typeface="Wingdings" pitchFamily="2" charset="2"/>
              <a:buChar char="Ø"/>
            </a:pPr>
            <a:r>
              <a:rPr lang="en-US" altLang="zh-TW" sz="2000"/>
              <a:t>General Input, Output, and Bi-Direction Cells</a:t>
            </a:r>
          </a:p>
          <a:p>
            <a:pPr>
              <a:buClr>
                <a:srgbClr val="FF3300"/>
              </a:buClr>
              <a:buFont typeface="Wingdings" pitchFamily="2" charset="2"/>
              <a:buChar char="Ø"/>
            </a:pPr>
            <a:r>
              <a:rPr lang="en-US" altLang="zh-TW" sz="2000"/>
              <a:t>To facilitate debugging, each instance of an I/O cell is better named as PIN_&lt;io&gt;_&lt;pin_name&gt;, </a:t>
            </a:r>
            <a:r>
              <a:rPr lang="en-US" altLang="zh-TW" sz="2000" u="sng">
                <a:solidFill>
                  <a:schemeClr val="accent2"/>
                </a:solidFill>
                <a:hlinkClick r:id="rId2" action="ppaction://hlinksldjump"/>
              </a:rPr>
              <a:t>e.g. </a:t>
            </a:r>
            <a:r>
              <a:rPr lang="en-US" altLang="zh-TW" sz="2000" u="sng">
                <a:solidFill>
                  <a:schemeClr val="accent2"/>
                </a:solidFill>
                <a:sym typeface="Wingdings 2" pitchFamily="2" charset="2"/>
                <a:hlinkClick r:id="rId2" action="ppaction://hlinksldjump"/>
              </a:rPr>
              <a:t> in the page 51., where &lt;io&gt; must be one of I, O, B and X.</a:t>
            </a:r>
            <a:r>
              <a:rPr lang="en-US" altLang="zh-TW" sz="2000" u="sng">
                <a:solidFill>
                  <a:schemeClr val="accent2"/>
                </a:solidFill>
                <a:hlinkClick r:id="rId2" action="ppaction://hlinksldjump"/>
              </a:rPr>
              <a:t> </a:t>
            </a:r>
            <a:endParaRPr lang="en-US" altLang="zh-TW" sz="2000" u="sng">
              <a:solidFill>
                <a:schemeClr val="accent2"/>
              </a:solidFill>
            </a:endParaRPr>
          </a:p>
          <a:p>
            <a:pPr>
              <a:buClr>
                <a:srgbClr val="FF3300"/>
              </a:buClr>
              <a:buFont typeface="Wingdings" pitchFamily="2" charset="2"/>
              <a:buChar char="Ø"/>
            </a:pPr>
            <a:r>
              <a:rPr lang="en-US" altLang="zh-TW" sz="2000"/>
              <a:t>All I/O cells must be declared in the top module, </a:t>
            </a:r>
            <a:r>
              <a:rPr lang="en-US" altLang="zh-TW" sz="2000" u="sng">
                <a:hlinkClick r:id="rId2" action="ppaction://hlinksldjump"/>
              </a:rPr>
              <a:t>e.g. </a:t>
            </a:r>
            <a:r>
              <a:rPr lang="en-US" altLang="zh-TW" sz="2000" u="sng">
                <a:sym typeface="Wingdings 2" pitchFamily="2" charset="2"/>
                <a:hlinkClick r:id="rId2" action="ppaction://hlinksldjump"/>
              </a:rPr>
              <a:t> in the page 51.</a:t>
            </a:r>
            <a:endParaRPr lang="en-US" altLang="zh-TW" sz="2000" u="sng"/>
          </a:p>
          <a:p>
            <a:pPr>
              <a:buClr>
                <a:srgbClr val="FF3300"/>
              </a:buClr>
              <a:buFont typeface="Wingdings" pitchFamily="2" charset="2"/>
              <a:buChar char="Ø"/>
            </a:pPr>
            <a:r>
              <a:rPr lang="en-US" altLang="zh-TW" sz="2000"/>
              <a:t>Except power/ground and power cut cells, all pin names of all remaining I/O cells specified in the pin sequence file must have corresponding port names declared in the top module, </a:t>
            </a:r>
            <a:r>
              <a:rPr lang="en-US" altLang="zh-TW" sz="2000" u="sng">
                <a:solidFill>
                  <a:schemeClr val="accent2"/>
                </a:solidFill>
                <a:hlinkClick r:id="rId2" action="ppaction://hlinksldjump"/>
              </a:rPr>
              <a:t>e.g. </a:t>
            </a:r>
            <a:r>
              <a:rPr lang="en-US" altLang="zh-TW" sz="2000" u="sng">
                <a:solidFill>
                  <a:schemeClr val="accent2"/>
                </a:solidFill>
                <a:sym typeface="Wingdings 2" pitchFamily="2" charset="2"/>
                <a:hlinkClick r:id="rId2" action="ppaction://hlinksldjump"/>
              </a:rPr>
              <a:t> in the page 51 and  in the page 52.</a:t>
            </a:r>
            <a:endParaRPr lang="en-US" altLang="zh-TW" sz="2000" u="sng">
              <a:solidFill>
                <a:schemeClr val="accent2"/>
              </a:solidFill>
            </a:endParaRPr>
          </a:p>
          <a:p>
            <a:endParaRPr lang="en-US" altLang="zh-TW" sz="2000">
              <a:solidFill>
                <a:schemeClr val="accent2"/>
              </a:solidFill>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0BABECAC-CE95-D37C-D574-9A1E55D6D708}"/>
              </a:ext>
            </a:extLst>
          </p:cNvPr>
          <p:cNvSpPr>
            <a:spLocks noGrp="1"/>
          </p:cNvSpPr>
          <p:nvPr>
            <p:ph type="sldNum" sz="quarter" idx="10"/>
          </p:nvPr>
        </p:nvSpPr>
        <p:spPr/>
        <p:txBody>
          <a:bodyPr/>
          <a:lstStyle/>
          <a:p>
            <a:fld id="{BF3B959E-9BDD-EB47-AB22-026420DB26CF}" type="slidenum">
              <a:rPr lang="en-US" altLang="zh-TW"/>
              <a:pPr/>
              <a:t>50</a:t>
            </a:fld>
            <a:endParaRPr lang="en-US" altLang="zh-TW"/>
          </a:p>
        </p:txBody>
      </p:sp>
      <p:sp>
        <p:nvSpPr>
          <p:cNvPr id="987138" name="Rectangle 2">
            <a:extLst>
              <a:ext uri="{FF2B5EF4-FFF2-40B4-BE49-F238E27FC236}">
                <a16:creationId xmlns:a16="http://schemas.microsoft.com/office/drawing/2014/main" id="{64D1BB2C-D3BA-9C8D-AB60-60968B559F2F}"/>
              </a:ext>
            </a:extLst>
          </p:cNvPr>
          <p:cNvSpPr>
            <a:spLocks noGrp="1" noChangeArrowheads="1"/>
          </p:cNvSpPr>
          <p:nvPr>
            <p:ph type="title"/>
          </p:nvPr>
        </p:nvSpPr>
        <p:spPr/>
        <p:txBody>
          <a:bodyPr/>
          <a:lstStyle/>
          <a:p>
            <a:r>
              <a:rPr lang="en-US" altLang="zh-TW" sz="2800"/>
              <a:t>How to Declare the I/O Cells Used in the Verilog Netlist (2/3)</a:t>
            </a:r>
          </a:p>
        </p:txBody>
      </p:sp>
      <p:sp>
        <p:nvSpPr>
          <p:cNvPr id="987139" name="Rectangle 3">
            <a:extLst>
              <a:ext uri="{FF2B5EF4-FFF2-40B4-BE49-F238E27FC236}">
                <a16:creationId xmlns:a16="http://schemas.microsoft.com/office/drawing/2014/main" id="{0AE17CA6-AEB0-E095-643D-F4D1EF74E24A}"/>
              </a:ext>
            </a:extLst>
          </p:cNvPr>
          <p:cNvSpPr>
            <a:spLocks noGrp="1" noChangeArrowheads="1"/>
          </p:cNvSpPr>
          <p:nvPr>
            <p:ph type="body" idx="1"/>
          </p:nvPr>
        </p:nvSpPr>
        <p:spPr/>
        <p:txBody>
          <a:bodyPr/>
          <a:lstStyle/>
          <a:p>
            <a:pPr>
              <a:lnSpc>
                <a:spcPct val="110000"/>
              </a:lnSpc>
              <a:buClr>
                <a:srgbClr val="FF3300"/>
              </a:buClr>
              <a:buFont typeface="Wingdings" pitchFamily="2" charset="2"/>
              <a:buChar char="Ø"/>
            </a:pPr>
            <a:r>
              <a:rPr lang="en-US" altLang="zh-TW" sz="2000"/>
              <a:t>Power/Ground and Special I/O cells</a:t>
            </a:r>
          </a:p>
          <a:p>
            <a:pPr>
              <a:lnSpc>
                <a:spcPct val="110000"/>
              </a:lnSpc>
              <a:buClr>
                <a:srgbClr val="FF3300"/>
              </a:buClr>
              <a:buFont typeface="Wingdings" pitchFamily="2" charset="2"/>
              <a:buChar char="Ø"/>
            </a:pPr>
            <a:r>
              <a:rPr lang="en-US" altLang="zh-TW" sz="2000"/>
              <a:t>No naming restriction on the instance name of a power/ground pad. A power/ground pin must be named as: &lt;pkg_apr_text&gt;%&lt;power_ground_type&gt;%&lt;instance name&gt;, </a:t>
            </a:r>
            <a:r>
              <a:rPr lang="en-US" altLang="zh-TW" sz="2000">
                <a:hlinkClick r:id="rId2" action="ppaction://hlinksldjump"/>
              </a:rPr>
              <a:t>e.g. </a:t>
            </a:r>
            <a:r>
              <a:rPr lang="en-US" altLang="zh-TW" sz="2000">
                <a:sym typeface="Wingdings 2" pitchFamily="2" charset="2"/>
                <a:hlinkClick r:id="rId2" action="ppaction://hlinksldjump"/>
              </a:rPr>
              <a:t> in the page 51 and  in the page 52.</a:t>
            </a:r>
            <a:endParaRPr lang="en-US" altLang="zh-TW" sz="2000">
              <a:sym typeface="Wingdings 2" pitchFamily="2" charset="2"/>
            </a:endParaRPr>
          </a:p>
          <a:p>
            <a:pPr>
              <a:lnSpc>
                <a:spcPct val="110000"/>
              </a:lnSpc>
              <a:buClr>
                <a:srgbClr val="FF3300"/>
              </a:buClr>
              <a:buFont typeface="Wingdings" pitchFamily="2" charset="2"/>
              <a:buChar char="Ø"/>
            </a:pPr>
            <a:r>
              <a:rPr lang="en-US" altLang="zh-TW" sz="2000"/>
              <a:t>Multiple power (ground) pads bonded together should be declared multiple times, </a:t>
            </a:r>
            <a:r>
              <a:rPr lang="en-US" altLang="zh-TW" sz="2000">
                <a:hlinkClick r:id="rId3" action="ppaction://hlinksldjump"/>
              </a:rPr>
              <a:t>e.g. </a:t>
            </a:r>
            <a:r>
              <a:rPr lang="en-US" altLang="zh-TW" sz="2000">
                <a:sym typeface="Wingdings 2" pitchFamily="2" charset="2"/>
                <a:hlinkClick r:id="rId3" action="ppaction://hlinksldjump"/>
              </a:rPr>
              <a:t> in the page 51 and 52.</a:t>
            </a:r>
            <a:r>
              <a:rPr lang="en-US" altLang="zh-TW" sz="2000">
                <a:hlinkClick r:id="rId3" action="ppaction://hlinksldjump"/>
              </a:rPr>
              <a:t> </a:t>
            </a:r>
            <a:endParaRPr lang="en-US" altLang="zh-TW" sz="2000"/>
          </a:p>
          <a:p>
            <a:pPr>
              <a:lnSpc>
                <a:spcPct val="110000"/>
              </a:lnSpc>
              <a:buClr>
                <a:srgbClr val="FF3300"/>
              </a:buClr>
              <a:buFont typeface="Wingdings" pitchFamily="2" charset="2"/>
              <a:buChar char="Ø"/>
            </a:pPr>
            <a:r>
              <a:rPr lang="en-US" altLang="zh-TW" sz="2000"/>
              <a:t>For power/ground pads, the arguments of the corresponding I/O cells must be empty, </a:t>
            </a:r>
            <a:r>
              <a:rPr lang="en-US" altLang="zh-TW" sz="2000">
                <a:hlinkClick r:id="rId3" action="ppaction://hlinksldjump"/>
              </a:rPr>
              <a:t>e.g. </a:t>
            </a:r>
            <a:r>
              <a:rPr lang="en-US" altLang="zh-TW" sz="2000">
                <a:sym typeface="Wingdings 2" pitchFamily="2" charset="2"/>
                <a:hlinkClick r:id="rId3" action="ppaction://hlinksldjump"/>
              </a:rPr>
              <a:t></a:t>
            </a:r>
            <a:r>
              <a:rPr lang="en-US" altLang="zh-TW" sz="2000">
                <a:hlinkClick r:id="rId3" action="ppaction://hlinksldjump"/>
              </a:rPr>
              <a:t> in the page 51.</a:t>
            </a:r>
            <a:endParaRPr lang="en-US" altLang="zh-TW" sz="2000"/>
          </a:p>
          <a:p>
            <a:pPr>
              <a:lnSpc>
                <a:spcPct val="110000"/>
              </a:lnSpc>
              <a:buClr>
                <a:srgbClr val="FF3300"/>
              </a:buClr>
              <a:buFont typeface="Wingdings" pitchFamily="2" charset="2"/>
              <a:buChar char="Ø"/>
            </a:pPr>
            <a:r>
              <a:rPr lang="en-US" altLang="zh-TW" sz="2000"/>
              <a:t>For the analog I/O input, output and bi-direction cells, the declaration scheme is the same as general input, output, and bi-direction cells. </a:t>
            </a:r>
          </a:p>
          <a:p>
            <a:pPr>
              <a:lnSpc>
                <a:spcPct val="110000"/>
              </a:lnSpc>
            </a:pPr>
            <a:endParaRPr lang="en-US" altLang="zh-TW" sz="2000">
              <a:solidFill>
                <a:schemeClr val="accent2"/>
              </a:solidFill>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CDA98D79-BA47-6327-701E-ECA227707A90}"/>
              </a:ext>
            </a:extLst>
          </p:cNvPr>
          <p:cNvSpPr>
            <a:spLocks noGrp="1"/>
          </p:cNvSpPr>
          <p:nvPr>
            <p:ph type="sldNum" sz="quarter" idx="10"/>
          </p:nvPr>
        </p:nvSpPr>
        <p:spPr/>
        <p:txBody>
          <a:bodyPr/>
          <a:lstStyle/>
          <a:p>
            <a:fld id="{671E565E-B7C5-034C-B14F-6BE874F401D9}" type="slidenum">
              <a:rPr lang="en-US" altLang="zh-TW"/>
              <a:pPr/>
              <a:t>51</a:t>
            </a:fld>
            <a:endParaRPr lang="en-US" altLang="zh-TW"/>
          </a:p>
        </p:txBody>
      </p:sp>
      <p:sp>
        <p:nvSpPr>
          <p:cNvPr id="988162" name="Rectangle 2">
            <a:extLst>
              <a:ext uri="{FF2B5EF4-FFF2-40B4-BE49-F238E27FC236}">
                <a16:creationId xmlns:a16="http://schemas.microsoft.com/office/drawing/2014/main" id="{5FBA96DF-50A3-623B-4934-EDAA4F7EDD39}"/>
              </a:ext>
            </a:extLst>
          </p:cNvPr>
          <p:cNvSpPr>
            <a:spLocks noGrp="1" noChangeArrowheads="1"/>
          </p:cNvSpPr>
          <p:nvPr>
            <p:ph type="title"/>
          </p:nvPr>
        </p:nvSpPr>
        <p:spPr/>
        <p:txBody>
          <a:bodyPr/>
          <a:lstStyle/>
          <a:p>
            <a:r>
              <a:rPr lang="en-US" altLang="zh-TW"/>
              <a:t>Top Module Example</a:t>
            </a:r>
          </a:p>
        </p:txBody>
      </p:sp>
      <p:pic>
        <p:nvPicPr>
          <p:cNvPr id="988173" name="Picture 13">
            <a:extLst>
              <a:ext uri="{FF2B5EF4-FFF2-40B4-BE49-F238E27FC236}">
                <a16:creationId xmlns:a16="http://schemas.microsoft.com/office/drawing/2014/main" id="{A8D9322C-4A57-7B5B-F978-300243716A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036638"/>
            <a:ext cx="6664325" cy="5459412"/>
          </a:xfrm>
          <a:prstGeom prst="rect">
            <a:avLst/>
          </a:prstGeom>
          <a:noFill/>
          <a:ln>
            <a:noFill/>
          </a:ln>
          <a:effectLst/>
          <a:extLst>
            <a:ext uri="{909E8E84-426E-40DD-AFC4-6F175D3DCCD1}">
              <a14:hiddenFill xmlns:a14="http://schemas.microsoft.com/office/drawing/2010/main">
                <a:gradFill rotWithShape="0">
                  <a:gsLst>
                    <a:gs pos="0">
                      <a:srgbClr val="4EA844"/>
                    </a:gs>
                    <a:gs pos="100000">
                      <a:srgbClr val="D2E69E"/>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5DFE723F-53FD-CCBA-CEB6-0E91FFDAB0C1}"/>
              </a:ext>
            </a:extLst>
          </p:cNvPr>
          <p:cNvSpPr>
            <a:spLocks noGrp="1"/>
          </p:cNvSpPr>
          <p:nvPr>
            <p:ph type="sldNum" sz="quarter" idx="10"/>
          </p:nvPr>
        </p:nvSpPr>
        <p:spPr/>
        <p:txBody>
          <a:bodyPr/>
          <a:lstStyle/>
          <a:p>
            <a:fld id="{416CD39F-60FA-754A-914A-AE0460A49FEB}" type="slidenum">
              <a:rPr lang="en-US" altLang="zh-TW"/>
              <a:pPr/>
              <a:t>52</a:t>
            </a:fld>
            <a:endParaRPr lang="en-US" altLang="zh-TW"/>
          </a:p>
        </p:txBody>
      </p:sp>
      <p:sp>
        <p:nvSpPr>
          <p:cNvPr id="989186" name="Rectangle 2">
            <a:extLst>
              <a:ext uri="{FF2B5EF4-FFF2-40B4-BE49-F238E27FC236}">
                <a16:creationId xmlns:a16="http://schemas.microsoft.com/office/drawing/2014/main" id="{B1E9FD07-C521-75B5-B7F7-8FBD67FCA4F2}"/>
              </a:ext>
            </a:extLst>
          </p:cNvPr>
          <p:cNvSpPr>
            <a:spLocks noGrp="1" noChangeArrowheads="1"/>
          </p:cNvSpPr>
          <p:nvPr>
            <p:ph type="title"/>
          </p:nvPr>
        </p:nvSpPr>
        <p:spPr/>
        <p:txBody>
          <a:bodyPr/>
          <a:lstStyle/>
          <a:p>
            <a:r>
              <a:rPr lang="en-US" altLang="zh-TW"/>
              <a:t>Simple Pin Sequence Mapping</a:t>
            </a:r>
          </a:p>
        </p:txBody>
      </p:sp>
      <p:pic>
        <p:nvPicPr>
          <p:cNvPr id="989188" name="Picture 4">
            <a:extLst>
              <a:ext uri="{FF2B5EF4-FFF2-40B4-BE49-F238E27FC236}">
                <a16:creationId xmlns:a16="http://schemas.microsoft.com/office/drawing/2014/main" id="{DD6B5DC9-A61A-E97C-07B8-7FA2B0E679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181100"/>
            <a:ext cx="6659563" cy="5067300"/>
          </a:xfrm>
          <a:prstGeom prst="rect">
            <a:avLst/>
          </a:prstGeom>
          <a:noFill/>
          <a:ln>
            <a:noFill/>
          </a:ln>
          <a:effectLst/>
          <a:extLst>
            <a:ext uri="{909E8E84-426E-40DD-AFC4-6F175D3DCCD1}">
              <a14:hiddenFill xmlns:a14="http://schemas.microsoft.com/office/drawing/2010/main">
                <a:gradFill rotWithShape="0">
                  <a:gsLst>
                    <a:gs pos="0">
                      <a:srgbClr val="4EA844"/>
                    </a:gs>
                    <a:gs pos="100000">
                      <a:srgbClr val="D2E69E"/>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5265EC35-1E5C-D581-2E49-F187EB265CCE}"/>
              </a:ext>
            </a:extLst>
          </p:cNvPr>
          <p:cNvSpPr>
            <a:spLocks noGrp="1"/>
          </p:cNvSpPr>
          <p:nvPr>
            <p:ph type="sldNum" sz="quarter" idx="10"/>
          </p:nvPr>
        </p:nvSpPr>
        <p:spPr/>
        <p:txBody>
          <a:bodyPr/>
          <a:lstStyle/>
          <a:p>
            <a:fld id="{719F2749-7074-FA41-90E2-B6FEB21CBF62}" type="slidenum">
              <a:rPr lang="en-US" altLang="zh-TW"/>
              <a:pPr/>
              <a:t>53</a:t>
            </a:fld>
            <a:endParaRPr lang="en-US" altLang="zh-TW"/>
          </a:p>
        </p:txBody>
      </p:sp>
      <p:sp>
        <p:nvSpPr>
          <p:cNvPr id="990210" name="Rectangle 2">
            <a:extLst>
              <a:ext uri="{FF2B5EF4-FFF2-40B4-BE49-F238E27FC236}">
                <a16:creationId xmlns:a16="http://schemas.microsoft.com/office/drawing/2014/main" id="{084BD3CE-9FA2-DA80-E621-8D447929D878}"/>
              </a:ext>
            </a:extLst>
          </p:cNvPr>
          <p:cNvSpPr>
            <a:spLocks noGrp="1" noChangeArrowheads="1"/>
          </p:cNvSpPr>
          <p:nvPr>
            <p:ph type="title"/>
          </p:nvPr>
        </p:nvSpPr>
        <p:spPr/>
        <p:txBody>
          <a:bodyPr/>
          <a:lstStyle/>
          <a:p>
            <a:r>
              <a:rPr lang="en-US" altLang="zh-TW" sz="2800"/>
              <a:t>Naming Rule Script and Setting in Synopsys Design Compiler (1/2)</a:t>
            </a:r>
          </a:p>
        </p:txBody>
      </p:sp>
      <p:sp>
        <p:nvSpPr>
          <p:cNvPr id="990211" name="Rectangle 3">
            <a:extLst>
              <a:ext uri="{FF2B5EF4-FFF2-40B4-BE49-F238E27FC236}">
                <a16:creationId xmlns:a16="http://schemas.microsoft.com/office/drawing/2014/main" id="{5C988A60-5481-E10B-FB7C-48CBB6FC79B3}"/>
              </a:ext>
            </a:extLst>
          </p:cNvPr>
          <p:cNvSpPr>
            <a:spLocks noGrp="1" noChangeArrowheads="1"/>
          </p:cNvSpPr>
          <p:nvPr>
            <p:ph type="body" idx="1"/>
          </p:nvPr>
        </p:nvSpPr>
        <p:spPr>
          <a:xfrm>
            <a:off x="609600" y="1371600"/>
            <a:ext cx="8915400" cy="4648200"/>
          </a:xfrm>
        </p:spPr>
        <p:txBody>
          <a:bodyPr/>
          <a:lstStyle/>
          <a:p>
            <a:pPr>
              <a:lnSpc>
                <a:spcPct val="110000"/>
              </a:lnSpc>
              <a:buClr>
                <a:srgbClr val="FF3300"/>
              </a:buClr>
              <a:buFont typeface="Wingdings" pitchFamily="2" charset="2"/>
              <a:buChar char="v"/>
            </a:pPr>
            <a:r>
              <a:rPr lang="en-US" altLang="zh-TW" sz="2000"/>
              <a:t>Setting for eliminating the netlist “assign” problem in Synopsys Design Compiler before compile:</a:t>
            </a:r>
          </a:p>
          <a:p>
            <a:pPr>
              <a:lnSpc>
                <a:spcPct val="110000"/>
              </a:lnSpc>
              <a:buClr>
                <a:srgbClr val="FF3300"/>
              </a:buClr>
              <a:buFont typeface="Wingdings" pitchFamily="2" charset="2"/>
              <a:buNone/>
            </a:pPr>
            <a:r>
              <a:rPr lang="en-US" altLang="zh-TW" sz="1800">
                <a:ea typeface="新細明體" panose="02020500000000000000" pitchFamily="18" charset="-120"/>
              </a:rPr>
              <a:t>	      dc_shell&gt; verilogout_single_bit = “false”</a:t>
            </a:r>
          </a:p>
          <a:p>
            <a:pPr>
              <a:lnSpc>
                <a:spcPct val="110000"/>
              </a:lnSpc>
              <a:buClr>
                <a:srgbClr val="FF3300"/>
              </a:buClr>
              <a:buFont typeface="Wingdings" pitchFamily="2" charset="2"/>
              <a:buNone/>
            </a:pPr>
            <a:r>
              <a:rPr lang="en-US" altLang="zh-TW" sz="1800">
                <a:ea typeface="新細明體" panose="02020500000000000000" pitchFamily="18" charset="-120"/>
              </a:rPr>
              <a:t>	      dc_shell&gt; verilogout_equation = “false”</a:t>
            </a:r>
            <a:endParaRPr lang="en-US" altLang="zh-TW" sz="1800">
              <a:cs typeface="Times New Roman" panose="02020603050405020304" pitchFamily="18" charset="0"/>
            </a:endParaRPr>
          </a:p>
          <a:p>
            <a:pPr>
              <a:lnSpc>
                <a:spcPct val="110000"/>
              </a:lnSpc>
              <a:buClr>
                <a:srgbClr val="FF3300"/>
              </a:buClr>
              <a:buFont typeface="Wingdings" pitchFamily="2" charset="2"/>
              <a:buNone/>
            </a:pPr>
            <a:r>
              <a:rPr lang="en-US" altLang="zh-TW" sz="1800">
                <a:ea typeface="新細明體" panose="02020500000000000000" pitchFamily="18" charset="-120"/>
              </a:rPr>
              <a:t>	      dc_shell&gt; verilogout_no_tri = “true”</a:t>
            </a:r>
          </a:p>
          <a:p>
            <a:pPr>
              <a:lnSpc>
                <a:spcPct val="110000"/>
              </a:lnSpc>
              <a:buClr>
                <a:srgbClr val="FF3300"/>
              </a:buClr>
              <a:buFont typeface="Wingdings" pitchFamily="2" charset="2"/>
              <a:buNone/>
            </a:pPr>
            <a:r>
              <a:rPr lang="en-US" altLang="zh-TW" sz="1800">
                <a:cs typeface="Times New Roman" panose="02020603050405020304" pitchFamily="18" charset="0"/>
              </a:rPr>
              <a:t>	      dc_shell&gt; set_fix_multiple_port_nets -all -buffer_constants</a:t>
            </a:r>
            <a:endParaRPr lang="en-US" altLang="zh-TW" sz="1800"/>
          </a:p>
          <a:p>
            <a:pPr>
              <a:lnSpc>
                <a:spcPct val="110000"/>
              </a:lnSpc>
              <a:buClr>
                <a:srgbClr val="FF3300"/>
              </a:buClr>
              <a:buFont typeface="Wingdings" pitchFamily="2" charset="2"/>
              <a:buChar char="v"/>
            </a:pPr>
            <a:r>
              <a:rPr lang="en-US" altLang="zh-TW" sz="2000">
                <a:cs typeface="Times New Roman" panose="02020603050405020304" pitchFamily="18" charset="0"/>
              </a:rPr>
              <a:t>GUC provides the Design Compiler naming rule scripts called </a:t>
            </a:r>
            <a:r>
              <a:rPr lang="en-US" altLang="zh-TW" sz="2000">
                <a:solidFill>
                  <a:schemeClr val="accent2"/>
                </a:solidFill>
                <a:cs typeface="Times New Roman" panose="02020603050405020304" pitchFamily="18" charset="0"/>
              </a:rPr>
              <a:t>UniChip _name_rule.scr,</a:t>
            </a:r>
            <a:r>
              <a:rPr lang="en-US" altLang="zh-TW" sz="2000">
                <a:cs typeface="Times New Roman" panose="02020603050405020304" pitchFamily="18" charset="0"/>
              </a:rPr>
              <a:t> </a:t>
            </a:r>
            <a:r>
              <a:rPr lang="en-US" altLang="zh-TW" sz="2000">
                <a:solidFill>
                  <a:schemeClr val="accent2"/>
                </a:solidFill>
                <a:cs typeface="Times New Roman" panose="02020603050405020304" pitchFamily="18" charset="0"/>
              </a:rPr>
              <a:t>UniChip_name_rule_before_dc20030312.scr</a:t>
            </a:r>
            <a:r>
              <a:rPr lang="en-US" altLang="zh-TW" sz="2000">
                <a:cs typeface="Times New Roman" panose="02020603050405020304" pitchFamily="18" charset="0"/>
              </a:rPr>
              <a:t> and </a:t>
            </a:r>
            <a:r>
              <a:rPr lang="en-US" altLang="zh-TW" sz="2000">
                <a:solidFill>
                  <a:schemeClr val="accent2"/>
                </a:solidFill>
                <a:cs typeface="Times New Roman" panose="02020603050405020304" pitchFamily="18" charset="0"/>
              </a:rPr>
              <a:t>UniChip _name_rule_after_dc20030312.scr </a:t>
            </a:r>
            <a:r>
              <a:rPr lang="en-US" altLang="zh-TW" sz="2000">
                <a:cs typeface="Times New Roman" panose="02020603050405020304" pitchFamily="18" charset="0"/>
              </a:rPr>
              <a:t>in the $UNICHIP_HOME/script/dc directory. The </a:t>
            </a:r>
            <a:r>
              <a:rPr lang="en-US" altLang="zh-TW" sz="2000">
                <a:solidFill>
                  <a:schemeClr val="accent2"/>
                </a:solidFill>
                <a:cs typeface="Times New Roman" panose="02020603050405020304" pitchFamily="18" charset="0"/>
              </a:rPr>
              <a:t>UniChip _name_rule.scr</a:t>
            </a:r>
            <a:r>
              <a:rPr lang="en-US" altLang="zh-TW" sz="2000">
                <a:cs typeface="Times New Roman" panose="02020603050405020304" pitchFamily="18" charset="0"/>
              </a:rPr>
              <a:t> refers to the default script </a:t>
            </a:r>
            <a:r>
              <a:rPr lang="en-US" altLang="zh-TW" sz="2000">
                <a:solidFill>
                  <a:schemeClr val="accent2"/>
                </a:solidFill>
                <a:cs typeface="Times New Roman" panose="02020603050405020304" pitchFamily="18" charset="0"/>
              </a:rPr>
              <a:t>UniChip _name_rule_after_dc20030312.scr.</a:t>
            </a:r>
            <a:r>
              <a:rPr lang="en-US" altLang="zh-TW" sz="2000">
                <a:cs typeface="Times New Roman" panose="02020603050405020304" pitchFamily="18" charset="0"/>
              </a:rPr>
              <a:t> </a:t>
            </a:r>
          </a:p>
          <a:p>
            <a:pPr>
              <a:lnSpc>
                <a:spcPct val="110000"/>
              </a:lnSpc>
            </a:pPr>
            <a:endParaRPr lang="en-US" altLang="zh-TW" sz="200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E07061BE-ED23-FC56-69E3-26AB063447A8}"/>
              </a:ext>
            </a:extLst>
          </p:cNvPr>
          <p:cNvSpPr>
            <a:spLocks noGrp="1"/>
          </p:cNvSpPr>
          <p:nvPr>
            <p:ph type="sldNum" sz="quarter" idx="10"/>
          </p:nvPr>
        </p:nvSpPr>
        <p:spPr/>
        <p:txBody>
          <a:bodyPr/>
          <a:lstStyle/>
          <a:p>
            <a:fld id="{B4A226A5-7CE4-BB4D-92B1-EA6DE0567869}" type="slidenum">
              <a:rPr lang="en-US" altLang="zh-TW"/>
              <a:pPr/>
              <a:t>54</a:t>
            </a:fld>
            <a:endParaRPr lang="en-US" altLang="zh-TW"/>
          </a:p>
        </p:txBody>
      </p:sp>
      <p:sp>
        <p:nvSpPr>
          <p:cNvPr id="991234" name="Rectangle 2">
            <a:extLst>
              <a:ext uri="{FF2B5EF4-FFF2-40B4-BE49-F238E27FC236}">
                <a16:creationId xmlns:a16="http://schemas.microsoft.com/office/drawing/2014/main" id="{A14ABF6A-10F7-0F28-898F-833EFB32C823}"/>
              </a:ext>
            </a:extLst>
          </p:cNvPr>
          <p:cNvSpPr>
            <a:spLocks noGrp="1" noChangeArrowheads="1"/>
          </p:cNvSpPr>
          <p:nvPr>
            <p:ph type="title"/>
          </p:nvPr>
        </p:nvSpPr>
        <p:spPr/>
        <p:txBody>
          <a:bodyPr/>
          <a:lstStyle/>
          <a:p>
            <a:r>
              <a:rPr lang="en-US" altLang="zh-TW" sz="2800"/>
              <a:t>Naming Rule Script and Setting in Synopsys Design Compiler (2/2)</a:t>
            </a:r>
          </a:p>
        </p:txBody>
      </p:sp>
      <p:sp>
        <p:nvSpPr>
          <p:cNvPr id="991235" name="Rectangle 3">
            <a:extLst>
              <a:ext uri="{FF2B5EF4-FFF2-40B4-BE49-F238E27FC236}">
                <a16:creationId xmlns:a16="http://schemas.microsoft.com/office/drawing/2014/main" id="{0E039F38-4F71-1269-3C1F-5E9777650E48}"/>
              </a:ext>
            </a:extLst>
          </p:cNvPr>
          <p:cNvSpPr>
            <a:spLocks noGrp="1" noChangeArrowheads="1"/>
          </p:cNvSpPr>
          <p:nvPr>
            <p:ph type="body" idx="1"/>
          </p:nvPr>
        </p:nvSpPr>
        <p:spPr/>
        <p:txBody>
          <a:bodyPr/>
          <a:lstStyle/>
          <a:p>
            <a:pPr>
              <a:buClr>
                <a:srgbClr val="FF3300"/>
              </a:buClr>
              <a:buFont typeface="Wingdings" pitchFamily="2" charset="2"/>
              <a:buChar char="v"/>
            </a:pPr>
            <a:r>
              <a:rPr lang="en-US" altLang="zh-TW" sz="2000"/>
              <a:t>Before write out netlist (DC version after 20030312):</a:t>
            </a:r>
          </a:p>
          <a:p>
            <a:pPr>
              <a:buClr>
                <a:srgbClr val="FF3300"/>
              </a:buClr>
              <a:buFont typeface="Wingdings" pitchFamily="2" charset="2"/>
              <a:buNone/>
            </a:pPr>
            <a:r>
              <a:rPr lang="en-US" altLang="zh-TW" sz="1800">
                <a:cs typeface="Times New Roman" panose="02020603050405020304" pitchFamily="18" charset="0"/>
              </a:rPr>
              <a:t>	dc_shell&gt; include </a:t>
            </a:r>
            <a:r>
              <a:rPr lang="en-US" altLang="zh-TW" sz="1800">
                <a:solidFill>
                  <a:schemeClr val="accent2"/>
                </a:solidFill>
                <a:cs typeface="Times New Roman" panose="02020603050405020304" pitchFamily="18" charset="0"/>
              </a:rPr>
              <a:t>$UNICHIP_HOME/script/dc</a:t>
            </a:r>
            <a:r>
              <a:rPr lang="en-US" altLang="zh-TW" sz="1800">
                <a:cs typeface="Times New Roman" panose="02020603050405020304" pitchFamily="18" charset="0"/>
              </a:rPr>
              <a:t>/unichip_name_rule.scr</a:t>
            </a:r>
          </a:p>
          <a:p>
            <a:pPr>
              <a:buClr>
                <a:srgbClr val="FF3300"/>
              </a:buClr>
              <a:buFont typeface="Wingdings" pitchFamily="2" charset="2"/>
              <a:buChar char="v"/>
            </a:pPr>
            <a:endParaRPr lang="en-US" altLang="zh-TW"/>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C2EB946A-84F1-FF1E-9C9E-86B0FF21277B}"/>
              </a:ext>
            </a:extLst>
          </p:cNvPr>
          <p:cNvSpPr>
            <a:spLocks noGrp="1"/>
          </p:cNvSpPr>
          <p:nvPr>
            <p:ph type="sldNum" sz="quarter" idx="10"/>
          </p:nvPr>
        </p:nvSpPr>
        <p:spPr/>
        <p:txBody>
          <a:bodyPr/>
          <a:lstStyle/>
          <a:p>
            <a:fld id="{9587598B-EDDF-2D47-B5B6-EB9A931641CE}" type="slidenum">
              <a:rPr lang="en-US" altLang="zh-TW"/>
              <a:pPr/>
              <a:t>55</a:t>
            </a:fld>
            <a:endParaRPr lang="en-US" altLang="zh-TW"/>
          </a:p>
        </p:txBody>
      </p:sp>
      <p:sp>
        <p:nvSpPr>
          <p:cNvPr id="979970" name="Rectangle 2">
            <a:extLst>
              <a:ext uri="{FF2B5EF4-FFF2-40B4-BE49-F238E27FC236}">
                <a16:creationId xmlns:a16="http://schemas.microsoft.com/office/drawing/2014/main" id="{592AC87F-1EF2-19F6-81AA-420C1A81A4E9}"/>
              </a:ext>
            </a:extLst>
          </p:cNvPr>
          <p:cNvSpPr>
            <a:spLocks noChangeArrowheads="1"/>
          </p:cNvSpPr>
          <p:nvPr/>
        </p:nvSpPr>
        <p:spPr bwMode="auto">
          <a:xfrm>
            <a:off x="457200" y="228600"/>
            <a:ext cx="850741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kumimoji="1" sz="2400">
                <a:solidFill>
                  <a:schemeClr val="tx1"/>
                </a:solidFill>
                <a:latin typeface="Times New Roman" panose="02020603050405020304" pitchFamily="18" charset="0"/>
                <a:ea typeface="新細明體" panose="02020500000000000000" pitchFamily="18" charset="-120"/>
              </a:defRPr>
            </a:lvl1pPr>
            <a:lvl2pPr algn="l">
              <a:defRPr kumimoji="1" sz="2400">
                <a:solidFill>
                  <a:schemeClr val="tx1"/>
                </a:solidFill>
                <a:latin typeface="Times New Roman" panose="02020603050405020304" pitchFamily="18" charset="0"/>
                <a:ea typeface="新細明體" panose="02020500000000000000" pitchFamily="18" charset="-120"/>
              </a:defRPr>
            </a:lvl2pPr>
            <a:lvl3pPr algn="l">
              <a:defRPr kumimoji="1" sz="2400">
                <a:solidFill>
                  <a:schemeClr val="tx1"/>
                </a:solidFill>
                <a:latin typeface="Times New Roman" panose="02020603050405020304" pitchFamily="18" charset="0"/>
                <a:ea typeface="新細明體" panose="02020500000000000000" pitchFamily="18" charset="-120"/>
              </a:defRPr>
            </a:lvl3pPr>
            <a:lvl4pPr algn="l">
              <a:defRPr kumimoji="1" sz="2400">
                <a:solidFill>
                  <a:schemeClr val="tx1"/>
                </a:solidFill>
                <a:latin typeface="Times New Roman" panose="02020603050405020304" pitchFamily="18" charset="0"/>
                <a:ea typeface="新細明體" panose="02020500000000000000" pitchFamily="18" charset="-120"/>
              </a:defRPr>
            </a:lvl4pPr>
            <a:lvl5pPr algn="l">
              <a:defRPr kumimoji="1" sz="2400">
                <a:solidFill>
                  <a:schemeClr val="tx1"/>
                </a:solidFill>
                <a:latin typeface="Times New Roman" panose="02020603050405020304" pitchFamily="18" charset="0"/>
                <a:ea typeface="新細明體" panose="02020500000000000000" pitchFamily="18" charset="-120"/>
              </a:defRPr>
            </a:lvl5pPr>
            <a:lvl6pPr marL="4572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9144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1371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18288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nSpc>
                <a:spcPct val="120000"/>
              </a:lnSpc>
            </a:pPr>
            <a:r>
              <a:rPr lang="en-US" altLang="zh-TW" sz="3200">
                <a:solidFill>
                  <a:srgbClr val="006600"/>
                </a:solidFill>
                <a:latin typeface="Arial Black" panose="020B0604020202020204" pitchFamily="34" charset="0"/>
                <a:ea typeface="標楷體" pitchFamily="65" charset="-120"/>
              </a:rPr>
              <a:t>Summary</a:t>
            </a:r>
          </a:p>
        </p:txBody>
      </p:sp>
      <p:sp>
        <p:nvSpPr>
          <p:cNvPr id="979971" name="Rectangle 3">
            <a:extLst>
              <a:ext uri="{FF2B5EF4-FFF2-40B4-BE49-F238E27FC236}">
                <a16:creationId xmlns:a16="http://schemas.microsoft.com/office/drawing/2014/main" id="{8775E1FC-6F32-88DC-613C-B748D04ED888}"/>
              </a:ext>
            </a:extLst>
          </p:cNvPr>
          <p:cNvSpPr>
            <a:spLocks noChangeArrowheads="1"/>
          </p:cNvSpPr>
          <p:nvPr/>
        </p:nvSpPr>
        <p:spPr bwMode="auto">
          <a:xfrm>
            <a:off x="914400" y="1752600"/>
            <a:ext cx="8305800" cy="4343400"/>
          </a:xfrm>
          <a:prstGeom prst="rect">
            <a:avLst/>
          </a:prstGeom>
          <a:noFill/>
          <a:ln>
            <a:noFill/>
          </a:ln>
          <a:effectLst/>
          <a:extLst>
            <a:ext uri="{909E8E84-426E-40DD-AFC4-6F175D3DCCD1}">
              <a14:hiddenFill xmlns:a14="http://schemas.microsoft.com/office/drawing/2010/main">
                <a:solidFill>
                  <a:srgbClr val="CCFF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79972" name="Rectangle 4">
            <a:extLst>
              <a:ext uri="{FF2B5EF4-FFF2-40B4-BE49-F238E27FC236}">
                <a16:creationId xmlns:a16="http://schemas.microsoft.com/office/drawing/2014/main" id="{EE12E578-59F8-A8E0-31FD-0AB9FE3BB74B}"/>
              </a:ext>
            </a:extLst>
          </p:cNvPr>
          <p:cNvSpPr>
            <a:spLocks noChangeArrowheads="1"/>
          </p:cNvSpPr>
          <p:nvPr/>
        </p:nvSpPr>
        <p:spPr bwMode="auto">
          <a:xfrm>
            <a:off x="381000" y="1143000"/>
            <a:ext cx="9112250" cy="495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lgn="l">
              <a:defRPr kumimoji="1" sz="2400">
                <a:solidFill>
                  <a:schemeClr val="tx1"/>
                </a:solidFill>
                <a:latin typeface="Times New Roman" panose="02020603050405020304" pitchFamily="18" charset="0"/>
                <a:ea typeface="新細明體" panose="02020500000000000000" pitchFamily="18" charset="-120"/>
              </a:defRPr>
            </a:lvl1pPr>
            <a:lvl2pPr marL="914400" indent="-457200" algn="l">
              <a:defRPr kumimoji="1" sz="2400">
                <a:solidFill>
                  <a:schemeClr val="tx1"/>
                </a:solidFill>
                <a:latin typeface="Times New Roman" panose="02020603050405020304" pitchFamily="18" charset="0"/>
                <a:ea typeface="新細明體" panose="02020500000000000000" pitchFamily="18" charset="-120"/>
              </a:defRPr>
            </a:lvl2pPr>
            <a:lvl3pPr marL="1371600" indent="-457200" algn="l">
              <a:defRPr kumimoji="1" sz="2400">
                <a:solidFill>
                  <a:schemeClr val="tx1"/>
                </a:solidFill>
                <a:latin typeface="Times New Roman" panose="02020603050405020304" pitchFamily="18" charset="0"/>
                <a:ea typeface="新細明體" panose="02020500000000000000" pitchFamily="18" charset="-120"/>
              </a:defRPr>
            </a:lvl3pPr>
            <a:lvl4pPr marL="1828800" indent="-457200" algn="l">
              <a:defRPr kumimoji="1" sz="2400">
                <a:solidFill>
                  <a:schemeClr val="tx1"/>
                </a:solidFill>
                <a:latin typeface="Times New Roman" panose="02020603050405020304" pitchFamily="18" charset="0"/>
                <a:ea typeface="新細明體" panose="02020500000000000000" pitchFamily="18" charset="-120"/>
              </a:defRPr>
            </a:lvl4pPr>
            <a:lvl5pPr marL="2286000" indent="-457200" algn="l">
              <a:defRPr kumimoji="1" sz="2400">
                <a:solidFill>
                  <a:schemeClr val="tx1"/>
                </a:solidFill>
                <a:latin typeface="Times New Roman" panose="02020603050405020304" pitchFamily="18" charset="0"/>
                <a:ea typeface="新細明體" panose="02020500000000000000" pitchFamily="18" charset="-120"/>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20000"/>
              </a:spcBef>
              <a:buClr>
                <a:srgbClr val="FF3300"/>
              </a:buClr>
              <a:buFont typeface="Wingdings" pitchFamily="2" charset="2"/>
              <a:buChar char="v"/>
            </a:pPr>
            <a:r>
              <a:rPr lang="en-US" altLang="zh-TW" sz="2200" b="1">
                <a:latin typeface="Arial" panose="020B0604020202020204" pitchFamily="34" charset="0"/>
                <a:ea typeface="標楷體" pitchFamily="65" charset="-120"/>
              </a:rPr>
              <a:t>GUC in-house proprietary design kits for project cowork</a:t>
            </a:r>
          </a:p>
          <a:p>
            <a:pPr lvl="1">
              <a:lnSpc>
                <a:spcPct val="90000"/>
              </a:lnSpc>
              <a:spcBef>
                <a:spcPct val="15000"/>
              </a:spcBef>
              <a:buFont typeface="Wingdings" pitchFamily="2" charset="2"/>
              <a:buChar char="n"/>
            </a:pPr>
            <a:r>
              <a:rPr lang="en-US" altLang="zh-TW" sz="2000" b="1">
                <a:solidFill>
                  <a:schemeClr val="accent2"/>
                </a:solidFill>
                <a:latin typeface="Arial" panose="020B0604020202020204" pitchFamily="34" charset="0"/>
              </a:rPr>
              <a:t>Utility</a:t>
            </a:r>
          </a:p>
          <a:p>
            <a:pPr lvl="2">
              <a:lnSpc>
                <a:spcPct val="90000"/>
              </a:lnSpc>
              <a:spcBef>
                <a:spcPct val="15000"/>
              </a:spcBef>
              <a:buFont typeface="Wingdings" pitchFamily="2" charset="2"/>
              <a:buChar char="ü"/>
            </a:pPr>
            <a:r>
              <a:rPr lang="en-US" altLang="zh-TW" sz="1600" b="1">
                <a:solidFill>
                  <a:srgbClr val="006600"/>
                </a:solidFill>
                <a:latin typeface="Arial" panose="020B0604020202020204" pitchFamily="34" charset="0"/>
              </a:rPr>
              <a:t>UNS          		:  Netlist screener</a:t>
            </a:r>
            <a:endParaRPr lang="en-US" altLang="zh-TW" sz="1600" b="1">
              <a:solidFill>
                <a:srgbClr val="006600"/>
              </a:solidFill>
              <a:latin typeface="Arial" panose="020B0604020202020204" pitchFamily="34" charset="0"/>
              <a:ea typeface="標楷體" pitchFamily="65" charset="-120"/>
            </a:endParaRPr>
          </a:p>
          <a:p>
            <a:pPr lvl="2">
              <a:lnSpc>
                <a:spcPct val="90000"/>
              </a:lnSpc>
              <a:spcBef>
                <a:spcPct val="15000"/>
              </a:spcBef>
              <a:buFont typeface="Wingdings" pitchFamily="2" charset="2"/>
              <a:buChar char="ü"/>
            </a:pPr>
            <a:r>
              <a:rPr lang="en-US" altLang="zh-TW" sz="1600" b="1">
                <a:latin typeface="Arial" panose="020B0604020202020204" pitchFamily="34" charset="0"/>
                <a:ea typeface="標楷體" pitchFamily="65" charset="-120"/>
              </a:rPr>
              <a:t>UTPG          		:  Test pattern translator</a:t>
            </a:r>
          </a:p>
          <a:p>
            <a:pPr lvl="2">
              <a:lnSpc>
                <a:spcPct val="90000"/>
              </a:lnSpc>
              <a:spcBef>
                <a:spcPct val="15000"/>
              </a:spcBef>
              <a:buFont typeface="Wingdings" pitchFamily="2" charset="2"/>
              <a:buChar char="ü"/>
            </a:pPr>
            <a:r>
              <a:rPr lang="en-US" altLang="zh-TW" sz="1600" b="1">
                <a:solidFill>
                  <a:srgbClr val="006600"/>
                </a:solidFill>
                <a:latin typeface="Arial" panose="020B0604020202020204" pitchFamily="34" charset="0"/>
                <a:ea typeface="標楷體" pitchFamily="65" charset="-120"/>
              </a:rPr>
              <a:t>UPAD_ASSIGN 	:  Pad assignment file translator</a:t>
            </a:r>
          </a:p>
          <a:p>
            <a:pPr lvl="2">
              <a:lnSpc>
                <a:spcPct val="30000"/>
              </a:lnSpc>
              <a:spcBef>
                <a:spcPct val="15000"/>
              </a:spcBef>
              <a:buFont typeface="Wingdings" pitchFamily="2" charset="2"/>
              <a:buNone/>
            </a:pPr>
            <a:endParaRPr lang="en-US" altLang="zh-TW" sz="1600" b="1">
              <a:solidFill>
                <a:srgbClr val="006600"/>
              </a:solidFill>
              <a:latin typeface="Arial" panose="020B0604020202020204" pitchFamily="34" charset="0"/>
              <a:ea typeface="標楷體" pitchFamily="65" charset="-120"/>
            </a:endParaRPr>
          </a:p>
          <a:p>
            <a:pPr lvl="1">
              <a:lnSpc>
                <a:spcPct val="90000"/>
              </a:lnSpc>
              <a:spcBef>
                <a:spcPct val="15000"/>
              </a:spcBef>
              <a:buFont typeface="Wingdings" pitchFamily="2" charset="2"/>
              <a:buChar char="n"/>
            </a:pPr>
            <a:r>
              <a:rPr lang="en-US" altLang="zh-TW" sz="2000" b="1">
                <a:solidFill>
                  <a:schemeClr val="accent2"/>
                </a:solidFill>
                <a:latin typeface="Arial" panose="020B0604020202020204" pitchFamily="34" charset="0"/>
                <a:ea typeface="標楷體" pitchFamily="65" charset="-120"/>
              </a:rPr>
              <a:t>Script</a:t>
            </a:r>
          </a:p>
          <a:p>
            <a:pPr lvl="2">
              <a:lnSpc>
                <a:spcPct val="90000"/>
              </a:lnSpc>
              <a:spcBef>
                <a:spcPct val="15000"/>
              </a:spcBef>
              <a:buFont typeface="Wingdings" pitchFamily="2" charset="2"/>
              <a:buChar char="ü"/>
            </a:pPr>
            <a:r>
              <a:rPr lang="en-US" altLang="zh-TW" sz="1800" b="1">
                <a:latin typeface="Arial" panose="020B0604020202020204" pitchFamily="34" charset="0"/>
                <a:ea typeface="標楷體" pitchFamily="65" charset="-120"/>
              </a:rPr>
              <a:t>PrimeTime QoR</a:t>
            </a:r>
          </a:p>
          <a:p>
            <a:pPr lvl="2">
              <a:lnSpc>
                <a:spcPct val="90000"/>
              </a:lnSpc>
              <a:spcBef>
                <a:spcPct val="15000"/>
              </a:spcBef>
              <a:buFont typeface="Wingdings" pitchFamily="2" charset="2"/>
              <a:buChar char="ü"/>
            </a:pPr>
            <a:r>
              <a:rPr lang="en-US" altLang="zh-TW" sz="1800" b="1">
                <a:solidFill>
                  <a:srgbClr val="006600"/>
                </a:solidFill>
                <a:latin typeface="Arial" panose="020B0604020202020204" pitchFamily="34" charset="0"/>
                <a:ea typeface="標楷體" pitchFamily="65" charset="-120"/>
              </a:rPr>
              <a:t>Design Compiler Naming Rule </a:t>
            </a:r>
          </a:p>
          <a:p>
            <a:pPr lvl="2">
              <a:lnSpc>
                <a:spcPct val="50000"/>
              </a:lnSpc>
              <a:spcBef>
                <a:spcPct val="15000"/>
              </a:spcBef>
              <a:buFont typeface="Wingdings" pitchFamily="2" charset="2"/>
              <a:buChar char="ü"/>
            </a:pPr>
            <a:endParaRPr lang="en-US" altLang="zh-TW" sz="1800" b="1">
              <a:solidFill>
                <a:srgbClr val="006600"/>
              </a:solidFill>
              <a:latin typeface="Arial" panose="020B0604020202020204" pitchFamily="34" charset="0"/>
              <a:ea typeface="標楷體" pitchFamily="65" charset="-120"/>
            </a:endParaRPr>
          </a:p>
          <a:p>
            <a:pPr lvl="1">
              <a:lnSpc>
                <a:spcPct val="90000"/>
              </a:lnSpc>
              <a:spcBef>
                <a:spcPct val="15000"/>
              </a:spcBef>
              <a:buFont typeface="Wingdings" pitchFamily="2" charset="2"/>
              <a:buChar char="n"/>
            </a:pPr>
            <a:r>
              <a:rPr lang="en-US" altLang="zh-TW" sz="2000" b="1">
                <a:solidFill>
                  <a:schemeClr val="accent2"/>
                </a:solidFill>
                <a:latin typeface="Arial" panose="020B0604020202020204" pitchFamily="34" charset="0"/>
                <a:ea typeface="標楷體" pitchFamily="65" charset="-120"/>
              </a:rPr>
              <a:t>Document</a:t>
            </a:r>
          </a:p>
          <a:p>
            <a:pPr lvl="2">
              <a:lnSpc>
                <a:spcPct val="90000"/>
              </a:lnSpc>
              <a:spcBef>
                <a:spcPct val="15000"/>
              </a:spcBef>
              <a:buFont typeface="Wingdings" pitchFamily="2" charset="2"/>
              <a:buChar char="ü"/>
            </a:pPr>
            <a:r>
              <a:rPr lang="en-US" altLang="zh-TW" sz="1800" b="1">
                <a:solidFill>
                  <a:srgbClr val="006600"/>
                </a:solidFill>
                <a:latin typeface="Arial" panose="020B0604020202020204" pitchFamily="34" charset="0"/>
              </a:rPr>
              <a:t>Design kit for ASIC Design Service – User’s Manual</a:t>
            </a:r>
          </a:p>
          <a:p>
            <a:pPr lvl="2">
              <a:lnSpc>
                <a:spcPct val="90000"/>
              </a:lnSpc>
              <a:spcBef>
                <a:spcPct val="15000"/>
              </a:spcBef>
              <a:buFont typeface="Wingdings" pitchFamily="2" charset="2"/>
              <a:buChar char="ü"/>
            </a:pPr>
            <a:r>
              <a:rPr lang="en-US" altLang="zh-TW" sz="1800" b="1">
                <a:latin typeface="Arial" panose="020B0604020202020204" pitchFamily="34" charset="0"/>
              </a:rPr>
              <a:t>GUC Static Timing Analysis User Guide</a:t>
            </a:r>
          </a:p>
          <a:p>
            <a:pPr lvl="2">
              <a:lnSpc>
                <a:spcPct val="90000"/>
              </a:lnSpc>
              <a:spcBef>
                <a:spcPct val="15000"/>
              </a:spcBef>
              <a:buFont typeface="Wingdings" pitchFamily="2" charset="2"/>
              <a:buChar char="ü"/>
            </a:pPr>
            <a:r>
              <a:rPr lang="en-US" altLang="zh-TW" sz="1800" b="1">
                <a:latin typeface="Arial" panose="020B0604020202020204" pitchFamily="34" charset="0"/>
              </a:rPr>
              <a:t>GUC Spare Cell Guide</a:t>
            </a:r>
          </a:p>
          <a:p>
            <a:pPr lvl="2">
              <a:lnSpc>
                <a:spcPct val="90000"/>
              </a:lnSpc>
              <a:spcBef>
                <a:spcPct val="15000"/>
              </a:spcBef>
              <a:buFont typeface="Wingdings" pitchFamily="2" charset="2"/>
              <a:buNone/>
            </a:pPr>
            <a:endParaRPr lang="en-US" altLang="zh-TW" sz="1800" b="1">
              <a:latin typeface="Arial" panose="020B0604020202020204" pitchFamily="34" charset="0"/>
            </a:endParaRPr>
          </a:p>
          <a:p>
            <a:pPr lvl="2">
              <a:lnSpc>
                <a:spcPct val="90000"/>
              </a:lnSpc>
              <a:spcBef>
                <a:spcPct val="15000"/>
              </a:spcBef>
              <a:buFont typeface="Wingdings" pitchFamily="2" charset="2"/>
              <a:buNone/>
            </a:pPr>
            <a:r>
              <a:rPr lang="en-US" altLang="zh-TW" sz="1600" b="1">
                <a:latin typeface="Arial" panose="020B0604020202020204" pitchFamily="34" charset="0"/>
              </a:rPr>
              <a:t>GUC will delivery the </a:t>
            </a:r>
            <a:r>
              <a:rPr lang="en-US" altLang="zh-TW" sz="1600" b="1">
                <a:solidFill>
                  <a:schemeClr val="accent2"/>
                </a:solidFill>
                <a:latin typeface="Arial" panose="020B0604020202020204" pitchFamily="34" charset="0"/>
              </a:rPr>
              <a:t>GUC Design Handoff Package</a:t>
            </a:r>
            <a:r>
              <a:rPr lang="en-US" altLang="zh-TW" sz="1600" b="1">
                <a:latin typeface="Arial" panose="020B0604020202020204" pitchFamily="34" charset="0"/>
              </a:rPr>
              <a:t> to SONY after kick-off </a:t>
            </a:r>
          </a:p>
          <a:p>
            <a:pPr lvl="2">
              <a:lnSpc>
                <a:spcPct val="90000"/>
              </a:lnSpc>
              <a:spcBef>
                <a:spcPct val="15000"/>
              </a:spcBef>
              <a:buFont typeface="Wingdings" pitchFamily="2" charset="2"/>
              <a:buNone/>
            </a:pPr>
            <a:r>
              <a:rPr lang="en-US" altLang="zh-TW" sz="1600" b="1">
                <a:latin typeface="Arial" panose="020B0604020202020204" pitchFamily="34" charset="0"/>
              </a:rPr>
              <a:t>meeting. UNS/UPAD_ASSIGN’s detail are described in </a:t>
            </a:r>
            <a:r>
              <a:rPr lang="en-US" altLang="zh-TW" sz="1600" b="1">
                <a:solidFill>
                  <a:schemeClr val="accent1"/>
                </a:solidFill>
                <a:latin typeface="Arial" panose="020B0604020202020204" pitchFamily="34" charset="0"/>
              </a:rPr>
              <a:t>Design kit for ASIC </a:t>
            </a:r>
          </a:p>
          <a:p>
            <a:pPr lvl="2">
              <a:lnSpc>
                <a:spcPct val="90000"/>
              </a:lnSpc>
              <a:spcBef>
                <a:spcPct val="15000"/>
              </a:spcBef>
              <a:buFont typeface="Wingdings" pitchFamily="2" charset="2"/>
              <a:buNone/>
            </a:pPr>
            <a:r>
              <a:rPr lang="en-US" altLang="zh-TW" sz="1600" b="1">
                <a:solidFill>
                  <a:schemeClr val="accent1"/>
                </a:solidFill>
                <a:latin typeface="Arial" panose="020B0604020202020204" pitchFamily="34" charset="0"/>
              </a:rPr>
              <a:t>Design Service – User’s Manual</a:t>
            </a:r>
          </a:p>
        </p:txBody>
      </p:sp>
    </p:spTree>
  </p:cSld>
  <p:clrMapOvr>
    <a:masterClrMapping/>
  </p:clrMapOvr>
  <p:transition/>
</p:sld>
</file>

<file path=ppt/theme/theme1.xml><?xml version="1.0" encoding="utf-8"?>
<a:theme xmlns:a="http://schemas.openxmlformats.org/drawingml/2006/main" name="GUC-new logo">
  <a:themeElements>
    <a:clrScheme name="GUC-new logo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GUC-new logo">
      <a:majorFont>
        <a:latin typeface="Arial Black"/>
        <a:ea typeface="標楷體"/>
        <a:cs typeface=""/>
      </a:majorFont>
      <a:minorFont>
        <a:latin typeface="Arial"/>
        <a:ea typeface="標楷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rgbClr val="4EA844"/>
            </a:gs>
            <a:gs pos="100000">
              <a:srgbClr val="D2E69E"/>
            </a:gs>
          </a:gsLst>
          <a:lin ang="0" scaled="1"/>
        </a:gra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000" b="0" i="0" u="none" strike="noStrike" cap="none" normalizeH="0" baseline="0" smtClean="0">
            <a:ln>
              <a:noFill/>
            </a:ln>
            <a:solidFill>
              <a:schemeClr val="tx1"/>
            </a:solidFill>
            <a:effectLst/>
            <a:latin typeface="Times New Roman" panose="02020603050405020304" pitchFamily="18" charset="0"/>
            <a:ea typeface="新細明體" panose="02020500000000000000" pitchFamily="18" charset="-120"/>
          </a:defRPr>
        </a:defPPr>
      </a:lstStyle>
    </a:spDef>
    <a:lnDef>
      <a:spPr bwMode="auto">
        <a:xfrm>
          <a:off x="0" y="0"/>
          <a:ext cx="1" cy="1"/>
        </a:xfrm>
        <a:custGeom>
          <a:avLst/>
          <a:gdLst/>
          <a:ahLst/>
          <a:cxnLst/>
          <a:rect l="0" t="0" r="0" b="0"/>
          <a:pathLst/>
        </a:custGeom>
        <a:gradFill rotWithShape="0">
          <a:gsLst>
            <a:gs pos="0">
              <a:srgbClr val="4EA844"/>
            </a:gs>
            <a:gs pos="100000">
              <a:srgbClr val="D2E69E"/>
            </a:gs>
          </a:gsLst>
          <a:lin ang="0" scaled="1"/>
        </a:gra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000" b="0" i="0" u="none" strike="noStrike" cap="none" normalizeH="0" baseline="0" smtClean="0">
            <a:ln>
              <a:noFill/>
            </a:ln>
            <a:solidFill>
              <a:schemeClr val="tx1"/>
            </a:solidFill>
            <a:effectLst/>
            <a:latin typeface="Times New Roman" panose="02020603050405020304" pitchFamily="18" charset="0"/>
            <a:ea typeface="新細明體" panose="02020500000000000000" pitchFamily="18" charset="-120"/>
          </a:defRPr>
        </a:defPPr>
      </a:lstStyle>
    </a:lnDef>
  </a:objectDefaults>
  <a:extraClrSchemeLst>
    <a:extraClrScheme>
      <a:clrScheme name="GUC-new logo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GUC-new logo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GUC-new logo 3">
        <a:dk1>
          <a:srgbClr val="000000"/>
        </a:dk1>
        <a:lt1>
          <a:srgbClr val="FFFFCC"/>
        </a:lt1>
        <a:dk2>
          <a:srgbClr val="808000"/>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GUC-new logo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UC-new logo 5">
        <a:dk1>
          <a:srgbClr val="000000"/>
        </a:dk1>
        <a:lt1>
          <a:srgbClr val="FFFFFF"/>
        </a:lt1>
        <a:dk2>
          <a:srgbClr val="000000"/>
        </a:dk2>
        <a:lt2>
          <a:srgbClr val="969696"/>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GUC-new logo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GUC-new logo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GUC-new logo">
  <a:themeElements>
    <a:clrScheme name="1_GUC-new logo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GUC-new logo">
      <a:majorFont>
        <a:latin typeface="Arial Black"/>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rgbClr val="4EA844"/>
            </a:gs>
            <a:gs pos="100000">
              <a:srgbClr val="D2E69E"/>
            </a:gs>
          </a:gsLst>
          <a:lin ang="0" scaled="1"/>
        </a:gra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000" b="0" i="0" u="none" strike="noStrike" cap="none" normalizeH="0" baseline="0" smtClean="0">
            <a:ln>
              <a:noFill/>
            </a:ln>
            <a:solidFill>
              <a:schemeClr val="tx1"/>
            </a:solidFill>
            <a:effectLst/>
            <a:latin typeface="Times New Roman" panose="02020603050405020304" pitchFamily="18" charset="0"/>
            <a:ea typeface="新細明體" panose="02020500000000000000" pitchFamily="18" charset="-120"/>
          </a:defRPr>
        </a:defPPr>
      </a:lstStyle>
    </a:spDef>
    <a:lnDef>
      <a:spPr bwMode="auto">
        <a:xfrm>
          <a:off x="0" y="0"/>
          <a:ext cx="1" cy="1"/>
        </a:xfrm>
        <a:custGeom>
          <a:avLst/>
          <a:gdLst/>
          <a:ahLst/>
          <a:cxnLst/>
          <a:rect l="0" t="0" r="0" b="0"/>
          <a:pathLst/>
        </a:custGeom>
        <a:gradFill rotWithShape="0">
          <a:gsLst>
            <a:gs pos="0">
              <a:srgbClr val="4EA844"/>
            </a:gs>
            <a:gs pos="100000">
              <a:srgbClr val="D2E69E"/>
            </a:gs>
          </a:gsLst>
          <a:lin ang="0" scaled="1"/>
        </a:gra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000" b="0" i="0" u="none" strike="noStrike" cap="none" normalizeH="0" baseline="0" smtClean="0">
            <a:ln>
              <a:noFill/>
            </a:ln>
            <a:solidFill>
              <a:schemeClr val="tx1"/>
            </a:solidFill>
            <a:effectLst/>
            <a:latin typeface="Times New Roman" panose="02020603050405020304" pitchFamily="18" charset="0"/>
            <a:ea typeface="新細明體" panose="02020500000000000000" pitchFamily="18" charset="-120"/>
          </a:defRPr>
        </a:defPPr>
      </a:lstStyle>
    </a:lnDef>
  </a:objectDefaults>
  <a:extraClrSchemeLst>
    <a:extraClrScheme>
      <a:clrScheme name="1_GUC-new logo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GUC-new logo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GUC-new logo 3">
        <a:dk1>
          <a:srgbClr val="000000"/>
        </a:dk1>
        <a:lt1>
          <a:srgbClr val="FFFFCC"/>
        </a:lt1>
        <a:dk2>
          <a:srgbClr val="808000"/>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GUC-new logo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GUC-new logo 5">
        <a:dk1>
          <a:srgbClr val="000000"/>
        </a:dk1>
        <a:lt1>
          <a:srgbClr val="FFFFFF"/>
        </a:lt1>
        <a:dk2>
          <a:srgbClr val="000000"/>
        </a:dk2>
        <a:lt2>
          <a:srgbClr val="969696"/>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GUC-new logo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GUC-new logo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11308</TotalTime>
  <Words>6411</Words>
  <Application>Microsoft Macintosh PowerPoint</Application>
  <PresentationFormat>A4 紙張 (210x297 公釐)</PresentationFormat>
  <Paragraphs>697</Paragraphs>
  <Slides>56</Slides>
  <Notes>5</Notes>
  <HiddenSlides>0</HiddenSlides>
  <MMClips>0</MMClips>
  <ScaleCrop>false</ScaleCrop>
  <HeadingPairs>
    <vt:vector size="8" baseType="variant">
      <vt:variant>
        <vt:lpstr>使用字型</vt:lpstr>
      </vt:variant>
      <vt:variant>
        <vt:i4>9</vt:i4>
      </vt:variant>
      <vt:variant>
        <vt:lpstr>佈景主題</vt:lpstr>
      </vt:variant>
      <vt:variant>
        <vt:i4>2</vt:i4>
      </vt:variant>
      <vt:variant>
        <vt:lpstr>內嵌 OLE 伺服程式</vt:lpstr>
      </vt:variant>
      <vt:variant>
        <vt:i4>2</vt:i4>
      </vt:variant>
      <vt:variant>
        <vt:lpstr>投影片標題</vt:lpstr>
      </vt:variant>
      <vt:variant>
        <vt:i4>56</vt:i4>
      </vt:variant>
    </vt:vector>
  </HeadingPairs>
  <TitlesOfParts>
    <vt:vector size="69" baseType="lpstr">
      <vt:lpstr>Times New Roman</vt:lpstr>
      <vt:lpstr>新細明體</vt:lpstr>
      <vt:lpstr>Arial Black</vt:lpstr>
      <vt:lpstr>標楷體</vt:lpstr>
      <vt:lpstr>Arial</vt:lpstr>
      <vt:lpstr>Wingdings</vt:lpstr>
      <vt:lpstr>Lucida Handwriting</vt:lpstr>
      <vt:lpstr>細明體</vt:lpstr>
      <vt:lpstr>Wingdings 2</vt:lpstr>
      <vt:lpstr>GUC-new logo</vt:lpstr>
      <vt:lpstr>1_GUC-new logo</vt:lpstr>
      <vt:lpstr>Microsoft Visio 繪圖</vt:lpstr>
      <vt:lpstr>VISIO 5 繪圖</vt:lpstr>
      <vt:lpstr>GUC Design Handoff Package Introduction</vt:lpstr>
      <vt:lpstr>PowerPoint 簡報</vt:lpstr>
      <vt:lpstr>Data Exchange</vt:lpstr>
      <vt:lpstr>Data Exchange for GUC Design Service</vt:lpstr>
      <vt:lpstr>Back-end APR Service</vt:lpstr>
      <vt:lpstr>Hand-off data at Preliminary Design Handoff</vt:lpstr>
      <vt:lpstr>Hand-off data at Preliminary Design Handoff</vt:lpstr>
      <vt:lpstr>Hand-off data at Preliminary Design Handoff</vt:lpstr>
      <vt:lpstr>Data Release to Customer after Preliminary Physical Design</vt:lpstr>
      <vt:lpstr>Hand-off Data at Final Design Handoff</vt:lpstr>
      <vt:lpstr>Hand-off Data at Final Design Handoff</vt:lpstr>
      <vt:lpstr>Hand-off Data at Final Design Handoff</vt:lpstr>
      <vt:lpstr> Hand-off Data at Final Design Handoff </vt:lpstr>
      <vt:lpstr>Data Release to Customer after Physical Design Implementation</vt:lpstr>
      <vt:lpstr>UNS</vt:lpstr>
      <vt:lpstr>Overview</vt:lpstr>
      <vt:lpstr>Functional Specification</vt:lpstr>
      <vt:lpstr>Application Flow</vt:lpstr>
      <vt:lpstr>Input/Output Files</vt:lpstr>
      <vt:lpstr>Command Usage (1/5)</vt:lpstr>
      <vt:lpstr>Command Usage (2/5)</vt:lpstr>
      <vt:lpstr>Command Usage (3/5)</vt:lpstr>
      <vt:lpstr>Command Usage (4/5)</vt:lpstr>
      <vt:lpstr>Command Usage (5/5)</vt:lpstr>
      <vt:lpstr>Command File Example</vt:lpstr>
      <vt:lpstr>UNS Log (1/2)</vt:lpstr>
      <vt:lpstr>UNS Log (2/2)</vt:lpstr>
      <vt:lpstr>UNS Report (1/4)</vt:lpstr>
      <vt:lpstr>UNS Report (2/4)</vt:lpstr>
      <vt:lpstr>UNS Report (3/4)</vt:lpstr>
      <vt:lpstr>Report File Format</vt:lpstr>
      <vt:lpstr>Design Summary (1/3)</vt:lpstr>
      <vt:lpstr>Design Summary (2/3)</vt:lpstr>
      <vt:lpstr>Design Summary (3/3)</vt:lpstr>
      <vt:lpstr>UPAD_ASSIGN</vt:lpstr>
      <vt:lpstr>Overview</vt:lpstr>
      <vt:lpstr>Flow Diagram</vt:lpstr>
      <vt:lpstr>Command Usage</vt:lpstr>
      <vt:lpstr>Command Usage (cont.)</vt:lpstr>
      <vt:lpstr>Command Usage (cont.)</vt:lpstr>
      <vt:lpstr>Pin Sequence File Example</vt:lpstr>
      <vt:lpstr>How to write pin sequence file</vt:lpstr>
      <vt:lpstr>How to write pin sequence file (cont.)</vt:lpstr>
      <vt:lpstr>How to write pin sequence file (cont.)</vt:lpstr>
      <vt:lpstr>How to write pin sequence file (cont.)</vt:lpstr>
      <vt:lpstr>How to write pin sequence file (cont.)</vt:lpstr>
      <vt:lpstr>PowerPoint 簡報</vt:lpstr>
      <vt:lpstr>General Rules (1/2)</vt:lpstr>
      <vt:lpstr>General Rules (2/2)</vt:lpstr>
      <vt:lpstr>How to Declare the I/O Cells Used in the Verilog Netlist (1/3)</vt:lpstr>
      <vt:lpstr>How to Declare the I/O Cells Used in the Verilog Netlist (2/3)</vt:lpstr>
      <vt:lpstr>Top Module Example</vt:lpstr>
      <vt:lpstr>Simple Pin Sequence Mapping</vt:lpstr>
      <vt:lpstr>Naming Rule Script and Setting in Synopsys Design Compiler (1/2)</vt:lpstr>
      <vt:lpstr>Naming Rule Script and Setting in Synopsys Design Compiler (2/2)</vt:lpstr>
      <vt:lpstr>PowerPoint 簡報</vt:lpstr>
    </vt:vector>
  </TitlesOfParts>
  <Company>Global UniChip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GUC Design Service Overview</dc:title>
  <dc:creator>Peter Wei</dc:creator>
  <cp:lastModifiedBy>kevin.be</cp:lastModifiedBy>
  <cp:revision>962</cp:revision>
  <cp:lastPrinted>2000-07-17T12:02:35Z</cp:lastPrinted>
  <dcterms:created xsi:type="dcterms:W3CDTF">2001-07-16T10:39:41Z</dcterms:created>
  <dcterms:modified xsi:type="dcterms:W3CDTF">2026-04-18T10:22:05Z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1101959531</vt:i4>
  </property>
  <property fmtid="{D5CDD505-2E9C-101B-9397-08002B2CF9AE}" pid="3" name="_EmailSubject">
    <vt:lpwstr/>
  </property>
  <property fmtid="{D5CDD505-2E9C-101B-9397-08002B2CF9AE}" pid="4" name="_AuthorEmail">
    <vt:lpwstr>kevinyao@ntu.edu.tw</vt:lpwstr>
  </property>
  <property fmtid="{D5CDD505-2E9C-101B-9397-08002B2CF9AE}" pid="5" name="_AuthorEmailDisplayName">
    <vt:lpwstr>KevinYao</vt:lpwstr>
  </property>
</Properties>
</file>